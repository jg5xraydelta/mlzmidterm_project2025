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5" r:id="rId2"/>
    <p:sldMasterId id="2147483657" r:id="rId3"/>
    <p:sldMasterId id="2147483659" r:id="rId4"/>
  </p:sldMasterIdLst>
  <p:notesMasterIdLst>
    <p:notesMasterId r:id="rId6"/>
  </p:notesMasterIdLst>
  <p:handoutMasterIdLst>
    <p:handoutMasterId r:id="rId7"/>
  </p:handoutMasterIdLst>
  <p:sldIdLst>
    <p:sldId id="266" r:id="rId5"/>
  </p:sldIdLst>
  <p:sldSz cx="32918400" cy="19202400"/>
  <p:notesSz cx="6858000" cy="9144000"/>
  <p:defaultTextStyle>
    <a:defPPr>
      <a:defRPr lang="en-US"/>
    </a:defPPr>
    <a:lvl1pPr marL="0" algn="l" defTabSz="2194450" rtl="0" eaLnBrk="1" latinLnBrk="0" hangingPunct="1">
      <a:defRPr sz="4300" kern="1200">
        <a:solidFill>
          <a:schemeClr val="tx1"/>
        </a:solidFill>
        <a:latin typeface="+mn-lt"/>
        <a:ea typeface="+mn-ea"/>
        <a:cs typeface="+mn-cs"/>
      </a:defRPr>
    </a:lvl1pPr>
    <a:lvl2pPr marL="1097226" algn="l" defTabSz="2194450" rtl="0" eaLnBrk="1" latinLnBrk="0" hangingPunct="1">
      <a:defRPr sz="4300" kern="1200">
        <a:solidFill>
          <a:schemeClr val="tx1"/>
        </a:solidFill>
        <a:latin typeface="+mn-lt"/>
        <a:ea typeface="+mn-ea"/>
        <a:cs typeface="+mn-cs"/>
      </a:defRPr>
    </a:lvl2pPr>
    <a:lvl3pPr marL="2194450" algn="l" defTabSz="2194450" rtl="0" eaLnBrk="1" latinLnBrk="0" hangingPunct="1">
      <a:defRPr sz="4300" kern="1200">
        <a:solidFill>
          <a:schemeClr val="tx1"/>
        </a:solidFill>
        <a:latin typeface="+mn-lt"/>
        <a:ea typeface="+mn-ea"/>
        <a:cs typeface="+mn-cs"/>
      </a:defRPr>
    </a:lvl3pPr>
    <a:lvl4pPr marL="3291676" algn="l" defTabSz="2194450" rtl="0" eaLnBrk="1" latinLnBrk="0" hangingPunct="1">
      <a:defRPr sz="4300" kern="1200">
        <a:solidFill>
          <a:schemeClr val="tx1"/>
        </a:solidFill>
        <a:latin typeface="+mn-lt"/>
        <a:ea typeface="+mn-ea"/>
        <a:cs typeface="+mn-cs"/>
      </a:defRPr>
    </a:lvl4pPr>
    <a:lvl5pPr marL="4388901" algn="l" defTabSz="2194450" rtl="0" eaLnBrk="1" latinLnBrk="0" hangingPunct="1">
      <a:defRPr sz="4300" kern="1200">
        <a:solidFill>
          <a:schemeClr val="tx1"/>
        </a:solidFill>
        <a:latin typeface="+mn-lt"/>
        <a:ea typeface="+mn-ea"/>
        <a:cs typeface="+mn-cs"/>
      </a:defRPr>
    </a:lvl5pPr>
    <a:lvl6pPr marL="5486126" algn="l" defTabSz="2194450" rtl="0" eaLnBrk="1" latinLnBrk="0" hangingPunct="1">
      <a:defRPr sz="4300" kern="1200">
        <a:solidFill>
          <a:schemeClr val="tx1"/>
        </a:solidFill>
        <a:latin typeface="+mn-lt"/>
        <a:ea typeface="+mn-ea"/>
        <a:cs typeface="+mn-cs"/>
      </a:defRPr>
    </a:lvl6pPr>
    <a:lvl7pPr marL="6583352" algn="l" defTabSz="2194450" rtl="0" eaLnBrk="1" latinLnBrk="0" hangingPunct="1">
      <a:defRPr sz="4300" kern="1200">
        <a:solidFill>
          <a:schemeClr val="tx1"/>
        </a:solidFill>
        <a:latin typeface="+mn-lt"/>
        <a:ea typeface="+mn-ea"/>
        <a:cs typeface="+mn-cs"/>
      </a:defRPr>
    </a:lvl7pPr>
    <a:lvl8pPr marL="7680576" algn="l" defTabSz="2194450" rtl="0" eaLnBrk="1" latinLnBrk="0" hangingPunct="1">
      <a:defRPr sz="4300" kern="1200">
        <a:solidFill>
          <a:schemeClr val="tx1"/>
        </a:solidFill>
        <a:latin typeface="+mn-lt"/>
        <a:ea typeface="+mn-ea"/>
        <a:cs typeface="+mn-cs"/>
      </a:defRPr>
    </a:lvl8pPr>
    <a:lvl9pPr marL="8777802" algn="l" defTabSz="2194450"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6" userDrawn="1">
          <p15:clr>
            <a:srgbClr val="A4A3A4"/>
          </p15:clr>
        </p15:guide>
        <p15:guide id="2" orient="horz" pos="168" userDrawn="1">
          <p15:clr>
            <a:srgbClr val="A4A3A4"/>
          </p15:clr>
        </p15:guide>
        <p15:guide id="3" orient="horz" pos="11760" userDrawn="1">
          <p15:clr>
            <a:srgbClr val="A4A3A4"/>
          </p15:clr>
        </p15:guide>
        <p15:guide id="4" orient="horz" userDrawn="1">
          <p15:clr>
            <a:srgbClr val="A4A3A4"/>
          </p15:clr>
        </p15:guide>
        <p15:guide id="5" pos="198" userDrawn="1">
          <p15:clr>
            <a:srgbClr val="A4A3A4"/>
          </p15:clr>
        </p15:guide>
        <p15:guide id="6" pos="2053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12A37-A5C9-5966-99E5-D2BA201C8AFD}" name="Station 5" initials="S5" userId="9c56d5c463b22532"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3987"/>
    <a:srgbClr val="ED8200"/>
    <a:srgbClr val="FFC000"/>
    <a:srgbClr val="CFCFCF"/>
    <a:srgbClr val="225EAC"/>
    <a:srgbClr val="FBF9F9"/>
    <a:srgbClr val="EF312F"/>
    <a:srgbClr val="FC6433"/>
    <a:srgbClr val="EB602E"/>
    <a:srgbClr val="EB5D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55" autoAdjust="0"/>
    <p:restoredTop sz="97179" autoAdjust="0"/>
  </p:normalViewPr>
  <p:slideViewPr>
    <p:cSldViewPr snapToGrid="0" snapToObjects="1" showGuides="1">
      <p:cViewPr varScale="1">
        <p:scale>
          <a:sx n="36" d="100"/>
          <a:sy n="36" d="100"/>
        </p:scale>
        <p:origin x="1037" y="85"/>
      </p:cViewPr>
      <p:guideLst>
        <p:guide orient="horz" pos="1936"/>
        <p:guide orient="horz" pos="168"/>
        <p:guide orient="horz" pos="11760"/>
        <p:guide orient="horz"/>
        <p:guide pos="198"/>
        <p:guide pos="20538"/>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147" d="100"/>
          <a:sy n="147" d="100"/>
        </p:scale>
        <p:origin x="6296" y="2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8/10/relationships/authors" Target="author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11/26/2025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11/26/2025</a:t>
            </a:fld>
            <a:endParaRPr lang="en-US" dirty="0"/>
          </a:p>
        </p:txBody>
      </p:sp>
      <p:sp>
        <p:nvSpPr>
          <p:cNvPr id="4" name="Slide Image Placeholder 3"/>
          <p:cNvSpPr>
            <a:spLocks noGrp="1" noRot="1" noChangeAspect="1"/>
          </p:cNvSpPr>
          <p:nvPr>
            <p:ph type="sldImg" idx="2"/>
          </p:nvPr>
        </p:nvSpPr>
        <p:spPr>
          <a:xfrm>
            <a:off x="490538" y="685800"/>
            <a:ext cx="58769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2194450" rtl="0" eaLnBrk="1" latinLnBrk="0" hangingPunct="1">
      <a:defRPr sz="2900" kern="1200">
        <a:solidFill>
          <a:schemeClr val="tx1"/>
        </a:solidFill>
        <a:latin typeface="+mn-lt"/>
        <a:ea typeface="+mn-ea"/>
        <a:cs typeface="+mn-cs"/>
      </a:defRPr>
    </a:lvl1pPr>
    <a:lvl2pPr marL="1097226" algn="l" defTabSz="2194450" rtl="0" eaLnBrk="1" latinLnBrk="0" hangingPunct="1">
      <a:defRPr sz="2900" kern="1200">
        <a:solidFill>
          <a:schemeClr val="tx1"/>
        </a:solidFill>
        <a:latin typeface="+mn-lt"/>
        <a:ea typeface="+mn-ea"/>
        <a:cs typeface="+mn-cs"/>
      </a:defRPr>
    </a:lvl2pPr>
    <a:lvl3pPr marL="2194450" algn="l" defTabSz="2194450" rtl="0" eaLnBrk="1" latinLnBrk="0" hangingPunct="1">
      <a:defRPr sz="2900" kern="1200">
        <a:solidFill>
          <a:schemeClr val="tx1"/>
        </a:solidFill>
        <a:latin typeface="+mn-lt"/>
        <a:ea typeface="+mn-ea"/>
        <a:cs typeface="+mn-cs"/>
      </a:defRPr>
    </a:lvl3pPr>
    <a:lvl4pPr marL="3291676" algn="l" defTabSz="2194450" rtl="0" eaLnBrk="1" latinLnBrk="0" hangingPunct="1">
      <a:defRPr sz="2900" kern="1200">
        <a:solidFill>
          <a:schemeClr val="tx1"/>
        </a:solidFill>
        <a:latin typeface="+mn-lt"/>
        <a:ea typeface="+mn-ea"/>
        <a:cs typeface="+mn-cs"/>
      </a:defRPr>
    </a:lvl4pPr>
    <a:lvl5pPr marL="4388901" algn="l" defTabSz="2194450" rtl="0" eaLnBrk="1" latinLnBrk="0" hangingPunct="1">
      <a:defRPr sz="2900" kern="1200">
        <a:solidFill>
          <a:schemeClr val="tx1"/>
        </a:solidFill>
        <a:latin typeface="+mn-lt"/>
        <a:ea typeface="+mn-ea"/>
        <a:cs typeface="+mn-cs"/>
      </a:defRPr>
    </a:lvl5pPr>
    <a:lvl6pPr marL="5486126" algn="l" defTabSz="2194450" rtl="0" eaLnBrk="1" latinLnBrk="0" hangingPunct="1">
      <a:defRPr sz="2900" kern="1200">
        <a:solidFill>
          <a:schemeClr val="tx1"/>
        </a:solidFill>
        <a:latin typeface="+mn-lt"/>
        <a:ea typeface="+mn-ea"/>
        <a:cs typeface="+mn-cs"/>
      </a:defRPr>
    </a:lvl6pPr>
    <a:lvl7pPr marL="6583352" algn="l" defTabSz="2194450" rtl="0" eaLnBrk="1" latinLnBrk="0" hangingPunct="1">
      <a:defRPr sz="2900" kern="1200">
        <a:solidFill>
          <a:schemeClr val="tx1"/>
        </a:solidFill>
        <a:latin typeface="+mn-lt"/>
        <a:ea typeface="+mn-ea"/>
        <a:cs typeface="+mn-cs"/>
      </a:defRPr>
    </a:lvl7pPr>
    <a:lvl8pPr marL="7680576" algn="l" defTabSz="2194450" rtl="0" eaLnBrk="1" latinLnBrk="0" hangingPunct="1">
      <a:defRPr sz="2900" kern="1200">
        <a:solidFill>
          <a:schemeClr val="tx1"/>
        </a:solidFill>
        <a:latin typeface="+mn-lt"/>
        <a:ea typeface="+mn-ea"/>
        <a:cs typeface="+mn-cs"/>
      </a:defRPr>
    </a:lvl8pPr>
    <a:lvl9pPr marL="8777802" algn="l" defTabSz="2194450" rtl="0" eaLnBrk="1" latinLnBrk="0" hangingPunct="1">
      <a:defRPr sz="2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49101" y="3721681"/>
            <a:ext cx="7699781" cy="569376"/>
          </a:xfrm>
          <a:prstGeom prst="rect">
            <a:avLst/>
          </a:prstGeom>
        </p:spPr>
        <p:txBody>
          <a:bodyPr wrap="square" lIns="228589" tIns="91440" rIns="228589" bIns="228589">
            <a:spAutoFit/>
          </a:bodyPr>
          <a:lstStyle>
            <a:lvl1pPr marL="0" indent="0">
              <a:buNone/>
              <a:defRPr sz="16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51907" y="3219353"/>
            <a:ext cx="7696975"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42901" y="8290633"/>
            <a:ext cx="7715250"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8572499" y="3720781"/>
            <a:ext cx="7629526" cy="569376"/>
          </a:xfrm>
          <a:prstGeom prst="rect">
            <a:avLst/>
          </a:prstGeom>
        </p:spPr>
        <p:txBody>
          <a:bodyPr wrap="square" lIns="228589" tIns="91440" rIns="228589" bIns="228589">
            <a:spAutoFit/>
          </a:bodyPr>
          <a:lstStyle>
            <a:lvl1pPr marL="0" indent="0">
              <a:buNone/>
              <a:defRPr sz="16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8566247" y="3222627"/>
            <a:ext cx="7629523"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6722634" y="3688233"/>
            <a:ext cx="7649363" cy="569376"/>
          </a:xfrm>
          <a:prstGeom prst="rect">
            <a:avLst/>
          </a:prstGeom>
        </p:spPr>
        <p:txBody>
          <a:bodyPr wrap="square" lIns="228589" tIns="91440" rIns="228589" bIns="228589">
            <a:spAutoFit/>
          </a:bodyPr>
          <a:lstStyle>
            <a:lvl1pPr marL="0" indent="0">
              <a:buNone/>
              <a:defRPr sz="16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6718860" y="3219352"/>
            <a:ext cx="7655617"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24895081" y="3222628"/>
            <a:ext cx="7692931"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24888825" y="3698533"/>
            <a:ext cx="7699186" cy="569376"/>
          </a:xfrm>
          <a:prstGeom prst="rect">
            <a:avLst/>
          </a:prstGeom>
        </p:spPr>
        <p:txBody>
          <a:bodyPr wrap="square" lIns="228589" tIns="91440" rIns="228589" bIns="228589">
            <a:spAutoFit/>
          </a:bodyPr>
          <a:lstStyle>
            <a:lvl1pPr marL="0" indent="0">
              <a:buNone/>
              <a:defRPr sz="16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4907593" y="11430003"/>
            <a:ext cx="7686676"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24905108" y="11913570"/>
            <a:ext cx="7680420" cy="569376"/>
          </a:xfrm>
          <a:prstGeom prst="rect">
            <a:avLst/>
          </a:prstGeom>
        </p:spPr>
        <p:txBody>
          <a:bodyPr wrap="square" lIns="228589" tIns="91440" rIns="228589" bIns="228589">
            <a:spAutoFit/>
          </a:bodyPr>
          <a:lstStyle>
            <a:lvl1pPr marL="0" indent="0">
              <a:buNone/>
              <a:defRPr sz="16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4905111" y="16255089"/>
            <a:ext cx="7682903"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4905108" y="16757179"/>
            <a:ext cx="7686677" cy="569376"/>
          </a:xfrm>
          <a:prstGeom prst="rect">
            <a:avLst/>
          </a:prstGeom>
        </p:spPr>
        <p:txBody>
          <a:bodyPr wrap="square" lIns="228589" tIns="91440" rIns="228589" bIns="228589">
            <a:spAutoFit/>
          </a:bodyPr>
          <a:lstStyle>
            <a:lvl1pPr marL="0" indent="0">
              <a:buNone/>
              <a:defRPr sz="16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40418" y="8750315"/>
            <a:ext cx="7717733" cy="569376"/>
          </a:xfrm>
          <a:prstGeom prst="rect">
            <a:avLst/>
          </a:prstGeom>
        </p:spPr>
        <p:txBody>
          <a:bodyPr wrap="square" lIns="228589" tIns="91440" rIns="228589" bIns="228589">
            <a:spAutoFit/>
          </a:bodyPr>
          <a:lstStyle>
            <a:lvl1pPr marL="0" indent="0">
              <a:buNone/>
              <a:defRPr sz="16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4310752" y="1987996"/>
            <a:ext cx="24394873" cy="307777"/>
          </a:xfrm>
          <a:prstGeom prst="rect">
            <a:avLst/>
          </a:prstGeom>
        </p:spPr>
        <p:txBody>
          <a:bodyPr wrap="square" tIns="0" bIns="0">
            <a:spAutoFit/>
          </a:bodyPr>
          <a:lstStyle>
            <a:lvl1pPr marL="0" indent="0" algn="ctr">
              <a:buFontTx/>
              <a:buNone/>
              <a:defRPr sz="2000">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affiliations</a:t>
            </a:r>
          </a:p>
        </p:txBody>
      </p:sp>
      <p:sp>
        <p:nvSpPr>
          <p:cNvPr id="78" name="Text Placeholder 76"/>
          <p:cNvSpPr>
            <a:spLocks noGrp="1"/>
          </p:cNvSpPr>
          <p:nvPr>
            <p:ph type="body" sz="quarter" idx="151" hasCustomPrompt="1"/>
          </p:nvPr>
        </p:nvSpPr>
        <p:spPr>
          <a:xfrm>
            <a:off x="4310752" y="1363289"/>
            <a:ext cx="24394873" cy="493712"/>
          </a:xfrm>
          <a:prstGeom prst="rect">
            <a:avLst/>
          </a:prstGeom>
        </p:spPr>
        <p:txBody>
          <a:bodyPr wrap="square" tIns="0" bIns="0" anchor="t" anchorCtr="0">
            <a:spAutoFit/>
          </a:bodyPr>
          <a:lstStyle>
            <a:lvl1pPr marL="0" indent="0" algn="ctr">
              <a:buFontTx/>
              <a:buNone/>
              <a:defRPr sz="3200">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authors</a:t>
            </a:r>
          </a:p>
        </p:txBody>
      </p:sp>
      <p:sp>
        <p:nvSpPr>
          <p:cNvPr id="79" name="Text Placeholder 76"/>
          <p:cNvSpPr>
            <a:spLocks noGrp="1"/>
          </p:cNvSpPr>
          <p:nvPr>
            <p:ph type="body" sz="quarter" idx="153" hasCustomPrompt="1"/>
          </p:nvPr>
        </p:nvSpPr>
        <p:spPr>
          <a:xfrm>
            <a:off x="4310752" y="486252"/>
            <a:ext cx="24394873" cy="677108"/>
          </a:xfrm>
          <a:prstGeom prst="rect">
            <a:avLst/>
          </a:prstGeom>
        </p:spPr>
        <p:txBody>
          <a:bodyPr wrap="square" tIns="0" bIns="0" anchor="t" anchorCtr="0">
            <a:spAutoFit/>
          </a:bodyPr>
          <a:lstStyle>
            <a:lvl1pPr marL="0" indent="0" algn="ctr">
              <a:buFontTx/>
              <a:buNone/>
              <a:defRPr sz="4400" b="1">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title</a:t>
            </a:r>
          </a:p>
        </p:txBody>
      </p:sp>
    </p:spTree>
  </p:cSld>
  <p:clrMapOvr>
    <a:masterClrMapping/>
  </p:clrMapOvr>
  <p:extLst>
    <p:ext uri="{DCECCB84-F9BA-43D5-87BE-67443E8EF086}">
      <p15:sldGuideLst xmlns:p15="http://schemas.microsoft.com/office/powerpoint/2012/main">
        <p15:guide id="1" orient="horz" pos="2030" userDrawn="1">
          <p15:clr>
            <a:srgbClr val="FBAE40"/>
          </p15:clr>
        </p15:guide>
        <p15:guide id="2" pos="216" userDrawn="1">
          <p15:clr>
            <a:srgbClr val="FBAE40"/>
          </p15:clr>
        </p15:guide>
        <p15:guide id="6" pos="20520" userDrawn="1">
          <p15:clr>
            <a:srgbClr val="FBAE40"/>
          </p15:clr>
        </p15:guide>
        <p15:guide id="7" pos="15678" userDrawn="1">
          <p15:clr>
            <a:srgbClr val="FBAE40"/>
          </p15:clr>
        </p15:guide>
        <p15:guide id="8" pos="15354" userDrawn="1">
          <p15:clr>
            <a:srgbClr val="FBAE40"/>
          </p15:clr>
        </p15:guide>
        <p15:guide id="9" pos="10206" userDrawn="1">
          <p15:clr>
            <a:srgbClr val="FBAE40"/>
          </p15:clr>
        </p15:guide>
        <p15:guide id="10" pos="10530" userDrawn="1">
          <p15:clr>
            <a:srgbClr val="FBAE40"/>
          </p15:clr>
        </p15:guide>
        <p15:guide id="11" pos="5076" userDrawn="1">
          <p15:clr>
            <a:srgbClr val="FBAE40"/>
          </p15:clr>
        </p15:guide>
        <p15:guide id="12" pos="5400" userDrawn="1">
          <p15:clr>
            <a:srgbClr val="FBAE40"/>
          </p15:clr>
        </p15:guide>
        <p15:guide id="13" orient="horz" pos="115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1-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49101" y="3721681"/>
            <a:ext cx="7699781"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51907" y="3219353"/>
            <a:ext cx="7696975"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42901" y="8290633"/>
            <a:ext cx="7715250"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8572500" y="3720781"/>
            <a:ext cx="15789064"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8566247" y="3222627"/>
            <a:ext cx="15789062"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8576276" y="10622434"/>
            <a:ext cx="15789064"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8572502" y="10153551"/>
            <a:ext cx="15801976" cy="492434"/>
          </a:xfrm>
          <a:prstGeom prst="rect">
            <a:avLst/>
          </a:prstGeom>
          <a:noFill/>
        </p:spPr>
        <p:txBody>
          <a:bodyPr wrap="square" lIns="91436" tIns="91436"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24895081" y="3222628"/>
            <a:ext cx="7692931"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24888825" y="3698533"/>
            <a:ext cx="7699186"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4907593" y="11373766"/>
            <a:ext cx="7686676"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24905108" y="11857333"/>
            <a:ext cx="7680420"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4905111" y="16218604"/>
            <a:ext cx="7682903"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4905108" y="16720693"/>
            <a:ext cx="7686677"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40418" y="8750315"/>
            <a:ext cx="7717733"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 name="Text Placeholder 76">
            <a:extLst>
              <a:ext uri="{FF2B5EF4-FFF2-40B4-BE49-F238E27FC236}">
                <a16:creationId xmlns:a16="http://schemas.microsoft.com/office/drawing/2014/main" id="{5B5DF9D9-71A5-876E-0618-FF428A84EFF7}"/>
              </a:ext>
            </a:extLst>
          </p:cNvPr>
          <p:cNvSpPr>
            <a:spLocks noGrp="1"/>
          </p:cNvSpPr>
          <p:nvPr>
            <p:ph type="body" sz="quarter" idx="150" hasCustomPrompt="1"/>
          </p:nvPr>
        </p:nvSpPr>
        <p:spPr>
          <a:xfrm>
            <a:off x="4310752" y="1987996"/>
            <a:ext cx="24394873" cy="307777"/>
          </a:xfrm>
          <a:prstGeom prst="rect">
            <a:avLst/>
          </a:prstGeom>
        </p:spPr>
        <p:txBody>
          <a:bodyPr wrap="square" tIns="0" bIns="0">
            <a:spAutoFit/>
          </a:bodyPr>
          <a:lstStyle>
            <a:lvl1pPr marL="0" indent="0" algn="ctr">
              <a:buFontTx/>
              <a:buNone/>
              <a:defRPr sz="2000">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affiliations</a:t>
            </a:r>
          </a:p>
        </p:txBody>
      </p:sp>
      <p:sp>
        <p:nvSpPr>
          <p:cNvPr id="3" name="Text Placeholder 76">
            <a:extLst>
              <a:ext uri="{FF2B5EF4-FFF2-40B4-BE49-F238E27FC236}">
                <a16:creationId xmlns:a16="http://schemas.microsoft.com/office/drawing/2014/main" id="{5580B786-1310-9128-76BE-D2A9759A251A}"/>
              </a:ext>
            </a:extLst>
          </p:cNvPr>
          <p:cNvSpPr>
            <a:spLocks noGrp="1"/>
          </p:cNvSpPr>
          <p:nvPr>
            <p:ph type="body" sz="quarter" idx="151" hasCustomPrompt="1"/>
          </p:nvPr>
        </p:nvSpPr>
        <p:spPr>
          <a:xfrm>
            <a:off x="4310752" y="1363289"/>
            <a:ext cx="24394873" cy="493712"/>
          </a:xfrm>
          <a:prstGeom prst="rect">
            <a:avLst/>
          </a:prstGeom>
        </p:spPr>
        <p:txBody>
          <a:bodyPr wrap="square" tIns="0" bIns="0" anchor="t" anchorCtr="0">
            <a:spAutoFit/>
          </a:bodyPr>
          <a:lstStyle>
            <a:lvl1pPr marL="0" indent="0" algn="ctr">
              <a:buFontTx/>
              <a:buNone/>
              <a:defRPr sz="3200">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authors</a:t>
            </a:r>
          </a:p>
        </p:txBody>
      </p:sp>
      <p:sp>
        <p:nvSpPr>
          <p:cNvPr id="5" name="Text Placeholder 76">
            <a:extLst>
              <a:ext uri="{FF2B5EF4-FFF2-40B4-BE49-F238E27FC236}">
                <a16:creationId xmlns:a16="http://schemas.microsoft.com/office/drawing/2014/main" id="{434FF5FF-22DC-E673-D118-183D3E6589B2}"/>
              </a:ext>
            </a:extLst>
          </p:cNvPr>
          <p:cNvSpPr>
            <a:spLocks noGrp="1"/>
          </p:cNvSpPr>
          <p:nvPr>
            <p:ph type="body" sz="quarter" idx="153" hasCustomPrompt="1"/>
          </p:nvPr>
        </p:nvSpPr>
        <p:spPr>
          <a:xfrm>
            <a:off x="4310752" y="486252"/>
            <a:ext cx="24394873" cy="677108"/>
          </a:xfrm>
          <a:prstGeom prst="rect">
            <a:avLst/>
          </a:prstGeom>
        </p:spPr>
        <p:txBody>
          <a:bodyPr wrap="square" tIns="0" bIns="0" anchor="t" anchorCtr="0">
            <a:spAutoFit/>
          </a:bodyPr>
          <a:lstStyle>
            <a:lvl1pPr marL="0" indent="0" algn="ctr">
              <a:buFontTx/>
              <a:buNone/>
              <a:defRPr sz="4400" b="1">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title</a:t>
            </a:r>
          </a:p>
        </p:txBody>
      </p:sp>
    </p:spTree>
    <p:extLst>
      <p:ext uri="{BB962C8B-B14F-4D97-AF65-F5344CB8AC3E}">
        <p14:creationId xmlns:p14="http://schemas.microsoft.com/office/powerpoint/2010/main" val="1466828841"/>
      </p:ext>
    </p:extLst>
  </p:cSld>
  <p:clrMapOvr>
    <a:masterClrMapping/>
  </p:clrMapOvr>
  <p:extLst>
    <p:ext uri="{DCECCB84-F9BA-43D5-87BE-67443E8EF086}">
      <p15:sldGuideLst xmlns:p15="http://schemas.microsoft.com/office/powerpoint/2012/main">
        <p15:guide id="1" orient="horz" pos="2030" userDrawn="1">
          <p15:clr>
            <a:srgbClr val="FBAE40"/>
          </p15:clr>
        </p15:guide>
        <p15:guide id="2" pos="216" userDrawn="1">
          <p15:clr>
            <a:srgbClr val="FBAE40"/>
          </p15:clr>
        </p15:guide>
        <p15:guide id="6" pos="20520" userDrawn="1">
          <p15:clr>
            <a:srgbClr val="FBAE40"/>
          </p15:clr>
        </p15:guide>
        <p15:guide id="7" pos="15678" userDrawn="1">
          <p15:clr>
            <a:srgbClr val="FBAE40"/>
          </p15:clr>
        </p15:guide>
        <p15:guide id="8" pos="15354" userDrawn="1">
          <p15:clr>
            <a:srgbClr val="FBAE40"/>
          </p15:clr>
        </p15:guide>
        <p15:guide id="11" pos="5076" userDrawn="1">
          <p15:clr>
            <a:srgbClr val="FBAE40"/>
          </p15:clr>
        </p15:guide>
        <p15:guide id="12" pos="5400" userDrawn="1">
          <p15:clr>
            <a:srgbClr val="FBAE40"/>
          </p15:clr>
        </p15:guide>
        <p15:guide id="13" orient="horz" pos="115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column layou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49103" y="3721681"/>
            <a:ext cx="10431865"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51908" y="3219353"/>
            <a:ext cx="10428065"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42900" y="8290633"/>
            <a:ext cx="10452823"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344275" y="3720781"/>
            <a:ext cx="10258426"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338021" y="3222627"/>
            <a:ext cx="10258423"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1339536" y="10622434"/>
            <a:ext cx="10256292"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338023" y="10153553"/>
            <a:ext cx="10264679"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22114788" y="3222628"/>
            <a:ext cx="10473223"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22106276" y="3698533"/>
            <a:ext cx="10481737"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2127301" y="11488067"/>
            <a:ext cx="10464707"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22127080" y="11971634"/>
            <a:ext cx="10456189"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2128445" y="16370303"/>
            <a:ext cx="10459568"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2127080" y="16872393"/>
            <a:ext cx="10464707"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40418" y="8750315"/>
            <a:ext cx="10456188"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 name="Text Placeholder 76">
            <a:extLst>
              <a:ext uri="{FF2B5EF4-FFF2-40B4-BE49-F238E27FC236}">
                <a16:creationId xmlns:a16="http://schemas.microsoft.com/office/drawing/2014/main" id="{D5AFA684-08D9-D37F-7265-020E02645D9A}"/>
              </a:ext>
            </a:extLst>
          </p:cNvPr>
          <p:cNvSpPr>
            <a:spLocks noGrp="1"/>
          </p:cNvSpPr>
          <p:nvPr>
            <p:ph type="body" sz="quarter" idx="150" hasCustomPrompt="1"/>
          </p:nvPr>
        </p:nvSpPr>
        <p:spPr>
          <a:xfrm>
            <a:off x="4310752" y="1987996"/>
            <a:ext cx="24394873" cy="307777"/>
          </a:xfrm>
          <a:prstGeom prst="rect">
            <a:avLst/>
          </a:prstGeom>
        </p:spPr>
        <p:txBody>
          <a:bodyPr wrap="square" tIns="0" bIns="0">
            <a:spAutoFit/>
          </a:bodyPr>
          <a:lstStyle>
            <a:lvl1pPr marL="0" indent="0" algn="ctr">
              <a:buFontTx/>
              <a:buNone/>
              <a:defRPr sz="2000">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affiliations</a:t>
            </a:r>
          </a:p>
        </p:txBody>
      </p:sp>
      <p:sp>
        <p:nvSpPr>
          <p:cNvPr id="3" name="Text Placeholder 76">
            <a:extLst>
              <a:ext uri="{FF2B5EF4-FFF2-40B4-BE49-F238E27FC236}">
                <a16:creationId xmlns:a16="http://schemas.microsoft.com/office/drawing/2014/main" id="{7BC6F702-EB81-8AA9-554C-83822CCA5AAA}"/>
              </a:ext>
            </a:extLst>
          </p:cNvPr>
          <p:cNvSpPr>
            <a:spLocks noGrp="1"/>
          </p:cNvSpPr>
          <p:nvPr>
            <p:ph type="body" sz="quarter" idx="151" hasCustomPrompt="1"/>
          </p:nvPr>
        </p:nvSpPr>
        <p:spPr>
          <a:xfrm>
            <a:off x="4310752" y="1363289"/>
            <a:ext cx="24394873" cy="493712"/>
          </a:xfrm>
          <a:prstGeom prst="rect">
            <a:avLst/>
          </a:prstGeom>
        </p:spPr>
        <p:txBody>
          <a:bodyPr wrap="square" tIns="0" bIns="0" anchor="t" anchorCtr="0">
            <a:spAutoFit/>
          </a:bodyPr>
          <a:lstStyle>
            <a:lvl1pPr marL="0" indent="0" algn="ctr">
              <a:buFontTx/>
              <a:buNone/>
              <a:defRPr sz="3200">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authors</a:t>
            </a:r>
          </a:p>
        </p:txBody>
      </p:sp>
      <p:sp>
        <p:nvSpPr>
          <p:cNvPr id="5" name="Text Placeholder 76">
            <a:extLst>
              <a:ext uri="{FF2B5EF4-FFF2-40B4-BE49-F238E27FC236}">
                <a16:creationId xmlns:a16="http://schemas.microsoft.com/office/drawing/2014/main" id="{72EAC4A1-59AB-2593-BCD6-856FC83B72CC}"/>
              </a:ext>
            </a:extLst>
          </p:cNvPr>
          <p:cNvSpPr>
            <a:spLocks noGrp="1"/>
          </p:cNvSpPr>
          <p:nvPr>
            <p:ph type="body" sz="quarter" idx="153" hasCustomPrompt="1"/>
          </p:nvPr>
        </p:nvSpPr>
        <p:spPr>
          <a:xfrm>
            <a:off x="4310752" y="486252"/>
            <a:ext cx="24394873" cy="677108"/>
          </a:xfrm>
          <a:prstGeom prst="rect">
            <a:avLst/>
          </a:prstGeom>
        </p:spPr>
        <p:txBody>
          <a:bodyPr wrap="square" tIns="0" bIns="0" anchor="t" anchorCtr="0">
            <a:spAutoFit/>
          </a:bodyPr>
          <a:lstStyle>
            <a:lvl1pPr marL="0" indent="0" algn="ctr">
              <a:buFontTx/>
              <a:buNone/>
              <a:defRPr sz="4400" b="1">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title</a:t>
            </a:r>
          </a:p>
        </p:txBody>
      </p:sp>
    </p:spTree>
    <p:extLst>
      <p:ext uri="{BB962C8B-B14F-4D97-AF65-F5344CB8AC3E}">
        <p14:creationId xmlns:p14="http://schemas.microsoft.com/office/powerpoint/2010/main" val="2800888372"/>
      </p:ext>
    </p:extLst>
  </p:cSld>
  <p:clrMapOvr>
    <a:masterClrMapping/>
  </p:clrMapOvr>
  <p:extLst>
    <p:ext uri="{DCECCB84-F9BA-43D5-87BE-67443E8EF086}">
      <p15:sldGuideLst xmlns:p15="http://schemas.microsoft.com/office/powerpoint/2012/main">
        <p15:guide id="1" orient="horz" pos="2030" userDrawn="1">
          <p15:clr>
            <a:srgbClr val="FBAE40"/>
          </p15:clr>
        </p15:guide>
        <p15:guide id="2" pos="216" userDrawn="1">
          <p15:clr>
            <a:srgbClr val="FBAE40"/>
          </p15:clr>
        </p15:guide>
        <p15:guide id="6" pos="20520" userDrawn="1">
          <p15:clr>
            <a:srgbClr val="FBAE40"/>
          </p15:clr>
        </p15:guide>
        <p15:guide id="7" pos="13932" userDrawn="1">
          <p15:clr>
            <a:srgbClr val="FBAE40"/>
          </p15:clr>
        </p15:guide>
        <p15:guide id="8" pos="13608" userDrawn="1">
          <p15:clr>
            <a:srgbClr val="FBAE40"/>
          </p15:clr>
        </p15:guide>
        <p15:guide id="11" pos="6822" userDrawn="1">
          <p15:clr>
            <a:srgbClr val="FBAE40"/>
          </p15:clr>
        </p15:guide>
        <p15:guide id="12" pos="7146" userDrawn="1">
          <p15:clr>
            <a:srgbClr val="FBAE40"/>
          </p15:clr>
        </p15:guide>
        <p15:guide id="13" orient="horz" pos="115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nimal">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49103" y="3721681"/>
            <a:ext cx="10431865"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51908" y="3219353"/>
            <a:ext cx="10428065"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42900" y="8290633"/>
            <a:ext cx="10452823"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344275" y="3720781"/>
            <a:ext cx="10258426"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338021" y="3222627"/>
            <a:ext cx="10258423" cy="492434"/>
          </a:xfrm>
          <a:prstGeom prst="rect">
            <a:avLst/>
          </a:prstGeom>
          <a:noFill/>
        </p:spPr>
        <p:txBody>
          <a:bodyPr wrap="square" lIns="91436" tIns="91436"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1339536" y="10622434"/>
            <a:ext cx="10256292"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338023" y="10153553"/>
            <a:ext cx="10264679"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22114788" y="3222628"/>
            <a:ext cx="10473223"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22106276" y="3698533"/>
            <a:ext cx="10481737"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2127301" y="11488067"/>
            <a:ext cx="10464707"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22127080" y="11971634"/>
            <a:ext cx="10456189"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2128445" y="16370303"/>
            <a:ext cx="10459568" cy="400105"/>
          </a:xfrm>
          <a:prstGeom prst="rect">
            <a:avLst/>
          </a:prstGeom>
          <a:noFill/>
        </p:spPr>
        <p:txBody>
          <a:bodyPr wrap="square" lIns="91436" tIns="0" rIns="91436" bIns="91436" anchor="t" anchorCtr="0">
            <a:spAutoFit/>
          </a:bodyPr>
          <a:lstStyle>
            <a:lvl1pPr marL="0" indent="0" algn="l">
              <a:buNone/>
              <a:defRPr sz="2000" b="1" u="sng" baseline="0">
                <a:solidFill>
                  <a:srgbClr val="225EAC"/>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2127080" y="16872393"/>
            <a:ext cx="10464707"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40418" y="8750315"/>
            <a:ext cx="10456188" cy="600153"/>
          </a:xfrm>
          <a:prstGeom prst="rect">
            <a:avLst/>
          </a:prstGeom>
        </p:spPr>
        <p:txBody>
          <a:bodyPr wrap="square" lIns="228589" tIns="91440" rIns="228589" bIns="228589">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300136" indent="-500052">
              <a:defRPr sz="2189">
                <a:latin typeface="Trebuchet MS" pitchFamily="34" charset="0"/>
              </a:defRPr>
            </a:lvl2pPr>
            <a:lvl3pPr marL="1800190" indent="-500052">
              <a:defRPr sz="2189">
                <a:latin typeface="Trebuchet MS" pitchFamily="34" charset="0"/>
              </a:defRPr>
            </a:lvl3pPr>
            <a:lvl4pPr marL="2350248" indent="-550058">
              <a:defRPr sz="2189">
                <a:latin typeface="Trebuchet MS" pitchFamily="34" charset="0"/>
              </a:defRPr>
            </a:lvl4pPr>
            <a:lvl5pPr marL="2750292" indent="-400042">
              <a:defRPr sz="2189">
                <a:latin typeface="Trebuchet MS" pitchFamily="34" charset="0"/>
              </a:defRPr>
            </a:lvl5pPr>
          </a:lstStyle>
          <a:p>
            <a:pPr lvl="0"/>
            <a:r>
              <a:rPr lang="en-US" dirty="0"/>
              <a:t>Type in or paste your text here</a:t>
            </a:r>
          </a:p>
        </p:txBody>
      </p:sp>
      <p:sp>
        <p:nvSpPr>
          <p:cNvPr id="2" name="Text Placeholder 76">
            <a:extLst>
              <a:ext uri="{FF2B5EF4-FFF2-40B4-BE49-F238E27FC236}">
                <a16:creationId xmlns:a16="http://schemas.microsoft.com/office/drawing/2014/main" id="{3E30E2AD-42E1-01EF-5FC2-C6B72005AE99}"/>
              </a:ext>
            </a:extLst>
          </p:cNvPr>
          <p:cNvSpPr>
            <a:spLocks noGrp="1"/>
          </p:cNvSpPr>
          <p:nvPr>
            <p:ph type="body" sz="quarter" idx="150" hasCustomPrompt="1"/>
          </p:nvPr>
        </p:nvSpPr>
        <p:spPr>
          <a:xfrm>
            <a:off x="4310752" y="1987996"/>
            <a:ext cx="24394873" cy="307777"/>
          </a:xfrm>
          <a:prstGeom prst="rect">
            <a:avLst/>
          </a:prstGeom>
        </p:spPr>
        <p:txBody>
          <a:bodyPr wrap="square" tIns="0" bIns="0">
            <a:spAutoFit/>
          </a:bodyPr>
          <a:lstStyle>
            <a:lvl1pPr marL="0" indent="0" algn="ctr">
              <a:buFontTx/>
              <a:buNone/>
              <a:defRPr sz="2000">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affiliations</a:t>
            </a:r>
          </a:p>
        </p:txBody>
      </p:sp>
      <p:sp>
        <p:nvSpPr>
          <p:cNvPr id="3" name="Text Placeholder 76">
            <a:extLst>
              <a:ext uri="{FF2B5EF4-FFF2-40B4-BE49-F238E27FC236}">
                <a16:creationId xmlns:a16="http://schemas.microsoft.com/office/drawing/2014/main" id="{5596E7EA-E374-273D-56C5-FCD986C5FA95}"/>
              </a:ext>
            </a:extLst>
          </p:cNvPr>
          <p:cNvSpPr>
            <a:spLocks noGrp="1"/>
          </p:cNvSpPr>
          <p:nvPr>
            <p:ph type="body" sz="quarter" idx="151" hasCustomPrompt="1"/>
          </p:nvPr>
        </p:nvSpPr>
        <p:spPr>
          <a:xfrm>
            <a:off x="4310752" y="1363289"/>
            <a:ext cx="24394873" cy="493712"/>
          </a:xfrm>
          <a:prstGeom prst="rect">
            <a:avLst/>
          </a:prstGeom>
        </p:spPr>
        <p:txBody>
          <a:bodyPr wrap="square" tIns="0" bIns="0" anchor="t" anchorCtr="0">
            <a:spAutoFit/>
          </a:bodyPr>
          <a:lstStyle>
            <a:lvl1pPr marL="0" indent="0" algn="ctr">
              <a:buFontTx/>
              <a:buNone/>
              <a:defRPr sz="3200">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authors</a:t>
            </a:r>
          </a:p>
        </p:txBody>
      </p:sp>
      <p:sp>
        <p:nvSpPr>
          <p:cNvPr id="5" name="Text Placeholder 76">
            <a:extLst>
              <a:ext uri="{FF2B5EF4-FFF2-40B4-BE49-F238E27FC236}">
                <a16:creationId xmlns:a16="http://schemas.microsoft.com/office/drawing/2014/main" id="{A9AE4D04-1459-ED7A-6447-C5B9D1B643E4}"/>
              </a:ext>
            </a:extLst>
          </p:cNvPr>
          <p:cNvSpPr>
            <a:spLocks noGrp="1"/>
          </p:cNvSpPr>
          <p:nvPr>
            <p:ph type="body" sz="quarter" idx="153" hasCustomPrompt="1"/>
          </p:nvPr>
        </p:nvSpPr>
        <p:spPr>
          <a:xfrm>
            <a:off x="4310752" y="486252"/>
            <a:ext cx="24394873" cy="677108"/>
          </a:xfrm>
          <a:prstGeom prst="rect">
            <a:avLst/>
          </a:prstGeom>
        </p:spPr>
        <p:txBody>
          <a:bodyPr wrap="square" tIns="0" bIns="0" anchor="t" anchorCtr="0">
            <a:spAutoFit/>
          </a:bodyPr>
          <a:lstStyle>
            <a:lvl1pPr marL="0" indent="0" algn="ctr">
              <a:buFontTx/>
              <a:buNone/>
              <a:defRPr sz="4400" b="1">
                <a:solidFill>
                  <a:schemeClr val="bg1"/>
                </a:solidFill>
                <a:latin typeface="Century Gothic" panose="020B0502020202020204" pitchFamily="34" charset="0"/>
              </a:defRPr>
            </a:lvl1pPr>
            <a:lvl2pPr>
              <a:buFontTx/>
              <a:buNone/>
              <a:defRPr sz="6300"/>
            </a:lvl2pPr>
            <a:lvl3pPr>
              <a:buFontTx/>
              <a:buNone/>
              <a:defRPr sz="6300"/>
            </a:lvl3pPr>
            <a:lvl4pPr>
              <a:buFontTx/>
              <a:buNone/>
              <a:defRPr sz="6300"/>
            </a:lvl4pPr>
            <a:lvl5pPr>
              <a:buFontTx/>
              <a:buNone/>
              <a:defRPr sz="6300"/>
            </a:lvl5pPr>
          </a:lstStyle>
          <a:p>
            <a:pPr lvl="0"/>
            <a:r>
              <a:rPr lang="en-US" dirty="0"/>
              <a:t>Click here to add title</a:t>
            </a:r>
          </a:p>
        </p:txBody>
      </p:sp>
    </p:spTree>
    <p:extLst>
      <p:ext uri="{BB962C8B-B14F-4D97-AF65-F5344CB8AC3E}">
        <p14:creationId xmlns:p14="http://schemas.microsoft.com/office/powerpoint/2010/main" val="2628330585"/>
      </p:ext>
    </p:extLst>
  </p:cSld>
  <p:clrMapOvr>
    <a:masterClrMapping/>
  </p:clrMapOvr>
  <p:extLst>
    <p:ext uri="{DCECCB84-F9BA-43D5-87BE-67443E8EF086}">
      <p15:sldGuideLst xmlns:p15="http://schemas.microsoft.com/office/powerpoint/2012/main">
        <p15:guide id="1" orient="horz" pos="2030" userDrawn="1">
          <p15:clr>
            <a:srgbClr val="FBAE40"/>
          </p15:clr>
        </p15:guide>
        <p15:guide id="2" pos="216" userDrawn="1">
          <p15:clr>
            <a:srgbClr val="FBAE40"/>
          </p15:clr>
        </p15:guide>
        <p15:guide id="6" pos="20520" userDrawn="1">
          <p15:clr>
            <a:srgbClr val="FBAE40"/>
          </p15:clr>
        </p15:guide>
        <p15:guide id="13" orient="horz" pos="11536"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48EB6F-BBB5-57EC-F651-041E1003E918}"/>
              </a:ext>
            </a:extLst>
          </p:cNvPr>
          <p:cNvSpPr/>
          <p:nvPr userDrawn="1"/>
        </p:nvSpPr>
        <p:spPr>
          <a:xfrm rot="10800000">
            <a:off x="-22665" y="18726151"/>
            <a:ext cx="32941067" cy="518204"/>
          </a:xfrm>
          <a:prstGeom prst="rect">
            <a:avLst/>
          </a:prstGeom>
          <a:gradFill>
            <a:gsLst>
              <a:gs pos="0">
                <a:srgbClr val="EC018C"/>
              </a:gs>
              <a:gs pos="100000">
                <a:srgbClr val="F8973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p>
        </p:txBody>
      </p:sp>
      <p:sp>
        <p:nvSpPr>
          <p:cNvPr id="10" name="Text Box 14"/>
          <p:cNvSpPr txBox="1">
            <a:spLocks noChangeArrowheads="1"/>
          </p:cNvSpPr>
          <p:nvPr/>
        </p:nvSpPr>
        <p:spPr bwMode="auto">
          <a:xfrm>
            <a:off x="1175480" y="18894699"/>
            <a:ext cx="2234470" cy="299081"/>
          </a:xfrm>
          <a:prstGeom prst="rect">
            <a:avLst/>
          </a:prstGeom>
          <a:noFill/>
          <a:ln w="9525">
            <a:noFill/>
            <a:miter lim="800000"/>
            <a:headEnd/>
            <a:tailEnd/>
          </a:ln>
          <a:effectLst/>
        </p:spPr>
        <p:txBody>
          <a:bodyPr wrap="square" lIns="79856" tIns="39922" rIns="79856" bIns="39922">
            <a:spAutoFit/>
          </a:bodyPr>
          <a:lstStyle/>
          <a:p>
            <a:pPr eaLnBrk="0" hangingPunct="0">
              <a:lnSpc>
                <a:spcPct val="65000"/>
              </a:lnSpc>
              <a:spcBef>
                <a:spcPct val="50000"/>
              </a:spcBef>
              <a:defRPr/>
            </a:pPr>
            <a:r>
              <a:rPr lang="en-US" sz="438" b="1" dirty="0">
                <a:solidFill>
                  <a:schemeClr val="bg1">
                    <a:lumMod val="75000"/>
                  </a:schemeClr>
                </a:solidFill>
                <a:latin typeface="Arial" charset="0"/>
              </a:rPr>
              <a:t>RESEARCH POSTER PRESENTATION DESIGN © 2025</a:t>
            </a:r>
          </a:p>
          <a:p>
            <a:pPr eaLnBrk="0" hangingPunct="0">
              <a:lnSpc>
                <a:spcPct val="65000"/>
              </a:lnSpc>
              <a:spcBef>
                <a:spcPct val="50000"/>
              </a:spcBef>
              <a:defRPr/>
            </a:pPr>
            <a:r>
              <a:rPr lang="en-US" sz="964" b="1" dirty="0">
                <a:solidFill>
                  <a:schemeClr val="bg1">
                    <a:lumMod val="75000"/>
                  </a:schemeClr>
                </a:solidFill>
                <a:latin typeface="Arial" charset="0"/>
              </a:rPr>
              <a:t>www.PosterPresentations.com</a:t>
            </a:r>
          </a:p>
        </p:txBody>
      </p:sp>
      <p:grpSp>
        <p:nvGrpSpPr>
          <p:cNvPr id="12" name="Group 11">
            <a:extLst>
              <a:ext uri="{FF2B5EF4-FFF2-40B4-BE49-F238E27FC236}">
                <a16:creationId xmlns:a16="http://schemas.microsoft.com/office/drawing/2014/main" id="{AA12B8E5-DFF3-999D-35C5-692FC0217535}"/>
              </a:ext>
            </a:extLst>
          </p:cNvPr>
          <p:cNvGrpSpPr/>
          <p:nvPr userDrawn="1"/>
        </p:nvGrpSpPr>
        <p:grpSpPr>
          <a:xfrm>
            <a:off x="0" y="8225"/>
            <a:ext cx="32918400" cy="2868327"/>
            <a:chOff x="0" y="14098"/>
            <a:chExt cx="43891200" cy="4917131"/>
          </a:xfrm>
        </p:grpSpPr>
        <p:sp>
          <p:nvSpPr>
            <p:cNvPr id="2" name="Rectangle 1">
              <a:extLst>
                <a:ext uri="{FF2B5EF4-FFF2-40B4-BE49-F238E27FC236}">
                  <a16:creationId xmlns:a16="http://schemas.microsoft.com/office/drawing/2014/main" id="{B95ADCDC-56BB-267A-F385-295ACAB6EA06}"/>
                </a:ext>
              </a:extLst>
            </p:cNvPr>
            <p:cNvSpPr/>
            <p:nvPr userDrawn="1"/>
          </p:nvSpPr>
          <p:spPr>
            <a:xfrm>
              <a:off x="0" y="14098"/>
              <a:ext cx="43891200" cy="4917131"/>
            </a:xfrm>
            <a:prstGeom prst="rect">
              <a:avLst/>
            </a:prstGeom>
            <a:gradFill>
              <a:gsLst>
                <a:gs pos="0">
                  <a:srgbClr val="EC018C"/>
                </a:gs>
                <a:gs pos="100000">
                  <a:srgbClr val="F8973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dirty="0"/>
            </a:p>
          </p:txBody>
        </p:sp>
        <p:sp>
          <p:nvSpPr>
            <p:cNvPr id="6" name="Rectangle 5">
              <a:extLst>
                <a:ext uri="{FF2B5EF4-FFF2-40B4-BE49-F238E27FC236}">
                  <a16:creationId xmlns:a16="http://schemas.microsoft.com/office/drawing/2014/main" id="{EE7A87B8-B8C5-D3A0-72FE-28C783F3B7A8}"/>
                </a:ext>
              </a:extLst>
            </p:cNvPr>
            <p:cNvSpPr/>
            <p:nvPr userDrawn="1"/>
          </p:nvSpPr>
          <p:spPr>
            <a:xfrm>
              <a:off x="35922857" y="14098"/>
              <a:ext cx="7968343" cy="49171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8343" h="4917131">
                  <a:moveTo>
                    <a:pt x="5943600" y="0"/>
                  </a:moveTo>
                  <a:lnTo>
                    <a:pt x="7968343" y="0"/>
                  </a:lnTo>
                  <a:lnTo>
                    <a:pt x="7968343" y="4917131"/>
                  </a:lnTo>
                  <a:lnTo>
                    <a:pt x="0" y="4917131"/>
                  </a:lnTo>
                  <a:lnTo>
                    <a:pt x="5943600" y="0"/>
                  </a:lnTo>
                  <a:close/>
                </a:path>
              </a:pathLst>
            </a:custGeom>
            <a:gradFill>
              <a:gsLst>
                <a:gs pos="2000">
                  <a:srgbClr val="EB5D38"/>
                </a:gs>
                <a:gs pos="99000">
                  <a:srgbClr val="FC6433"/>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ln>
                  <a:noFill/>
                </a:ln>
              </a:endParaRPr>
            </a:p>
          </p:txBody>
        </p:sp>
        <p:sp>
          <p:nvSpPr>
            <p:cNvPr id="8" name="Rectangle 5">
              <a:extLst>
                <a:ext uri="{FF2B5EF4-FFF2-40B4-BE49-F238E27FC236}">
                  <a16:creationId xmlns:a16="http://schemas.microsoft.com/office/drawing/2014/main" id="{F3F024EB-F7FE-309C-930F-42451D29C2E6}"/>
                </a:ext>
              </a:extLst>
            </p:cNvPr>
            <p:cNvSpPr/>
            <p:nvPr userDrawn="1"/>
          </p:nvSpPr>
          <p:spPr>
            <a:xfrm>
              <a:off x="41572543" y="1385698"/>
              <a:ext cx="2318657" cy="3545531"/>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 name="connsiteX0" fmla="*/ 0 w 7968343"/>
                <a:gd name="connsiteY0" fmla="*/ 4917131 h 4917131"/>
                <a:gd name="connsiteX1" fmla="*/ 7968343 w 7968343"/>
                <a:gd name="connsiteY1" fmla="*/ 0 h 4917131"/>
                <a:gd name="connsiteX2" fmla="*/ 7968343 w 7968343"/>
                <a:gd name="connsiteY2" fmla="*/ 4917131 h 4917131"/>
                <a:gd name="connsiteX3" fmla="*/ 0 w 7968343"/>
                <a:gd name="connsiteY3" fmla="*/ 4917131 h 4917131"/>
                <a:gd name="connsiteX0" fmla="*/ 0 w 7968343"/>
                <a:gd name="connsiteY0" fmla="*/ 3512874 h 3512874"/>
                <a:gd name="connsiteX1" fmla="*/ 7968343 w 7968343"/>
                <a:gd name="connsiteY1" fmla="*/ 0 h 3512874"/>
                <a:gd name="connsiteX2" fmla="*/ 7968343 w 7968343"/>
                <a:gd name="connsiteY2" fmla="*/ 3512874 h 3512874"/>
                <a:gd name="connsiteX3" fmla="*/ 0 w 7968343"/>
                <a:gd name="connsiteY3" fmla="*/ 3512874 h 3512874"/>
                <a:gd name="connsiteX0" fmla="*/ 0 w 2253343"/>
                <a:gd name="connsiteY0" fmla="*/ 3545531 h 3545531"/>
                <a:gd name="connsiteX1" fmla="*/ 2253343 w 2253343"/>
                <a:gd name="connsiteY1" fmla="*/ 0 h 3545531"/>
                <a:gd name="connsiteX2" fmla="*/ 2253343 w 2253343"/>
                <a:gd name="connsiteY2" fmla="*/ 3512874 h 3545531"/>
                <a:gd name="connsiteX3" fmla="*/ 0 w 2253343"/>
                <a:gd name="connsiteY3" fmla="*/ 3545531 h 3545531"/>
                <a:gd name="connsiteX0" fmla="*/ 0 w 3135086"/>
                <a:gd name="connsiteY0" fmla="*/ 3545531 h 3545531"/>
                <a:gd name="connsiteX1" fmla="*/ 3135086 w 3135086"/>
                <a:gd name="connsiteY1" fmla="*/ 0 h 3545531"/>
                <a:gd name="connsiteX2" fmla="*/ 3135086 w 3135086"/>
                <a:gd name="connsiteY2" fmla="*/ 3512874 h 3545531"/>
                <a:gd name="connsiteX3" fmla="*/ 0 w 3135086"/>
                <a:gd name="connsiteY3" fmla="*/ 3545531 h 3545531"/>
                <a:gd name="connsiteX0" fmla="*/ 0 w 2318657"/>
                <a:gd name="connsiteY0" fmla="*/ 3545531 h 3545531"/>
                <a:gd name="connsiteX1" fmla="*/ 2318657 w 2318657"/>
                <a:gd name="connsiteY1" fmla="*/ 0 h 3545531"/>
                <a:gd name="connsiteX2" fmla="*/ 2318657 w 2318657"/>
                <a:gd name="connsiteY2" fmla="*/ 3512874 h 3545531"/>
                <a:gd name="connsiteX3" fmla="*/ 0 w 2318657"/>
                <a:gd name="connsiteY3" fmla="*/ 3545531 h 3545531"/>
              </a:gdLst>
              <a:ahLst/>
              <a:cxnLst>
                <a:cxn ang="0">
                  <a:pos x="connsiteX0" y="connsiteY0"/>
                </a:cxn>
                <a:cxn ang="0">
                  <a:pos x="connsiteX1" y="connsiteY1"/>
                </a:cxn>
                <a:cxn ang="0">
                  <a:pos x="connsiteX2" y="connsiteY2"/>
                </a:cxn>
                <a:cxn ang="0">
                  <a:pos x="connsiteX3" y="connsiteY3"/>
                </a:cxn>
              </a:cxnLst>
              <a:rect l="l" t="t" r="r" b="b"/>
              <a:pathLst>
                <a:path w="2318657" h="3545531">
                  <a:moveTo>
                    <a:pt x="0" y="3545531"/>
                  </a:moveTo>
                  <a:lnTo>
                    <a:pt x="2318657" y="0"/>
                  </a:lnTo>
                  <a:lnTo>
                    <a:pt x="2318657" y="3512874"/>
                  </a:lnTo>
                  <a:lnTo>
                    <a:pt x="0" y="3545531"/>
                  </a:lnTo>
                  <a:close/>
                </a:path>
              </a:pathLst>
            </a:custGeom>
            <a:solidFill>
              <a:srgbClr val="EF31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ln>
                  <a:noFill/>
                </a:ln>
              </a:endParaRPr>
            </a:p>
          </p:txBody>
        </p:sp>
      </p:grpSp>
      <p:cxnSp>
        <p:nvCxnSpPr>
          <p:cNvPr id="7" name="Straight Connector 6">
            <a:extLst>
              <a:ext uri="{FF2B5EF4-FFF2-40B4-BE49-F238E27FC236}">
                <a16:creationId xmlns:a16="http://schemas.microsoft.com/office/drawing/2014/main" id="{D5547EFD-AF3C-5C77-4F75-BF235114F8F1}"/>
              </a:ext>
            </a:extLst>
          </p:cNvPr>
          <p:cNvCxnSpPr>
            <a:cxnSpLocks/>
          </p:cNvCxnSpPr>
          <p:nvPr userDrawn="1"/>
        </p:nvCxnSpPr>
        <p:spPr>
          <a:xfrm flipV="1">
            <a:off x="8315326" y="3236771"/>
            <a:ext cx="0" cy="15091958"/>
          </a:xfrm>
          <a:prstGeom prst="line">
            <a:avLst/>
          </a:prstGeom>
          <a:ln w="38100">
            <a:solidFill>
              <a:srgbClr val="F03987"/>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3F48450-3BB6-646A-FB7D-7F7FD63C1208}"/>
              </a:ext>
            </a:extLst>
          </p:cNvPr>
          <p:cNvCxnSpPr>
            <a:cxnSpLocks/>
          </p:cNvCxnSpPr>
          <p:nvPr userDrawn="1"/>
        </p:nvCxnSpPr>
        <p:spPr>
          <a:xfrm flipV="1">
            <a:off x="16459200" y="3222625"/>
            <a:ext cx="0" cy="15091958"/>
          </a:xfrm>
          <a:prstGeom prst="line">
            <a:avLst/>
          </a:prstGeom>
          <a:ln w="38100">
            <a:solidFill>
              <a:srgbClr val="F03987"/>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4EC6B0C-7925-8926-B0A8-B3C13B336B7B}"/>
              </a:ext>
            </a:extLst>
          </p:cNvPr>
          <p:cNvCxnSpPr>
            <a:cxnSpLocks/>
          </p:cNvCxnSpPr>
          <p:nvPr userDrawn="1"/>
        </p:nvCxnSpPr>
        <p:spPr>
          <a:xfrm flipV="1">
            <a:off x="24631650" y="3222625"/>
            <a:ext cx="0" cy="15091958"/>
          </a:xfrm>
          <a:prstGeom prst="line">
            <a:avLst/>
          </a:prstGeom>
          <a:ln w="38100">
            <a:solidFill>
              <a:srgbClr val="F03987"/>
            </a:solidFill>
            <a:prstDash val="sysDot"/>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3840404" rtl="0" eaLnBrk="1" latinLnBrk="0" hangingPunct="1">
        <a:spcBef>
          <a:spcPct val="0"/>
        </a:spcBef>
        <a:buNone/>
        <a:defRPr sz="7702" kern="1200">
          <a:solidFill>
            <a:schemeClr val="bg1"/>
          </a:solidFill>
          <a:latin typeface="Trebuchet MS" pitchFamily="34" charset="0"/>
          <a:ea typeface="+mj-ea"/>
          <a:cs typeface="+mj-cs"/>
        </a:defRPr>
      </a:lvl1pPr>
    </p:titleStyle>
    <p:bodyStyle>
      <a:lvl1pPr marL="1440152" indent="-1440152" algn="l" defTabSz="3840404" rtl="0" eaLnBrk="1" latinLnBrk="0" hangingPunct="1">
        <a:spcBef>
          <a:spcPct val="20000"/>
        </a:spcBef>
        <a:buFont typeface="Arial" pitchFamily="34" charset="0"/>
        <a:buChar char="•"/>
        <a:defRPr sz="13475" kern="1200">
          <a:solidFill>
            <a:schemeClr val="tx1"/>
          </a:solidFill>
          <a:latin typeface="+mn-lt"/>
          <a:ea typeface="+mn-ea"/>
          <a:cs typeface="+mn-cs"/>
        </a:defRPr>
      </a:lvl1pPr>
      <a:lvl2pPr marL="3120329" indent="-1200127" algn="l" defTabSz="3840404" rtl="0" eaLnBrk="1" latinLnBrk="0" hangingPunct="1">
        <a:spcBef>
          <a:spcPct val="20000"/>
        </a:spcBef>
        <a:buFont typeface="Arial" pitchFamily="34" charset="0"/>
        <a:buChar char="–"/>
        <a:defRPr sz="11812" kern="1200">
          <a:solidFill>
            <a:schemeClr val="tx1"/>
          </a:solidFill>
          <a:latin typeface="+mn-lt"/>
          <a:ea typeface="+mn-ea"/>
          <a:cs typeface="+mn-cs"/>
        </a:defRPr>
      </a:lvl2pPr>
      <a:lvl3pPr marL="4800508" indent="-960103" algn="l" defTabSz="3840404" rtl="0" eaLnBrk="1" latinLnBrk="0" hangingPunct="1">
        <a:spcBef>
          <a:spcPct val="20000"/>
        </a:spcBef>
        <a:buFont typeface="Arial" pitchFamily="34" charset="0"/>
        <a:buChar char="•"/>
        <a:defRPr sz="10151" kern="1200">
          <a:solidFill>
            <a:schemeClr val="tx1"/>
          </a:solidFill>
          <a:latin typeface="+mn-lt"/>
          <a:ea typeface="+mn-ea"/>
          <a:cs typeface="+mn-cs"/>
        </a:defRPr>
      </a:lvl3pPr>
      <a:lvl4pPr marL="6720710"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4pPr>
      <a:lvl5pPr marL="8640912"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5pPr>
      <a:lvl6pPr marL="10561115"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1314"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1518"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1721"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9pPr>
    </p:bodyStyle>
    <p:otherStyle>
      <a:defPPr>
        <a:defRPr lang="en-US"/>
      </a:defPPr>
      <a:lvl1pPr marL="0" algn="l" defTabSz="3840404" rtl="0" eaLnBrk="1" latinLnBrk="0" hangingPunct="1">
        <a:defRPr sz="7525" kern="1200">
          <a:solidFill>
            <a:schemeClr val="tx1"/>
          </a:solidFill>
          <a:latin typeface="+mn-lt"/>
          <a:ea typeface="+mn-ea"/>
          <a:cs typeface="+mn-cs"/>
        </a:defRPr>
      </a:lvl1pPr>
      <a:lvl2pPr marL="1920203" algn="l" defTabSz="3840404" rtl="0" eaLnBrk="1" latinLnBrk="0" hangingPunct="1">
        <a:defRPr sz="7525" kern="1200">
          <a:solidFill>
            <a:schemeClr val="tx1"/>
          </a:solidFill>
          <a:latin typeface="+mn-lt"/>
          <a:ea typeface="+mn-ea"/>
          <a:cs typeface="+mn-cs"/>
        </a:defRPr>
      </a:lvl2pPr>
      <a:lvl3pPr marL="3840404" algn="l" defTabSz="3840404" rtl="0" eaLnBrk="1" latinLnBrk="0" hangingPunct="1">
        <a:defRPr sz="7525" kern="1200">
          <a:solidFill>
            <a:schemeClr val="tx1"/>
          </a:solidFill>
          <a:latin typeface="+mn-lt"/>
          <a:ea typeface="+mn-ea"/>
          <a:cs typeface="+mn-cs"/>
        </a:defRPr>
      </a:lvl3pPr>
      <a:lvl4pPr marL="5760607" algn="l" defTabSz="3840404" rtl="0" eaLnBrk="1" latinLnBrk="0" hangingPunct="1">
        <a:defRPr sz="7525" kern="1200">
          <a:solidFill>
            <a:schemeClr val="tx1"/>
          </a:solidFill>
          <a:latin typeface="+mn-lt"/>
          <a:ea typeface="+mn-ea"/>
          <a:cs typeface="+mn-cs"/>
        </a:defRPr>
      </a:lvl4pPr>
      <a:lvl5pPr marL="7680810" algn="l" defTabSz="3840404" rtl="0" eaLnBrk="1" latinLnBrk="0" hangingPunct="1">
        <a:defRPr sz="7525" kern="1200">
          <a:solidFill>
            <a:schemeClr val="tx1"/>
          </a:solidFill>
          <a:latin typeface="+mn-lt"/>
          <a:ea typeface="+mn-ea"/>
          <a:cs typeface="+mn-cs"/>
        </a:defRPr>
      </a:lvl5pPr>
      <a:lvl6pPr marL="9601013" algn="l" defTabSz="3840404" rtl="0" eaLnBrk="1" latinLnBrk="0" hangingPunct="1">
        <a:defRPr sz="7525" kern="1200">
          <a:solidFill>
            <a:schemeClr val="tx1"/>
          </a:solidFill>
          <a:latin typeface="+mn-lt"/>
          <a:ea typeface="+mn-ea"/>
          <a:cs typeface="+mn-cs"/>
        </a:defRPr>
      </a:lvl6pPr>
      <a:lvl7pPr marL="11521216" algn="l" defTabSz="3840404" rtl="0" eaLnBrk="1" latinLnBrk="0" hangingPunct="1">
        <a:defRPr sz="7525" kern="1200">
          <a:solidFill>
            <a:schemeClr val="tx1"/>
          </a:solidFill>
          <a:latin typeface="+mn-lt"/>
          <a:ea typeface="+mn-ea"/>
          <a:cs typeface="+mn-cs"/>
        </a:defRPr>
      </a:lvl7pPr>
      <a:lvl8pPr marL="13441417" algn="l" defTabSz="3840404" rtl="0" eaLnBrk="1" latinLnBrk="0" hangingPunct="1">
        <a:defRPr sz="7525" kern="1200">
          <a:solidFill>
            <a:schemeClr val="tx1"/>
          </a:solidFill>
          <a:latin typeface="+mn-lt"/>
          <a:ea typeface="+mn-ea"/>
          <a:cs typeface="+mn-cs"/>
        </a:defRPr>
      </a:lvl8pPr>
      <a:lvl9pPr marL="15361621" algn="l" defTabSz="3840404" rtl="0" eaLnBrk="1" latinLnBrk="0" hangingPunct="1">
        <a:defRPr sz="752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6" userDrawn="1">
          <p15:clr>
            <a:srgbClr val="F26B43"/>
          </p15:clr>
        </p15:guide>
        <p15:guide id="2" userDrawn="1">
          <p15:clr>
            <a:srgbClr val="F26B43"/>
          </p15:clr>
        </p15:guide>
        <p15:guide id="3" pos="20736" userDrawn="1">
          <p15:clr>
            <a:srgbClr val="F26B43"/>
          </p15:clr>
        </p15:guide>
        <p15:guide id="4" orient="horz" pos="117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48EB6F-BBB5-57EC-F651-041E1003E918}"/>
              </a:ext>
            </a:extLst>
          </p:cNvPr>
          <p:cNvSpPr/>
          <p:nvPr userDrawn="1"/>
        </p:nvSpPr>
        <p:spPr>
          <a:xfrm rot="10800000">
            <a:off x="-22665" y="18726151"/>
            <a:ext cx="32941067" cy="518204"/>
          </a:xfrm>
          <a:prstGeom prst="rect">
            <a:avLst/>
          </a:prstGeom>
          <a:gradFill>
            <a:gsLst>
              <a:gs pos="0">
                <a:srgbClr val="EC018C"/>
              </a:gs>
              <a:gs pos="100000">
                <a:srgbClr val="F8973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p>
        </p:txBody>
      </p:sp>
      <p:sp>
        <p:nvSpPr>
          <p:cNvPr id="10" name="Text Box 14"/>
          <p:cNvSpPr txBox="1">
            <a:spLocks noChangeArrowheads="1"/>
          </p:cNvSpPr>
          <p:nvPr/>
        </p:nvSpPr>
        <p:spPr bwMode="auto">
          <a:xfrm>
            <a:off x="1175480" y="18894699"/>
            <a:ext cx="1885950" cy="395518"/>
          </a:xfrm>
          <a:prstGeom prst="rect">
            <a:avLst/>
          </a:prstGeom>
          <a:noFill/>
          <a:ln w="9525">
            <a:noFill/>
            <a:miter lim="800000"/>
            <a:headEnd/>
            <a:tailEnd/>
          </a:ln>
          <a:effectLst/>
        </p:spPr>
        <p:txBody>
          <a:bodyPr lIns="79856" tIns="39922" rIns="79856" bIns="39922">
            <a:spAutoFit/>
          </a:bodyPr>
          <a:lstStyle/>
          <a:p>
            <a:pPr eaLnBrk="0" hangingPunct="0">
              <a:lnSpc>
                <a:spcPct val="65000"/>
              </a:lnSpc>
              <a:spcBef>
                <a:spcPct val="50000"/>
              </a:spcBef>
              <a:defRPr/>
            </a:pPr>
            <a:r>
              <a:rPr lang="en-US" sz="438" b="1" dirty="0">
                <a:solidFill>
                  <a:schemeClr val="bg1">
                    <a:lumMod val="75000"/>
                  </a:schemeClr>
                </a:solidFill>
                <a:latin typeface="Arial" charset="0"/>
              </a:rPr>
              <a:t>RESEARCH POSTER PRESENTATION DESIGN © 2025</a:t>
            </a:r>
          </a:p>
          <a:p>
            <a:pPr eaLnBrk="0" hangingPunct="0">
              <a:lnSpc>
                <a:spcPct val="65000"/>
              </a:lnSpc>
              <a:spcBef>
                <a:spcPct val="50000"/>
              </a:spcBef>
              <a:defRPr/>
            </a:pPr>
            <a:r>
              <a:rPr lang="en-US" sz="964" b="1" dirty="0">
                <a:solidFill>
                  <a:schemeClr val="bg1">
                    <a:lumMod val="75000"/>
                  </a:schemeClr>
                </a:solidFill>
                <a:latin typeface="Arial" charset="0"/>
              </a:rPr>
              <a:t>www.PosterPresentations.com</a:t>
            </a:r>
          </a:p>
        </p:txBody>
      </p:sp>
      <p:sp>
        <p:nvSpPr>
          <p:cNvPr id="2" name="Rectangle 1">
            <a:extLst>
              <a:ext uri="{FF2B5EF4-FFF2-40B4-BE49-F238E27FC236}">
                <a16:creationId xmlns:a16="http://schemas.microsoft.com/office/drawing/2014/main" id="{B95ADCDC-56BB-267A-F385-295ACAB6EA06}"/>
              </a:ext>
            </a:extLst>
          </p:cNvPr>
          <p:cNvSpPr/>
          <p:nvPr userDrawn="1"/>
        </p:nvSpPr>
        <p:spPr>
          <a:xfrm>
            <a:off x="0" y="8225"/>
            <a:ext cx="32918400" cy="2868327"/>
          </a:xfrm>
          <a:prstGeom prst="rect">
            <a:avLst/>
          </a:prstGeom>
          <a:gradFill>
            <a:gsLst>
              <a:gs pos="0">
                <a:srgbClr val="EC018C"/>
              </a:gs>
              <a:gs pos="100000">
                <a:srgbClr val="F8973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p>
        </p:txBody>
      </p:sp>
      <p:sp>
        <p:nvSpPr>
          <p:cNvPr id="6" name="Rectangle 5">
            <a:extLst>
              <a:ext uri="{FF2B5EF4-FFF2-40B4-BE49-F238E27FC236}">
                <a16:creationId xmlns:a16="http://schemas.microsoft.com/office/drawing/2014/main" id="{EE7A87B8-B8C5-D3A0-72FE-28C783F3B7A8}"/>
              </a:ext>
            </a:extLst>
          </p:cNvPr>
          <p:cNvSpPr/>
          <p:nvPr userDrawn="1"/>
        </p:nvSpPr>
        <p:spPr>
          <a:xfrm>
            <a:off x="26942144" y="8225"/>
            <a:ext cx="5976257" cy="2868327"/>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8343" h="4917131">
                <a:moveTo>
                  <a:pt x="5943600" y="0"/>
                </a:moveTo>
                <a:lnTo>
                  <a:pt x="7968343" y="0"/>
                </a:lnTo>
                <a:lnTo>
                  <a:pt x="7968343" y="4917131"/>
                </a:lnTo>
                <a:lnTo>
                  <a:pt x="0" y="4917131"/>
                </a:lnTo>
                <a:lnTo>
                  <a:pt x="5943600" y="0"/>
                </a:lnTo>
                <a:close/>
              </a:path>
            </a:pathLst>
          </a:custGeom>
          <a:gradFill>
            <a:gsLst>
              <a:gs pos="2000">
                <a:srgbClr val="EB5D38"/>
              </a:gs>
              <a:gs pos="99000">
                <a:srgbClr val="FC6433"/>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ln>
                <a:noFill/>
              </a:ln>
            </a:endParaRPr>
          </a:p>
        </p:txBody>
      </p:sp>
      <p:sp>
        <p:nvSpPr>
          <p:cNvPr id="8" name="Rectangle 5">
            <a:extLst>
              <a:ext uri="{FF2B5EF4-FFF2-40B4-BE49-F238E27FC236}">
                <a16:creationId xmlns:a16="http://schemas.microsoft.com/office/drawing/2014/main" id="{F3F024EB-F7FE-309C-930F-42451D29C2E6}"/>
              </a:ext>
            </a:extLst>
          </p:cNvPr>
          <p:cNvSpPr/>
          <p:nvPr userDrawn="1"/>
        </p:nvSpPr>
        <p:spPr>
          <a:xfrm>
            <a:off x="31179410" y="808325"/>
            <a:ext cx="1738993" cy="2068227"/>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 name="connsiteX0" fmla="*/ 0 w 7968343"/>
              <a:gd name="connsiteY0" fmla="*/ 4917131 h 4917131"/>
              <a:gd name="connsiteX1" fmla="*/ 7968343 w 7968343"/>
              <a:gd name="connsiteY1" fmla="*/ 0 h 4917131"/>
              <a:gd name="connsiteX2" fmla="*/ 7968343 w 7968343"/>
              <a:gd name="connsiteY2" fmla="*/ 4917131 h 4917131"/>
              <a:gd name="connsiteX3" fmla="*/ 0 w 7968343"/>
              <a:gd name="connsiteY3" fmla="*/ 4917131 h 4917131"/>
              <a:gd name="connsiteX0" fmla="*/ 0 w 7968343"/>
              <a:gd name="connsiteY0" fmla="*/ 3512874 h 3512874"/>
              <a:gd name="connsiteX1" fmla="*/ 7968343 w 7968343"/>
              <a:gd name="connsiteY1" fmla="*/ 0 h 3512874"/>
              <a:gd name="connsiteX2" fmla="*/ 7968343 w 7968343"/>
              <a:gd name="connsiteY2" fmla="*/ 3512874 h 3512874"/>
              <a:gd name="connsiteX3" fmla="*/ 0 w 7968343"/>
              <a:gd name="connsiteY3" fmla="*/ 3512874 h 3512874"/>
              <a:gd name="connsiteX0" fmla="*/ 0 w 2253343"/>
              <a:gd name="connsiteY0" fmla="*/ 3545531 h 3545531"/>
              <a:gd name="connsiteX1" fmla="*/ 2253343 w 2253343"/>
              <a:gd name="connsiteY1" fmla="*/ 0 h 3545531"/>
              <a:gd name="connsiteX2" fmla="*/ 2253343 w 2253343"/>
              <a:gd name="connsiteY2" fmla="*/ 3512874 h 3545531"/>
              <a:gd name="connsiteX3" fmla="*/ 0 w 2253343"/>
              <a:gd name="connsiteY3" fmla="*/ 3545531 h 3545531"/>
              <a:gd name="connsiteX0" fmla="*/ 0 w 3135086"/>
              <a:gd name="connsiteY0" fmla="*/ 3545531 h 3545531"/>
              <a:gd name="connsiteX1" fmla="*/ 3135086 w 3135086"/>
              <a:gd name="connsiteY1" fmla="*/ 0 h 3545531"/>
              <a:gd name="connsiteX2" fmla="*/ 3135086 w 3135086"/>
              <a:gd name="connsiteY2" fmla="*/ 3512874 h 3545531"/>
              <a:gd name="connsiteX3" fmla="*/ 0 w 3135086"/>
              <a:gd name="connsiteY3" fmla="*/ 3545531 h 3545531"/>
              <a:gd name="connsiteX0" fmla="*/ 0 w 2318657"/>
              <a:gd name="connsiteY0" fmla="*/ 3545531 h 3545531"/>
              <a:gd name="connsiteX1" fmla="*/ 2318657 w 2318657"/>
              <a:gd name="connsiteY1" fmla="*/ 0 h 3545531"/>
              <a:gd name="connsiteX2" fmla="*/ 2318657 w 2318657"/>
              <a:gd name="connsiteY2" fmla="*/ 3512874 h 3545531"/>
              <a:gd name="connsiteX3" fmla="*/ 0 w 2318657"/>
              <a:gd name="connsiteY3" fmla="*/ 3545531 h 3545531"/>
            </a:gdLst>
            <a:ahLst/>
            <a:cxnLst>
              <a:cxn ang="0">
                <a:pos x="connsiteX0" y="connsiteY0"/>
              </a:cxn>
              <a:cxn ang="0">
                <a:pos x="connsiteX1" y="connsiteY1"/>
              </a:cxn>
              <a:cxn ang="0">
                <a:pos x="connsiteX2" y="connsiteY2"/>
              </a:cxn>
              <a:cxn ang="0">
                <a:pos x="connsiteX3" y="connsiteY3"/>
              </a:cxn>
            </a:cxnLst>
            <a:rect l="l" t="t" r="r" b="b"/>
            <a:pathLst>
              <a:path w="2318657" h="3545531">
                <a:moveTo>
                  <a:pt x="0" y="3545531"/>
                </a:moveTo>
                <a:lnTo>
                  <a:pt x="2318657" y="0"/>
                </a:lnTo>
                <a:lnTo>
                  <a:pt x="2318657" y="3512874"/>
                </a:lnTo>
                <a:lnTo>
                  <a:pt x="0" y="3545531"/>
                </a:lnTo>
                <a:close/>
              </a:path>
            </a:pathLst>
          </a:custGeom>
          <a:solidFill>
            <a:srgbClr val="EF31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ln>
                <a:noFill/>
              </a:ln>
            </a:endParaRPr>
          </a:p>
        </p:txBody>
      </p:sp>
      <p:cxnSp>
        <p:nvCxnSpPr>
          <p:cNvPr id="7" name="Straight Connector 6">
            <a:extLst>
              <a:ext uri="{FF2B5EF4-FFF2-40B4-BE49-F238E27FC236}">
                <a16:creationId xmlns:a16="http://schemas.microsoft.com/office/drawing/2014/main" id="{D5547EFD-AF3C-5C77-4F75-BF235114F8F1}"/>
              </a:ext>
            </a:extLst>
          </p:cNvPr>
          <p:cNvCxnSpPr>
            <a:cxnSpLocks/>
          </p:cNvCxnSpPr>
          <p:nvPr userDrawn="1"/>
        </p:nvCxnSpPr>
        <p:spPr>
          <a:xfrm flipV="1">
            <a:off x="8315326" y="3236771"/>
            <a:ext cx="0" cy="15091958"/>
          </a:xfrm>
          <a:prstGeom prst="line">
            <a:avLst/>
          </a:prstGeom>
          <a:ln w="38100">
            <a:solidFill>
              <a:srgbClr val="F03987"/>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4EC6B0C-7925-8926-B0A8-B3C13B336B7B}"/>
              </a:ext>
            </a:extLst>
          </p:cNvPr>
          <p:cNvCxnSpPr>
            <a:cxnSpLocks/>
          </p:cNvCxnSpPr>
          <p:nvPr userDrawn="1"/>
        </p:nvCxnSpPr>
        <p:spPr>
          <a:xfrm flipV="1">
            <a:off x="24631650" y="3222625"/>
            <a:ext cx="0" cy="15091958"/>
          </a:xfrm>
          <a:prstGeom prst="line">
            <a:avLst/>
          </a:prstGeom>
          <a:ln w="38100">
            <a:solidFill>
              <a:srgbClr val="F03987"/>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able 8">
            <a:extLst>
              <a:ext uri="{FF2B5EF4-FFF2-40B4-BE49-F238E27FC236}">
                <a16:creationId xmlns:a16="http://schemas.microsoft.com/office/drawing/2014/main" id="{FB209472-BE3A-00E5-73E5-1444CDF17E04}"/>
              </a:ext>
            </a:extLst>
          </p:cNvPr>
          <p:cNvGraphicFramePr>
            <a:graphicFrameLocks noGrp="1"/>
          </p:cNvGraphicFramePr>
          <p:nvPr userDrawn="1">
            <p:extLst>
              <p:ext uri="{D42A27DB-BD31-4B8C-83A1-F6EECF244321}">
                <p14:modId xmlns:p14="http://schemas.microsoft.com/office/powerpoint/2010/main" val="4206352149"/>
              </p:ext>
            </p:extLst>
          </p:nvPr>
        </p:nvGraphicFramePr>
        <p:xfrm>
          <a:off x="-6787479" y="29688"/>
          <a:ext cx="5976258" cy="19172713"/>
        </p:xfrm>
        <a:graphic>
          <a:graphicData uri="http://schemas.openxmlformats.org/drawingml/2006/table">
            <a:tbl>
              <a:tblPr firstRow="1" bandRow="1">
                <a:tableStyleId>{5C22544A-7EE6-4342-B048-85BDC9FD1C3A}</a:tableStyleId>
              </a:tblPr>
              <a:tblGrid>
                <a:gridCol w="2562572">
                  <a:extLst>
                    <a:ext uri="{9D8B030D-6E8A-4147-A177-3AD203B41FA5}">
                      <a16:colId xmlns:a16="http://schemas.microsoft.com/office/drawing/2014/main" val="20000"/>
                    </a:ext>
                  </a:extLst>
                </a:gridCol>
                <a:gridCol w="3413686">
                  <a:extLst>
                    <a:ext uri="{9D8B030D-6E8A-4147-A177-3AD203B41FA5}">
                      <a16:colId xmlns:a16="http://schemas.microsoft.com/office/drawing/2014/main" val="20001"/>
                    </a:ext>
                  </a:extLst>
                </a:gridCol>
              </a:tblGrid>
              <a:tr h="712046">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APPEAR ON THE POSTER)</a:t>
                      </a:r>
                      <a:endParaRPr lang="en-US" sz="2100" b="1" spc="600" dirty="0">
                        <a:solidFill>
                          <a:schemeClr val="bg1"/>
                        </a:solidFill>
                        <a:latin typeface="Trebuchet MS" pitchFamily="34" charset="0"/>
                      </a:endParaRPr>
                    </a:p>
                  </a:txBody>
                  <a:tcPr marL="137160" marR="68580" marT="80010" marB="2667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277202">
                <a:tc gridSpan="2">
                  <a:txBody>
                    <a:bodyPr/>
                    <a:lstStyle/>
                    <a:p>
                      <a:pPr defTabSz="3765639"/>
                      <a:r>
                        <a:rPr lang="en-US" sz="1200" b="0" i="0" dirty="0">
                          <a:solidFill>
                            <a:srgbClr val="D9D9D9"/>
                          </a:solidFill>
                          <a:latin typeface="Arial"/>
                          <a:cs typeface="Arial"/>
                        </a:rPr>
                        <a:t>This PowerPoint template is designed to create a </a:t>
                      </a:r>
                      <a:r>
                        <a:rPr lang="en-US" sz="1200" b="1" i="0" dirty="0">
                          <a:solidFill>
                            <a:srgbClr val="FFC000"/>
                          </a:solidFill>
                          <a:latin typeface="Arial"/>
                          <a:cs typeface="Arial"/>
                        </a:rPr>
                        <a:t>36"x48" </a:t>
                      </a:r>
                      <a:r>
                        <a:rPr lang="en-US" sz="1200" b="0" i="0" dirty="0">
                          <a:solidFill>
                            <a:srgbClr val="D9D9D9"/>
                          </a:solidFill>
                          <a:latin typeface="Arial"/>
                          <a:cs typeface="Arial"/>
                        </a:rPr>
                        <a:t>research poster. Simply add your title, subtitle, text, tables, charts, and photos to customize your poster.</a:t>
                      </a:r>
                    </a:p>
                    <a:p>
                      <a:pPr defTabSz="3765639"/>
                      <a:endParaRPr lang="en-US" sz="1200" b="0" i="0" dirty="0">
                        <a:solidFill>
                          <a:srgbClr val="D9D9D9"/>
                        </a:solidFill>
                        <a:latin typeface="Arial"/>
                        <a:cs typeface="Arial"/>
                      </a:endParaRPr>
                    </a:p>
                    <a:p>
                      <a:pPr defTabSz="3765639"/>
                      <a:r>
                        <a:rPr lang="en-US" sz="1200" b="0" i="0" dirty="0">
                          <a:solidFill>
                            <a:srgbClr val="D9D9D9"/>
                          </a:solidFill>
                          <a:latin typeface="Arial"/>
                          <a:cs typeface="Arial"/>
                        </a:rPr>
                        <a:t>To assist you in the design process and address any poster-related questions, we offer a series of online tutorials. Visit </a:t>
                      </a:r>
                      <a:r>
                        <a:rPr lang="en-US" sz="1200" b="1" i="0" dirty="0" err="1">
                          <a:solidFill>
                            <a:srgbClr val="FFC000"/>
                          </a:solidFill>
                          <a:latin typeface="Arial"/>
                          <a:cs typeface="Arial"/>
                        </a:rPr>
                        <a:t>PosterPresentations.com</a:t>
                      </a:r>
                      <a:r>
                        <a:rPr lang="en-US" sz="1200" b="1" i="0" dirty="0">
                          <a:solidFill>
                            <a:srgbClr val="FFC000"/>
                          </a:solidFill>
                          <a:latin typeface="Arial"/>
                          <a:cs typeface="Arial"/>
                        </a:rPr>
                        <a:t> </a:t>
                      </a:r>
                      <a:r>
                        <a:rPr lang="en-US" sz="1200" b="0" i="0" dirty="0">
                          <a:solidFill>
                            <a:srgbClr val="D9D9D9"/>
                          </a:solidFill>
                          <a:latin typeface="Arial"/>
                          <a:cs typeface="Arial"/>
                        </a:rPr>
                        <a:t>and select the </a:t>
                      </a:r>
                      <a:r>
                        <a:rPr lang="en-US" sz="1200" b="1" i="0" dirty="0">
                          <a:solidFill>
                            <a:srgbClr val="FFC000"/>
                          </a:solidFill>
                          <a:latin typeface="Arial"/>
                          <a:cs typeface="Arial"/>
                        </a:rPr>
                        <a:t>Tutorials </a:t>
                      </a:r>
                      <a:r>
                        <a:rPr lang="en-US" sz="1200" b="0" i="0" dirty="0">
                          <a:solidFill>
                            <a:srgbClr val="D9D9D9"/>
                          </a:solidFill>
                          <a:latin typeface="Arial"/>
                          <a:cs typeface="Arial"/>
                        </a:rPr>
                        <a:t>tab for detailed guidance.</a:t>
                      </a:r>
                    </a:p>
                    <a:p>
                      <a:pPr defTabSz="3765639"/>
                      <a:endParaRPr lang="en-US" sz="1200" b="0" i="0" dirty="0">
                        <a:solidFill>
                          <a:srgbClr val="D9D9D9"/>
                        </a:solidFill>
                        <a:latin typeface="Arial"/>
                        <a:cs typeface="Arial"/>
                      </a:endParaRPr>
                    </a:p>
                    <a:p>
                      <a:pPr defTabSz="3765639"/>
                      <a:r>
                        <a:rPr lang="en-US" sz="1200" b="0" i="0" dirty="0">
                          <a:solidFill>
                            <a:srgbClr val="D9D9D9"/>
                          </a:solidFill>
                          <a:latin typeface="Arial"/>
                          <a:cs typeface="Arial"/>
                        </a:rPr>
                        <a:t>For same-day professional printing of your poster, go to </a:t>
                      </a:r>
                      <a:r>
                        <a:rPr lang="en-US" sz="1200" b="1" i="0" dirty="0" err="1">
                          <a:solidFill>
                            <a:srgbClr val="FFC000"/>
                          </a:solidFill>
                          <a:latin typeface="Arial"/>
                          <a:cs typeface="Arial"/>
                        </a:rPr>
                        <a:t>PosterPresentations.com</a:t>
                      </a:r>
                      <a:r>
                        <a:rPr lang="en-US" sz="1200" b="1" i="0" dirty="0">
                          <a:solidFill>
                            <a:srgbClr val="FFC000"/>
                          </a:solidFill>
                          <a:latin typeface="Arial"/>
                          <a:cs typeface="Arial"/>
                        </a:rPr>
                        <a:t> </a:t>
                      </a:r>
                      <a:r>
                        <a:rPr lang="en-US" sz="1200" b="0" i="0" dirty="0">
                          <a:solidFill>
                            <a:srgbClr val="D9D9D9"/>
                          </a:solidFill>
                          <a:latin typeface="Arial"/>
                          <a:cs typeface="Arial"/>
                        </a:rPr>
                        <a:t>and click on the ”</a:t>
                      </a:r>
                      <a:r>
                        <a:rPr lang="en-US" sz="1200" b="1" i="0" dirty="0">
                          <a:solidFill>
                            <a:srgbClr val="FFC000"/>
                          </a:solidFill>
                          <a:latin typeface="Arial"/>
                          <a:cs typeface="Arial"/>
                        </a:rPr>
                        <a:t>PRINT</a:t>
                      </a:r>
                      <a:r>
                        <a:rPr lang="en-US" sz="1200" b="0" i="0" dirty="0">
                          <a:solidFill>
                            <a:srgbClr val="D9D9D9"/>
                          </a:solidFill>
                          <a:latin typeface="Arial"/>
                          <a:cs typeface="Arial"/>
                        </a:rPr>
                        <a:t>” button or click on any of our poster options.</a:t>
                      </a:r>
                      <a:endParaRPr lang="en-US" sz="1200" b="0" dirty="0">
                        <a:solidFill>
                          <a:srgbClr val="D9D9D9"/>
                        </a:solidFill>
                        <a:latin typeface="Arial"/>
                        <a:cs typeface="Arial"/>
                      </a:endParaRPr>
                    </a:p>
                  </a:txBody>
                  <a:tcPr marL="137160" marR="68580" marT="80010" marB="2667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449577">
                <a:tc>
                  <a:txBody>
                    <a:bodyPr/>
                    <a:lstStyle/>
                    <a:p>
                      <a:pPr algn="ctr"/>
                      <a:endParaRPr lang="en-US" sz="1200" dirty="0">
                        <a:solidFill>
                          <a:srgbClr val="1F3A4E"/>
                        </a:solidFill>
                      </a:endParaRPr>
                    </a:p>
                    <a:p>
                      <a:pPr algn="ctr"/>
                      <a:endParaRPr lang="en-US" sz="1200" dirty="0">
                        <a:solidFill>
                          <a:srgbClr val="1F3A4E"/>
                        </a:solidFill>
                      </a:endParaRP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This is a template for a</a:t>
                      </a: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presentation poster </a:t>
                      </a:r>
                      <a:b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42 inches tall</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by</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72 inches wide</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68580" marR="68580" marT="26670" marB="2667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Important: Check the template size</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D9D9D9"/>
                          </a:solidFill>
                          <a:latin typeface="Arial" panose="020B0604020202020204" pitchFamily="34" charset="0"/>
                          <a:cs typeface="Arial" panose="020B0604020202020204" pitchFamily="34" charset="0"/>
                        </a:rPr>
                        <a:t>Before starting your poster, ensure you have downloaded the correct template size to avoid printing issues.</a:t>
                      </a:r>
                    </a:p>
                    <a:p>
                      <a:pPr marL="0" marR="0" indent="0" algn="l" defTabSz="4388900" rtl="0" eaLnBrk="1" fontAlgn="auto" latinLnBrk="0" hangingPunct="1">
                        <a:lnSpc>
                          <a:spcPct val="100000"/>
                        </a:lnSpc>
                        <a:spcBef>
                          <a:spcPts val="0"/>
                        </a:spcBef>
                        <a:spcAft>
                          <a:spcPts val="0"/>
                        </a:spcAft>
                        <a:buClrTx/>
                        <a:buSzTx/>
                        <a:buFontTx/>
                        <a:buNone/>
                        <a:tabLst/>
                        <a:defRPr/>
                      </a:pPr>
                      <a:endParaRPr lang="en-US" sz="1200" b="0" baseline="0" dirty="0">
                        <a:solidFill>
                          <a:srgbClr val="D9D9D9"/>
                        </a:solidFill>
                        <a:latin typeface="Arial" panose="020B0604020202020204" pitchFamily="34" charset="0"/>
                        <a:cs typeface="Arial" panose="020B0604020202020204" pitchFamily="34" charset="0"/>
                      </a:endParaRPr>
                    </a:p>
                    <a:p>
                      <a:pPr marL="0" marR="0" indent="0" algn="l" defTabSz="4388900" rtl="0" eaLnBrk="1" fontAlgn="auto" latinLnBrk="0" hangingPunct="1">
                        <a:lnSpc>
                          <a:spcPct val="100000"/>
                        </a:lnSpc>
                        <a:spcBef>
                          <a:spcPts val="0"/>
                        </a:spcBef>
                        <a:spcAft>
                          <a:spcPts val="0"/>
                        </a:spcAft>
                        <a:buClrTx/>
                        <a:buSzTx/>
                        <a:buFontTx/>
                        <a:buNone/>
                        <a:tabLst/>
                        <a:defRPr/>
                      </a:pPr>
                      <a:r>
                        <a:rPr lang="en-US" sz="1200" b="0" baseline="0" dirty="0">
                          <a:solidFill>
                            <a:srgbClr val="D9D9D9"/>
                          </a:solidFill>
                          <a:latin typeface="Arial" panose="020B0604020202020204" pitchFamily="34" charset="0"/>
                          <a:cs typeface="Arial" panose="020B0604020202020204" pitchFamily="34" charset="0"/>
                        </a:rPr>
                        <a:t>This template can also be printed in the following sizes without distortion or additional formatting:</a:t>
                      </a:r>
                      <a:br>
                        <a:rPr lang="en-US" sz="1200" b="0" baseline="0" dirty="0">
                          <a:solidFill>
                            <a:srgbClr val="D9D9D9"/>
                          </a:solidFill>
                          <a:latin typeface="Arial" panose="020B0604020202020204" pitchFamily="34" charset="0"/>
                          <a:cs typeface="Arial" panose="020B0604020202020204" pitchFamily="34" charset="0"/>
                        </a:rPr>
                      </a:br>
                      <a:r>
                        <a:rPr lang="en-US" sz="1200" b="0" baseline="0" dirty="0">
                          <a:solidFill>
                            <a:srgbClr val="FFC000"/>
                          </a:solidFill>
                          <a:latin typeface="Arial" panose="020B0604020202020204" pitchFamily="34" charset="0"/>
                          <a:cs typeface="Arial" panose="020B0604020202020204" pitchFamily="34" charset="0"/>
                        </a:rPr>
                        <a:t>36 tall x 61.70 wide</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FFC000"/>
                          </a:solidFill>
                          <a:latin typeface="Arial" panose="020B0604020202020204" pitchFamily="34" charset="0"/>
                          <a:cs typeface="Arial" panose="020B0604020202020204" pitchFamily="34" charset="0"/>
                        </a:rPr>
                        <a:t>48 tall x 82.28 wide</a:t>
                      </a:r>
                    </a:p>
                  </a:txBody>
                  <a:tcPr marL="137160" marR="68580" marT="80010" marB="26670">
                    <a:solidFill>
                      <a:srgbClr val="010101"/>
                    </a:solidFill>
                  </a:tcPr>
                </a:tc>
                <a:extLst>
                  <a:ext uri="{0D108BD9-81ED-4DB2-BD59-A6C34878D82A}">
                    <a16:rowId xmlns:a16="http://schemas.microsoft.com/office/drawing/2014/main" val="10008"/>
                  </a:ext>
                </a:extLst>
              </a:tr>
              <a:tr h="2443090">
                <a:tc>
                  <a:txBody>
                    <a:bodyPr/>
                    <a:lstStyle/>
                    <a:p>
                      <a:endParaRPr lang="en-US" sz="1200" dirty="0">
                        <a:solidFill>
                          <a:srgbClr val="1F3A4E"/>
                        </a:solidFill>
                      </a:endParaRPr>
                    </a:p>
                  </a:txBody>
                  <a:tcPr marL="68580" marR="68580" marT="26670" marB="26670">
                    <a:blipFill rotWithShape="1">
                      <a:blip r:embed="rId3"/>
                      <a:stretch>
                        <a:fillRect/>
                      </a:stretch>
                    </a:blipFill>
                  </a:tcPr>
                </a:tc>
                <a:tc>
                  <a:txBody>
                    <a:bodyPr/>
                    <a:lstStyle/>
                    <a:p>
                      <a:pPr algn="l"/>
                      <a:r>
                        <a:rPr lang="en-US" sz="1400" b="1" baseline="0" dirty="0">
                          <a:solidFill>
                            <a:srgbClr val="FFC000"/>
                          </a:solidFill>
                          <a:latin typeface="Arial" panose="020B0604020202020204" pitchFamily="34" charset="0"/>
                          <a:cs typeface="Arial" panose="020B0604020202020204" pitchFamily="34" charset="0"/>
                        </a:rPr>
                        <a:t>How to </a:t>
                      </a:r>
                      <a:r>
                        <a:rPr lang="en-US" sz="2300" b="1" baseline="0" dirty="0">
                          <a:solidFill>
                            <a:srgbClr val="FFC000"/>
                          </a:solidFill>
                          <a:latin typeface="Arial" panose="020B0604020202020204" pitchFamily="34" charset="0"/>
                          <a:cs typeface="Arial" panose="020B0604020202020204" pitchFamily="34" charset="0"/>
                        </a:rPr>
                        <a:t>Zoom in </a:t>
                      </a:r>
                      <a:r>
                        <a:rPr lang="en-US" sz="1400" b="1" baseline="0" dirty="0">
                          <a:solidFill>
                            <a:srgbClr val="FFC000"/>
                          </a:solidFill>
                          <a:latin typeface="Arial" panose="020B0604020202020204" pitchFamily="34" charset="0"/>
                          <a:cs typeface="Arial" panose="020B0604020202020204" pitchFamily="34" charset="0"/>
                        </a:rPr>
                        <a:t>and </a:t>
                      </a:r>
                      <a:r>
                        <a:rPr lang="en-US" sz="1100" b="1" baseline="0" dirty="0">
                          <a:solidFill>
                            <a:srgbClr val="FFC000"/>
                          </a:solidFill>
                          <a:latin typeface="Arial" panose="020B0604020202020204" pitchFamily="34" charset="0"/>
                          <a:cs typeface="Arial" panose="020B0604020202020204" pitchFamily="34" charset="0"/>
                        </a:rPr>
                        <a:t>out</a:t>
                      </a:r>
                      <a:endParaRPr lang="en-US" sz="1400" b="1" baseline="0" dirty="0">
                        <a:solidFill>
                          <a:srgbClr val="FFC000"/>
                        </a:solidFill>
                        <a:latin typeface="Arial" panose="020B0604020202020204" pitchFamily="34" charset="0"/>
                        <a:cs typeface="Arial" panose="020B0604020202020204" pitchFamily="34" charset="0"/>
                      </a:endParaRPr>
                    </a:p>
                    <a:p>
                      <a:pPr algn="l"/>
                      <a:r>
                        <a:rPr lang="en-US" sz="1200" b="0" baseline="0" dirty="0">
                          <a:solidFill>
                            <a:srgbClr val="D9D9D9"/>
                          </a:solidFill>
                          <a:latin typeface="Arial" panose="020B0604020202020204" pitchFamily="34" charset="0"/>
                          <a:cs typeface="Arial" panose="020B0604020202020204" pitchFamily="34" charset="0"/>
                        </a:rPr>
                        <a:t>Use the PowerPoint zoom tool to adjust the screen magnification for comfortable viewing. PowerPoint offers two ways to zoom:</a:t>
                      </a:r>
                    </a:p>
                    <a:p>
                      <a:pPr algn="l"/>
                      <a:endParaRPr lang="en-US" sz="1200" b="0" baseline="0" dirty="0">
                        <a:solidFill>
                          <a:srgbClr val="D9D9D9"/>
                        </a:solidFill>
                        <a:latin typeface="Arial" panose="020B0604020202020204" pitchFamily="34" charset="0"/>
                        <a:cs typeface="Arial" panose="020B0604020202020204" pitchFamily="34" charset="0"/>
                      </a:endParaRPr>
                    </a:p>
                    <a:p>
                      <a:pPr algn="l"/>
                      <a:r>
                        <a:rPr lang="en-US" sz="1200" b="0" baseline="0" dirty="0">
                          <a:solidFill>
                            <a:srgbClr val="D9D9D9"/>
                          </a:solidFill>
                          <a:latin typeface="Arial" panose="020B0604020202020204" pitchFamily="34" charset="0"/>
                          <a:cs typeface="Arial" panose="020B0604020202020204" pitchFamily="34" charset="0"/>
                        </a:rPr>
                        <a:t>1. Click the VIEW tab in the top menu bar, then select ZOOM. Choose the zoom percentage that suits you best.</a:t>
                      </a:r>
                    </a:p>
                    <a:p>
                      <a:pPr algn="l"/>
                      <a:r>
                        <a:rPr lang="en-US" sz="1200" b="0" baseline="0" dirty="0">
                          <a:solidFill>
                            <a:srgbClr val="D9D9D9"/>
                          </a:solidFill>
                          <a:latin typeface="Arial" panose="020B0604020202020204" pitchFamily="34" charset="0"/>
                          <a:cs typeface="Arial" panose="020B0604020202020204" pitchFamily="34" charset="0"/>
                        </a:rPr>
                        <a:t>2. Use the zoom slider located at the bottom-right corner of the window for more flexible adjustments.</a:t>
                      </a:r>
                    </a:p>
                  </a:txBody>
                  <a:tcPr marL="137160" marR="68580" marT="80010" marB="26670">
                    <a:solidFill>
                      <a:srgbClr val="010101"/>
                    </a:solidFill>
                  </a:tcPr>
                </a:tc>
                <a:extLst>
                  <a:ext uri="{0D108BD9-81ED-4DB2-BD59-A6C34878D82A}">
                    <a16:rowId xmlns:a16="http://schemas.microsoft.com/office/drawing/2014/main" val="10001"/>
                  </a:ext>
                </a:extLst>
              </a:tr>
              <a:tr h="116876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Ruler and Guides</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D9D9D9"/>
                          </a:solidFill>
                          <a:latin typeface="Arial" panose="020B0604020202020204" pitchFamily="34" charset="0"/>
                          <a:cs typeface="Arial" panose="020B06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p>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0" baseline="0" dirty="0">
                          <a:solidFill>
                            <a:srgbClr val="D9D9D9"/>
                          </a:solidFill>
                          <a:latin typeface="Arial" panose="020B0604020202020204" pitchFamily="34" charset="0"/>
                          <a:cs typeface="Arial" panose="020B0604020202020204" pitchFamily="34" charset="0"/>
                        </a:rPr>
                        <a:t>To hide the guides, go to the VIEW tab and uncheck the Guides box.</a:t>
                      </a:r>
                    </a:p>
                  </a:txBody>
                  <a:tcPr marL="68580" marR="68580" marT="26670" marB="2667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307363">
                <a:tc>
                  <a:txBody>
                    <a:bodyPr/>
                    <a:lstStyle/>
                    <a:p>
                      <a:endParaRPr lang="en-US" sz="1200" dirty="0">
                        <a:solidFill>
                          <a:srgbClr val="1F3A4E"/>
                        </a:solidFill>
                      </a:endParaRPr>
                    </a:p>
                  </a:txBody>
                  <a:tcPr marL="68580" marR="68580" marT="26670" marB="26670">
                    <a:blipFill rotWithShape="1">
                      <a:blip r:embed="rId4"/>
                      <a:stretch>
                        <a:fillRect/>
                      </a:stretch>
                    </a:blipFill>
                  </a:tcPr>
                </a:tc>
                <a:tc>
                  <a:txBody>
                    <a:bodyPr/>
                    <a:lstStyle/>
                    <a:p>
                      <a:pPr marL="0" lvl="1" indent="0" algn="l" defTabSz="114300"/>
                      <a:r>
                        <a:rPr lang="en-US" sz="1400" b="1" baseline="0" dirty="0">
                          <a:solidFill>
                            <a:srgbClr val="FFC000"/>
                          </a:solidFill>
                          <a:latin typeface="Arial" panose="020B0604020202020204" pitchFamily="34" charset="0"/>
                          <a:cs typeface="Arial" panose="020B0604020202020204" pitchFamily="34" charset="0"/>
                        </a:rPr>
                        <a:t>Headers and text containers</a:t>
                      </a:r>
                      <a:br>
                        <a:rPr lang="en-US" sz="1200" b="0" baseline="0" dirty="0">
                          <a:solidFill>
                            <a:schemeClr val="bg1"/>
                          </a:solidFill>
                          <a:latin typeface="Arial" panose="020B0604020202020204" pitchFamily="34" charset="0"/>
                          <a:cs typeface="Arial" panose="020B0604020202020204" pitchFamily="34" charset="0"/>
                        </a:rPr>
                      </a:br>
                      <a:r>
                        <a:rPr lang="en-US" sz="1200" b="0" baseline="0" dirty="0">
                          <a:solidFill>
                            <a:schemeClr val="bg1"/>
                          </a:solidFill>
                          <a:latin typeface="Arial" panose="020B0604020202020204" pitchFamily="34" charset="0"/>
                          <a:cs typeface="Arial" panose="020B0604020202020204" pitchFamily="34" charset="0"/>
                        </a:rPr>
                        <a:t>This template includes commonly used section headers, such as Abstract, Objectives, Methods, and Results.</a:t>
                      </a:r>
                    </a:p>
                    <a:p>
                      <a:pPr marL="0" lvl="1" indent="0" algn="l" defTabSz="114300"/>
                      <a:endParaRPr lang="en-US" sz="1200" b="0" baseline="0" dirty="0">
                        <a:solidFill>
                          <a:schemeClr val="bg1"/>
                        </a:solidFill>
                        <a:latin typeface="Arial" panose="020B0604020202020204" pitchFamily="34" charset="0"/>
                        <a:cs typeface="Arial" panose="020B0604020202020204" pitchFamily="34" charset="0"/>
                      </a:endParaRP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Click inside a section header to add text.</a:t>
                      </a: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To create a new header, click the edge of the section box to outline it, then copy and paste it.</a:t>
                      </a: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To resize a header, click on the white circles and drag to the desired size.</a:t>
                      </a:r>
                      <a:endParaRPr lang="en-US" sz="1200" b="0" baseline="0" dirty="0">
                        <a:solidFill>
                          <a:srgbClr val="D9D9D9"/>
                        </a:solidFill>
                        <a:latin typeface="Arial" panose="020B0604020202020204" pitchFamily="34" charset="0"/>
                        <a:cs typeface="Arial" panose="020B0604020202020204" pitchFamily="34" charset="0"/>
                      </a:endParaRPr>
                    </a:p>
                  </a:txBody>
                  <a:tcPr marL="137160" marR="68580" marT="80010" marB="26670">
                    <a:solidFill>
                      <a:srgbClr val="010101"/>
                    </a:solidFill>
                  </a:tcPr>
                </a:tc>
                <a:extLst>
                  <a:ext uri="{0D108BD9-81ED-4DB2-BD59-A6C34878D82A}">
                    <a16:rowId xmlns:a16="http://schemas.microsoft.com/office/drawing/2014/main" val="10003"/>
                  </a:ext>
                </a:extLst>
              </a:tr>
              <a:tr h="2073611">
                <a:tc gridSpan="2">
                  <a:txBody>
                    <a:bodyPr/>
                    <a:lstStyle/>
                    <a:p>
                      <a:r>
                        <a:rPr lang="en-US" sz="1400" b="1" dirty="0">
                          <a:solidFill>
                            <a:srgbClr val="FFC000"/>
                          </a:solidFill>
                          <a:latin typeface="Arial" panose="020B0604020202020204" pitchFamily="34" charset="0"/>
                          <a:cs typeface="Arial" panose="020B0604020202020204" pitchFamily="34" charset="0"/>
                        </a:rPr>
                        <a:t>Adding content to the poster</a:t>
                      </a:r>
                    </a:p>
                    <a:p>
                      <a:r>
                        <a:rPr lang="en-US" sz="1200" baseline="0" dirty="0">
                          <a:solidFill>
                            <a:srgbClr val="D9D9D9"/>
                          </a:solidFill>
                          <a:latin typeface="Arial" panose="020B0604020202020204" pitchFamily="34" charset="0"/>
                          <a:cs typeface="Arial" panose="020B06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p>
                    <a:p>
                      <a:endParaRPr lang="en-US" sz="1200" baseline="0" dirty="0">
                        <a:solidFill>
                          <a:srgbClr val="D9D9D9"/>
                        </a:solidFill>
                        <a:latin typeface="Arial" panose="020B0604020202020204" pitchFamily="34" charset="0"/>
                        <a:cs typeface="Arial" panose="020B0604020202020204" pitchFamily="34" charset="0"/>
                      </a:endParaRPr>
                    </a:p>
                    <a:p>
                      <a:r>
                        <a:rPr lang="en-US" sz="1200" baseline="0" dirty="0">
                          <a:solidFill>
                            <a:srgbClr val="D9D9D9"/>
                          </a:solidFill>
                          <a:latin typeface="Arial" panose="020B0604020202020204" pitchFamily="34" charset="0"/>
                          <a:cs typeface="Arial" panose="020B0604020202020204" pitchFamily="34" charset="0"/>
                        </a:rPr>
                        <a:t>Once everything is in place, go back and adjust the size of your text, images, and other visual elements to distribute the content evenly across the poster.</a:t>
                      </a:r>
                    </a:p>
                    <a:p>
                      <a:endParaRPr lang="en-US" sz="1200" baseline="0" dirty="0">
                        <a:solidFill>
                          <a:srgbClr val="D9D9D9"/>
                        </a:solidFill>
                        <a:latin typeface="Arial" panose="020B0604020202020204" pitchFamily="34" charset="0"/>
                        <a:cs typeface="Arial" panose="020B0604020202020204" pitchFamily="34" charset="0"/>
                      </a:endParaRPr>
                    </a:p>
                    <a:p>
                      <a:r>
                        <a:rPr lang="en-US" sz="1200" baseline="0" dirty="0">
                          <a:solidFill>
                            <a:srgbClr val="D9D9D9"/>
                          </a:solidFill>
                          <a:latin typeface="Arial" panose="020B0604020202020204" pitchFamily="34" charset="0"/>
                          <a:cs typeface="Arial" panose="020B0604020202020204" pitchFamily="34" charset="0"/>
                        </a:rPr>
                        <a:t>Make sure everything is aligned correctly before you finalize your poster.</a:t>
                      </a:r>
                    </a:p>
                  </a:txBody>
                  <a:tcPr marL="68580" marR="68580" marT="26670" marB="2667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40251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a:ea typeface="+mn-ea"/>
                          <a:cs typeface="Arial"/>
                        </a:rPr>
                        <a:t>To add photos, you can drag and drop them from your desktop, copy and paste, or go to INSERT &gt; PICTURES in the menu.</a:t>
                      </a:r>
                    </a:p>
                    <a:p>
                      <a:pPr marL="0" marR="0" lvl="0" indent="0" algn="l" defTabSz="9779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D9D9D9"/>
                        </a:solidFill>
                        <a:effectLst/>
                        <a:uLnTx/>
                        <a:uFillTx/>
                        <a:latin typeface="Arial"/>
                        <a:ea typeface="+mn-ea"/>
                        <a:cs typeface="Arial"/>
                      </a:endParaRP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a:ea typeface="+mn-ea"/>
                          <a:cs typeface="Arial"/>
                        </a:rPr>
                        <a:t>To resize images proportionally, drag one of the white corner handles (small circles or squares). The middle handles will stretch and distort your image. </a:t>
                      </a:r>
                    </a:p>
                  </a:txBody>
                  <a:tcPr marL="137160" marR="68580" marT="80010" marB="2667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228519">
                <a:tc gridSpan="2">
                  <a:txBody>
                    <a:bodyPr/>
                    <a:lstStyle/>
                    <a:p>
                      <a:endParaRPr lang="en-US" sz="1200" dirty="0">
                        <a:solidFill>
                          <a:schemeClr val="bg1"/>
                        </a:solidFill>
                        <a:latin typeface="Arial" panose="020B0604020202020204" pitchFamily="34" charset="0"/>
                        <a:cs typeface="Arial" panose="020B0604020202020204" pitchFamily="34" charset="0"/>
                      </a:endParaRPr>
                    </a:p>
                  </a:txBody>
                  <a:tcPr marL="137160" marR="68580" marT="80010" marB="2667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0251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p>
                  </a:txBody>
                  <a:tcPr marL="137160" marR="68580" marT="80010" marB="2667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70751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chemeClr val="bg1"/>
                        </a:solidFill>
                        <a:latin typeface="Arial"/>
                        <a:cs typeface="Arial"/>
                      </a:endParaRPr>
                    </a:p>
                  </a:txBody>
                  <a:tcPr marL="137160" marR="68580" marT="80010" marB="2667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5" name="Table 14">
            <a:extLst>
              <a:ext uri="{FF2B5EF4-FFF2-40B4-BE49-F238E27FC236}">
                <a16:creationId xmlns:a16="http://schemas.microsoft.com/office/drawing/2014/main" id="{4F1A5B84-17BE-C806-D6AC-2A482C9FB791}"/>
              </a:ext>
            </a:extLst>
          </p:cNvPr>
          <p:cNvGraphicFramePr>
            <a:graphicFrameLocks noGrp="1"/>
          </p:cNvGraphicFramePr>
          <p:nvPr userDrawn="1">
            <p:extLst>
              <p:ext uri="{D42A27DB-BD31-4B8C-83A1-F6EECF244321}">
                <p14:modId xmlns:p14="http://schemas.microsoft.com/office/powerpoint/2010/main" val="689495701"/>
              </p:ext>
            </p:extLst>
          </p:nvPr>
        </p:nvGraphicFramePr>
        <p:xfrm>
          <a:off x="33708974" y="0"/>
          <a:ext cx="6467830" cy="19202399"/>
        </p:xfrm>
        <a:graphic>
          <a:graphicData uri="http://schemas.openxmlformats.org/drawingml/2006/table">
            <a:tbl>
              <a:tblPr firstRow="1" bandRow="1">
                <a:tableStyleId>{5C22544A-7EE6-4342-B048-85BDC9FD1C3A}</a:tableStyleId>
              </a:tblPr>
              <a:tblGrid>
                <a:gridCol w="2892673">
                  <a:extLst>
                    <a:ext uri="{9D8B030D-6E8A-4147-A177-3AD203B41FA5}">
                      <a16:colId xmlns:a16="http://schemas.microsoft.com/office/drawing/2014/main" val="20000"/>
                    </a:ext>
                  </a:extLst>
                </a:gridCol>
                <a:gridCol w="441797">
                  <a:extLst>
                    <a:ext uri="{9D8B030D-6E8A-4147-A177-3AD203B41FA5}">
                      <a16:colId xmlns:a16="http://schemas.microsoft.com/office/drawing/2014/main" val="3519466302"/>
                    </a:ext>
                  </a:extLst>
                </a:gridCol>
                <a:gridCol w="3133360">
                  <a:extLst>
                    <a:ext uri="{9D8B030D-6E8A-4147-A177-3AD203B41FA5}">
                      <a16:colId xmlns:a16="http://schemas.microsoft.com/office/drawing/2014/main" val="4164475170"/>
                    </a:ext>
                  </a:extLst>
                </a:gridCol>
              </a:tblGrid>
              <a:tr h="80015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300" b="0" spc="600" dirty="0">
                          <a:solidFill>
                            <a:srgbClr val="1F3A4E"/>
                          </a:solidFill>
                          <a:latin typeface="Arial Black" panose="020B0A04020102020204" pitchFamily="34" charset="0"/>
                        </a:rPr>
                        <a:t>QUICK START GUIDE</a:t>
                      </a:r>
                      <a:br>
                        <a:rPr lang="en-US" sz="2300" b="0" spc="600" dirty="0">
                          <a:solidFill>
                            <a:srgbClr val="1F3A4E"/>
                          </a:solidFill>
                          <a:latin typeface="Arial Black" panose="020B0A04020102020204" pitchFamily="34" charset="0"/>
                        </a:rPr>
                      </a:br>
                      <a:r>
                        <a:rPr lang="en-US" sz="1900" b="1" spc="0" dirty="0">
                          <a:solidFill>
                            <a:srgbClr val="FF0000"/>
                          </a:solidFill>
                          <a:latin typeface="Trebuchet MS" pitchFamily="34" charset="0"/>
                        </a:rPr>
                        <a:t>(THIS SIDEBAR WILL APPEAR ON THE POSTER)</a:t>
                      </a:r>
                      <a:endParaRPr lang="en-US" sz="2300" b="1" spc="600" dirty="0">
                        <a:solidFill>
                          <a:schemeClr val="bg1"/>
                        </a:solidFill>
                        <a:latin typeface="Trebuchet MS" pitchFamily="34" charset="0"/>
                      </a:endParaRPr>
                    </a:p>
                  </a:txBody>
                  <a:tcPr marL="137160" marR="68580" marT="80010" marB="2667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15673">
                <a:tc>
                  <a:txBody>
                    <a:bodyPr/>
                    <a:lstStyle/>
                    <a:p>
                      <a:endParaRPr lang="en-US" sz="1200" u="none" dirty="0">
                        <a:solidFill>
                          <a:srgbClr val="FFC000"/>
                        </a:solidFill>
                      </a:endParaRPr>
                    </a:p>
                  </a:txBody>
                  <a:tcPr marL="137160" marR="68580" marT="80010" marB="26670">
                    <a:blipFill>
                      <a:blip r:embed="rId7"/>
                      <a:stretch>
                        <a:fillRect/>
                      </a:stretch>
                    </a:blipFill>
                  </a:tcPr>
                </a:tc>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1200" u="none" dirty="0">
                        <a:solidFill>
                          <a:srgbClr val="FFC000"/>
                        </a:solidFill>
                      </a:endParaRPr>
                    </a:p>
                  </a:txBody>
                  <a:tcPr marL="137160" marR="68580" marT="80010" marB="26670">
                    <a:solidFill>
                      <a:schemeClr val="tx1"/>
                    </a:solidFill>
                  </a:tcPr>
                </a:tc>
                <a:tc hMerge="1">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To manually adjust the column configuration, go to VIEW &gt; SLIDE MASTER. From there, you can delete, resize, or modify the columns to suit your layout. When finished, remember to exit the MASTER by clicking on VIEW &gt; NORMAL</a:t>
                      </a:r>
                    </a:p>
                    <a:p>
                      <a:pPr marL="0" marR="0" lvl="0" indent="0" algn="l" defTabSz="43889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endParaRP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For step-by-step guidance, refer to the tutorial here: </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https://</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www.posterpresentations.com</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/how-to-change-the-column-</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configuration.html</a:t>
                      </a:r>
                      <a:endParaRPr kumimoji="0" lang="en-US" sz="2000" b="0" i="0" u="none" strike="noStrike" kern="1200" cap="none" spc="0" normalizeH="0" baseline="0" noProof="0" dirty="0">
                        <a:ln>
                          <a:noFill/>
                        </a:ln>
                        <a:solidFill>
                          <a:srgbClr val="FFC000"/>
                        </a:solidFill>
                        <a:effectLst/>
                        <a:uLnTx/>
                        <a:uFillTx/>
                        <a:latin typeface="+mn-lt"/>
                        <a:ea typeface="+mn-ea"/>
                        <a:cs typeface="+mn-cs"/>
                      </a:endParaRPr>
                    </a:p>
                  </a:txBody>
                  <a:tcPr marL="182880" marT="137160">
                    <a:solidFill>
                      <a:schemeClr val="tx1"/>
                    </a:solidFill>
                  </a:tcPr>
                </a:tc>
                <a:extLst>
                  <a:ext uri="{0D108BD9-81ED-4DB2-BD59-A6C34878D82A}">
                    <a16:rowId xmlns:a16="http://schemas.microsoft.com/office/drawing/2014/main" val="10004"/>
                  </a:ext>
                </a:extLst>
              </a:tr>
              <a:tr h="141399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1. Click on the View tab, and then click Slide Master</a:t>
                      </a:r>
                    </a:p>
                  </a:txBody>
                  <a:tcPr marL="137160" marR="68580" marT="80010" marB="26670">
                    <a:blipFill>
                      <a:blip r:embed="rId8"/>
                      <a:stretch>
                        <a:fillRect/>
                      </a:stretch>
                    </a:blipFill>
                  </a:tcPr>
                </a:tc>
                <a:tc rowSpan="3"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The Quick Start Guides are positioned outside the template's printable area, so they will not appear on the printed poster.</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If you save the file as a PDF using the Save As menu, the guides will also be excluded.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Alternatively, you can remove them directly from the Slide Master.</a:t>
                      </a:r>
                    </a:p>
                  </a:txBody>
                  <a:tcPr marL="137160" marR="68580" marT="80010" marB="26670">
                    <a:solidFill>
                      <a:srgbClr val="010101"/>
                    </a:solidFill>
                  </a:tcPr>
                </a:tc>
                <a:tc rowSpan="3"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the SAVES AS menu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Alternatively, you can delete them from the Slide Master. </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94304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txBody>
                  <a:tcPr marL="137160" marR="68580" marT="80010" marB="26670">
                    <a:blipFill>
                      <a:blip r:embed="rId9"/>
                      <a:stretch>
                        <a:fillRect/>
                      </a:stretch>
                    </a:blip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a:blip r:embed="rId9"/>
                      <a:stretch>
                        <a:fillRect/>
                      </a:stretch>
                    </a:blipFill>
                  </a:tcPr>
                </a:tc>
                <a:tc hMerge="1" vMerge="1">
                  <a:txBody>
                    <a:bodyPr/>
                    <a:lstStyle/>
                    <a:p>
                      <a:endParaRPr lang="en-US"/>
                    </a:p>
                  </a:txBody>
                  <a:tcPr/>
                </a:tc>
                <a:extLst>
                  <a:ext uri="{0D108BD9-81ED-4DB2-BD59-A6C34878D82A}">
                    <a16:rowId xmlns:a16="http://schemas.microsoft.com/office/drawing/2014/main" val="3063495530"/>
                  </a:ext>
                </a:extLst>
              </a:tr>
              <a:tr h="1586036">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2. Select the Master you are working on.</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3. Click on the border of the Guide box and delete.</a:t>
                      </a:r>
                      <a:br>
                        <a:rPr lang="en-US" sz="1400" noProof="0" dirty="0">
                          <a:solidFill>
                            <a:srgbClr val="D9D9D9"/>
                          </a:solidFill>
                          <a:latin typeface="Arial" panose="020B0604020202020204" pitchFamily="34" charset="0"/>
                          <a:cs typeface="Arial" panose="020B0604020202020204" pitchFamily="34" charset="0"/>
                        </a:rPr>
                      </a:br>
                      <a:r>
                        <a:rPr lang="en-US" sz="1400" noProof="0" dirty="0">
                          <a:solidFill>
                            <a:srgbClr val="D9D9D9"/>
                          </a:solidFill>
                          <a:latin typeface="Arial" panose="020B0604020202020204" pitchFamily="34" charset="0"/>
                          <a:cs typeface="Arial" panose="020B0604020202020204" pitchFamily="34" charset="0"/>
                        </a:rPr>
                        <a:t>4. IMPORTANT: Do not forget to exit the Master when finished.</a:t>
                      </a:r>
                    </a:p>
                  </a:txBody>
                  <a:tcPr marL="137160" marR="68580" marT="80010" marB="2667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766341567"/>
                  </a:ext>
                </a:extLst>
              </a:tr>
              <a:tr h="2713885">
                <a:tc>
                  <a:txBody>
                    <a:bodyPr/>
                    <a:lstStyle/>
                    <a:p>
                      <a:r>
                        <a:rPr lang="en-US" sz="1600" b="1" dirty="0">
                          <a:solidFill>
                            <a:srgbClr val="FFC000"/>
                          </a:solidFill>
                          <a:latin typeface="Arial" panose="020B0604020202020204" pitchFamily="34" charset="0"/>
                          <a:cs typeface="Arial" panose="020B0604020202020204" pitchFamily="34" charset="0"/>
                        </a:rPr>
                        <a:t>How to</a:t>
                      </a:r>
                      <a:r>
                        <a:rPr lang="en-US" sz="1600" b="1" baseline="0" dirty="0">
                          <a:solidFill>
                            <a:srgbClr val="FFC000"/>
                          </a:solidFill>
                          <a:latin typeface="Arial" panose="020B0604020202020204" pitchFamily="34" charset="0"/>
                          <a:cs typeface="Arial" panose="020B0604020202020204" pitchFamily="34" charset="0"/>
                        </a:rPr>
                        <a:t> preview your poster prior to printing</a:t>
                      </a:r>
                      <a:endParaRPr lang="en-US" sz="1600" b="1" dirty="0">
                        <a:solidFill>
                          <a:srgbClr val="FFC000"/>
                        </a:solidFill>
                        <a:latin typeface="Arial" panose="020B0604020202020204" pitchFamily="34" charset="0"/>
                        <a:cs typeface="Arial" panose="020B0604020202020204" pitchFamily="34" charset="0"/>
                      </a:endParaRPr>
                    </a:p>
                    <a:p>
                      <a:r>
                        <a:rPr lang="en-US" sz="1400" dirty="0">
                          <a:solidFill>
                            <a:srgbClr val="D9D9D9"/>
                          </a:solidFill>
                          <a:latin typeface="Arial" panose="020B0604020202020204" pitchFamily="34" charset="0"/>
                          <a:cs typeface="Arial" panose="020B0604020202020204" pitchFamily="34" charset="0"/>
                        </a:rPr>
                        <a:t>You can preview your poster at any time by pressing the </a:t>
                      </a:r>
                      <a:r>
                        <a:rPr lang="en-US" sz="1400" b="1" dirty="0">
                          <a:solidFill>
                            <a:srgbClr val="FFC000"/>
                          </a:solidFill>
                          <a:latin typeface="Arial" panose="020B0604020202020204" pitchFamily="34" charset="0"/>
                          <a:cs typeface="Arial" panose="020B0604020202020204" pitchFamily="34" charset="0"/>
                        </a:rPr>
                        <a:t>F5 key </a:t>
                      </a:r>
                      <a:r>
                        <a:rPr lang="en-US" sz="1400" dirty="0">
                          <a:solidFill>
                            <a:srgbClr val="D9D9D9"/>
                          </a:solidFill>
                          <a:latin typeface="Arial" panose="020B0604020202020204" pitchFamily="34" charset="0"/>
                          <a:cs typeface="Arial" panose="020B0604020202020204" pitchFamily="34" charset="0"/>
                        </a:rPr>
                        <a:t>on your keyboard (Windows) or by clicking on the SLIDESHOW tab. This will display your poster on the screen, showing how it will appear when printed. To exit the preview, press the </a:t>
                      </a:r>
                      <a:r>
                        <a:rPr lang="en-US" sz="1400" b="1" dirty="0">
                          <a:solidFill>
                            <a:srgbClr val="FFC000"/>
                          </a:solidFill>
                          <a:latin typeface="Arial" panose="020B0604020202020204" pitchFamily="34" charset="0"/>
                          <a:cs typeface="Arial" panose="020B0604020202020204" pitchFamily="34" charset="0"/>
                        </a:rPr>
                        <a:t>ESC</a:t>
                      </a:r>
                      <a:r>
                        <a:rPr lang="en-US" sz="1400" dirty="0">
                          <a:solidFill>
                            <a:srgbClr val="D9D9D9"/>
                          </a:solidFill>
                          <a:latin typeface="Arial" panose="020B0604020202020204" pitchFamily="34" charset="0"/>
                          <a:cs typeface="Arial" panose="020B0604020202020204" pitchFamily="34" charset="0"/>
                        </a:rPr>
                        <a:t> key.</a:t>
                      </a:r>
                    </a:p>
                  </a:txBody>
                  <a:tcPr marL="137160" marR="68580" marT="80010" marB="26670">
                    <a:solidFill>
                      <a:srgbClr val="010101"/>
                    </a:solidFill>
                  </a:tcPr>
                </a:tc>
                <a:tc gridSpan="2">
                  <a:txBody>
                    <a:bodyPr/>
                    <a:lstStyle/>
                    <a:p>
                      <a:pPr algn="ctr"/>
                      <a:r>
                        <a:rPr lang="en-US" sz="6800" b="1" dirty="0">
                          <a:solidFill>
                            <a:srgbClr val="D9D9D9"/>
                          </a:solidFill>
                          <a:latin typeface="Arial" panose="020B0604020202020204" pitchFamily="34" charset="0"/>
                          <a:cs typeface="Arial" panose="020B0604020202020204" pitchFamily="34" charset="0"/>
                        </a:rPr>
                        <a:t>F5</a:t>
                      </a:r>
                      <a:br>
                        <a:rPr lang="en-US" sz="6800" b="1" dirty="0">
                          <a:solidFill>
                            <a:srgbClr val="D9D9D9"/>
                          </a:solidFill>
                          <a:latin typeface="Arial" panose="020B0604020202020204" pitchFamily="34" charset="0"/>
                          <a:cs typeface="Arial" panose="020B0604020202020204" pitchFamily="34" charset="0"/>
                        </a:rPr>
                      </a:br>
                      <a:r>
                        <a:rPr lang="en-US" sz="1600" b="1" dirty="0">
                          <a:solidFill>
                            <a:srgbClr val="D9D9D9"/>
                          </a:solidFill>
                          <a:latin typeface="Arial" panose="020B0604020202020204" pitchFamily="34" charset="0"/>
                          <a:cs typeface="Arial" panose="020B0604020202020204" pitchFamily="34" charset="0"/>
                        </a:rPr>
                        <a:t>(Windows)</a:t>
                      </a:r>
                      <a:br>
                        <a:rPr lang="en-US" sz="1600" b="1" dirty="0">
                          <a:solidFill>
                            <a:srgbClr val="D9D9D9"/>
                          </a:solidFill>
                          <a:latin typeface="Arial" panose="020B0604020202020204" pitchFamily="34" charset="0"/>
                          <a:cs typeface="Arial" panose="020B0604020202020204" pitchFamily="34" charset="0"/>
                        </a:rPr>
                      </a:br>
                      <a:r>
                        <a:rPr lang="en-US" sz="1600" b="1" dirty="0">
                          <a:solidFill>
                            <a:srgbClr val="D9D9D9"/>
                          </a:solidFill>
                          <a:latin typeface="Arial" panose="020B0604020202020204" pitchFamily="34" charset="0"/>
                          <a:cs typeface="Arial" panose="020B0604020202020204" pitchFamily="34" charset="0"/>
                        </a:rPr>
                        <a:t>Or click on the SLIDESHOW tab (Mac and Windows)</a:t>
                      </a:r>
                      <a:endParaRPr lang="en-US" sz="1400" dirty="0">
                        <a:solidFill>
                          <a:srgbClr val="D9D9D9"/>
                        </a:solidFill>
                        <a:latin typeface="Arial" panose="020B0604020202020204" pitchFamily="34" charset="0"/>
                        <a:cs typeface="Arial" panose="020B0604020202020204" pitchFamily="34" charset="0"/>
                      </a:endParaRPr>
                    </a:p>
                  </a:txBody>
                  <a:tcPr marL="137160" marR="68580" marT="80010" marB="26670" anchor="ctr">
                    <a:solidFill>
                      <a:schemeClr val="tx1">
                        <a:lumMod val="95000"/>
                        <a:lumOff val="5000"/>
                      </a:schemeClr>
                    </a:solidFill>
                  </a:tcPr>
                </a:tc>
                <a:tc hMerge="1">
                  <a:txBody>
                    <a:bodyPr/>
                    <a:lstStyle/>
                    <a:p>
                      <a:pPr algn="ctr"/>
                      <a:r>
                        <a:rPr lang="en-US" sz="11500" b="1" dirty="0">
                          <a:solidFill>
                            <a:srgbClr val="D9D9D9"/>
                          </a:solidFill>
                          <a:latin typeface="Arial" panose="020B0604020202020204" pitchFamily="34" charset="0"/>
                          <a:cs typeface="Arial" panose="020B0604020202020204" pitchFamily="34" charset="0"/>
                        </a:rPr>
                        <a:t>F5</a:t>
                      </a:r>
                      <a:br>
                        <a:rPr lang="en-US" sz="11500" b="1" dirty="0">
                          <a:solidFill>
                            <a:srgbClr val="D9D9D9"/>
                          </a:solidFill>
                          <a:latin typeface="Arial" panose="020B0604020202020204" pitchFamily="34" charset="0"/>
                          <a:cs typeface="Arial" panose="020B0604020202020204" pitchFamily="34" charset="0"/>
                        </a:rPr>
                      </a:br>
                      <a:r>
                        <a:rPr lang="en-US" sz="2800" b="1" dirty="0">
                          <a:solidFill>
                            <a:srgbClr val="D9D9D9"/>
                          </a:solidFill>
                          <a:latin typeface="Arial" panose="020B0604020202020204" pitchFamily="34" charset="0"/>
                          <a:cs typeface="Arial" panose="020B0604020202020204" pitchFamily="34" charset="0"/>
                        </a:rPr>
                        <a:t>or click on the SLIDESHOW tab</a:t>
                      </a:r>
                      <a:r>
                        <a:rPr lang="en-US" sz="5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2755472">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Printing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To print your poster, visit </a:t>
                      </a:r>
                      <a:r>
                        <a:rPr lang="en-US" sz="1400" noProof="0" dirty="0" err="1">
                          <a:solidFill>
                            <a:srgbClr val="FFC000"/>
                          </a:solidFill>
                          <a:latin typeface="Arial"/>
                          <a:cs typeface="Arial"/>
                        </a:rPr>
                        <a:t>PosterPresentations.com</a:t>
                      </a:r>
                      <a:r>
                        <a:rPr lang="en-US" sz="1400" noProof="0" dirty="0">
                          <a:solidFill>
                            <a:srgbClr val="FFC000"/>
                          </a:solidFill>
                          <a:latin typeface="Arial"/>
                          <a:cs typeface="Arial"/>
                        </a:rPr>
                        <a:t> </a:t>
                      </a:r>
                      <a:r>
                        <a:rPr lang="en-US" sz="1400" noProof="0" dirty="0">
                          <a:solidFill>
                            <a:srgbClr val="D9D9D9"/>
                          </a:solidFill>
                          <a:latin typeface="Arial"/>
                          <a:cs typeface="Arial"/>
                        </a:rPr>
                        <a:t>and click the "</a:t>
                      </a:r>
                      <a:r>
                        <a:rPr lang="en-US" sz="1400" noProof="0" dirty="0">
                          <a:solidFill>
                            <a:srgbClr val="FFC000"/>
                          </a:solidFill>
                          <a:latin typeface="Arial"/>
                          <a:cs typeface="Arial"/>
                        </a:rPr>
                        <a:t>PRINT</a:t>
                      </a:r>
                      <a:r>
                        <a:rPr lang="en-US" sz="1400" noProof="0" dirty="0">
                          <a:solidFill>
                            <a:srgbClr val="D9D9D9"/>
                          </a:solidFill>
                          <a:latin typeface="Arial"/>
                          <a:cs typeface="Arial"/>
                        </a:rPr>
                        <a:t>" button, or choose from the available poster types. Options include professional paper, fabric for convenient travel, trifold, and other printing materials.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Orders placed and paid for by noon (Pacific Time) from Monday to Friday are typically processed the same day. Shipping options include Next Business Day, Second Business Day, Third Business Day, or Free Ground Delivery.</a:t>
                      </a:r>
                      <a:br>
                        <a:rPr lang="en-US" sz="1400" noProof="0" dirty="0">
                          <a:solidFill>
                            <a:srgbClr val="D9D9D9"/>
                          </a:solidFill>
                          <a:latin typeface="Arial"/>
                          <a:cs typeface="Arial"/>
                        </a:rPr>
                      </a:br>
                      <a:br>
                        <a:rPr lang="en-US" sz="1400" noProof="0" dirty="0">
                          <a:solidFill>
                            <a:srgbClr val="D9D9D9"/>
                          </a:solidFill>
                          <a:latin typeface="Arial"/>
                          <a:cs typeface="Arial"/>
                        </a:rPr>
                      </a:br>
                      <a:r>
                        <a:rPr lang="en-US" sz="1400" noProof="0" dirty="0">
                          <a:solidFill>
                            <a:srgbClr val="D9D9D9"/>
                          </a:solidFill>
                          <a:latin typeface="Arial"/>
                          <a:cs typeface="Arial"/>
                        </a:rPr>
                        <a:t>Go to </a:t>
                      </a:r>
                      <a:r>
                        <a:rPr lang="en-US" sz="1400" noProof="0" dirty="0" err="1">
                          <a:solidFill>
                            <a:srgbClr val="FFC000"/>
                          </a:solidFill>
                          <a:latin typeface="Arial"/>
                          <a:cs typeface="Arial"/>
                        </a:rPr>
                        <a:t>PosterPresentations.com</a:t>
                      </a:r>
                      <a:r>
                        <a:rPr lang="en-US" sz="1400" noProof="0" dirty="0">
                          <a:solidFill>
                            <a:srgbClr val="D9D9D9"/>
                          </a:solidFill>
                          <a:latin typeface="Arial"/>
                          <a:cs typeface="Arial"/>
                        </a:rPr>
                        <a:t> for more information.</a:t>
                      </a:r>
                    </a:p>
                  </a:txBody>
                  <a:tcPr marL="137160" marR="68580" marT="80010" marB="2667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6736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Group printing discounts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We provide event coordinators and conference organizers with a seamless solution for attendees’ poster printing needs. Our service offers discounted, high-quality prints with quick turnaround times and flexible options, ensuring we cater to a wide range of requirements.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For more information, visit this page: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FFC000"/>
                          </a:solidFill>
                          <a:latin typeface="Arial"/>
                          <a:cs typeface="Arial"/>
                        </a:rPr>
                        <a:t>https://</a:t>
                      </a:r>
                      <a:r>
                        <a:rPr lang="en-US" sz="1400" noProof="0" dirty="0" err="1">
                          <a:solidFill>
                            <a:srgbClr val="FFC000"/>
                          </a:solidFill>
                          <a:latin typeface="Arial"/>
                          <a:cs typeface="Arial"/>
                        </a:rPr>
                        <a:t>www.posterpresentations.com</a:t>
                      </a:r>
                      <a:r>
                        <a:rPr lang="en-US" sz="1400" noProof="0" dirty="0">
                          <a:solidFill>
                            <a:srgbClr val="FFC000"/>
                          </a:solidFill>
                          <a:latin typeface="Arial"/>
                          <a:cs typeface="Arial"/>
                        </a:rPr>
                        <a:t>/poster-presentation-services-for-conferences-and-</a:t>
                      </a:r>
                      <a:r>
                        <a:rPr lang="en-US" sz="1400" noProof="0" dirty="0" err="1">
                          <a:solidFill>
                            <a:srgbClr val="FFC000"/>
                          </a:solidFill>
                          <a:latin typeface="Arial"/>
                          <a:cs typeface="Arial"/>
                        </a:rPr>
                        <a:t>events.html</a:t>
                      </a:r>
                      <a:endParaRPr lang="en-US" sz="1400"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FFC000"/>
                        </a:solidFill>
                        <a:latin typeface="Arial"/>
                        <a:cs typeface="Arial"/>
                      </a:endParaRPr>
                    </a:p>
                  </a:txBody>
                  <a:tcPr marL="137160" marR="68580" marT="80010" marB="2667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3546655"/>
                  </a:ext>
                </a:extLst>
              </a:tr>
              <a:tr h="937191">
                <a:tc gridSpan="3">
                  <a:txBody>
                    <a:bodyPr/>
                    <a:lstStyle/>
                    <a:p>
                      <a:endParaRPr lang="en-US" sz="1400" dirty="0">
                        <a:solidFill>
                          <a:srgbClr val="1F3A4E"/>
                        </a:solidFill>
                      </a:endParaRPr>
                    </a:p>
                  </a:txBody>
                  <a:tcPr marL="137160" marR="68580" marT="80010" marB="26670">
                    <a:blipFill dpi="0" rotWithShape="1">
                      <a:blip r:embed="rId10"/>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463346">
                <a:tc gridSpan="2">
                  <a:txBody>
                    <a:bodyPr/>
                    <a:lstStyle/>
                    <a:p>
                      <a:pPr>
                        <a:lnSpc>
                          <a:spcPts val="2600"/>
                        </a:lnSpc>
                      </a:pPr>
                      <a:r>
                        <a:rPr lang="en-US" sz="1200" dirty="0">
                          <a:solidFill>
                            <a:schemeClr val="bg1">
                              <a:lumMod val="85000"/>
                            </a:schemeClr>
                          </a:solidFill>
                          <a:latin typeface="Arial"/>
                          <a:cs typeface="Arial"/>
                        </a:rPr>
                        <a:t>© 2025</a:t>
                      </a:r>
                      <a:r>
                        <a:rPr lang="en-US" sz="1200" baseline="0" dirty="0">
                          <a:solidFill>
                            <a:schemeClr val="bg1">
                              <a:lumMod val="85000"/>
                            </a:schemeClr>
                          </a:solidFill>
                          <a:latin typeface="Arial"/>
                          <a:cs typeface="Arial"/>
                        </a:rPr>
                        <a:t> </a:t>
                      </a:r>
                      <a:r>
                        <a:rPr lang="en-US" sz="1200" dirty="0" err="1">
                          <a:solidFill>
                            <a:schemeClr val="bg1">
                              <a:lumMod val="85000"/>
                            </a:schemeClr>
                          </a:solidFill>
                          <a:latin typeface="Arial"/>
                          <a:cs typeface="Arial"/>
                        </a:rPr>
                        <a:t>PosterPresentations.com</a:t>
                      </a:r>
                      <a:br>
                        <a:rPr lang="en-US" sz="1200" dirty="0">
                          <a:solidFill>
                            <a:schemeClr val="bg1">
                              <a:lumMod val="85000"/>
                            </a:schemeClr>
                          </a:solidFill>
                          <a:latin typeface="Arial"/>
                          <a:cs typeface="Arial"/>
                        </a:rPr>
                      </a:br>
                      <a:r>
                        <a:rPr lang="en-US" sz="1200" dirty="0">
                          <a:solidFill>
                            <a:schemeClr val="bg1">
                              <a:lumMod val="85000"/>
                            </a:schemeClr>
                          </a:solidFill>
                          <a:latin typeface="Arial"/>
                          <a:cs typeface="Arial"/>
                        </a:rPr>
                        <a:t>2117 Fourth Street ,</a:t>
                      </a:r>
                      <a:r>
                        <a:rPr lang="en-US" sz="1200" baseline="0" dirty="0">
                          <a:solidFill>
                            <a:schemeClr val="bg1">
                              <a:lumMod val="85000"/>
                            </a:schemeClr>
                          </a:solidFill>
                          <a:latin typeface="Arial"/>
                          <a:cs typeface="Arial"/>
                        </a:rPr>
                        <a:t> STE C        </a:t>
                      </a:r>
                    </a:p>
                    <a:p>
                      <a:pPr>
                        <a:lnSpc>
                          <a:spcPts val="2600"/>
                        </a:lnSpc>
                      </a:pPr>
                      <a:r>
                        <a:rPr lang="en-US" sz="1200" baseline="0" dirty="0">
                          <a:solidFill>
                            <a:schemeClr val="bg1">
                              <a:lumMod val="85000"/>
                            </a:schemeClr>
                          </a:solidFill>
                          <a:latin typeface="Arial"/>
                          <a:cs typeface="Arial"/>
                        </a:rPr>
                        <a:t>Berkeley CA 94710 USA</a:t>
                      </a:r>
                      <a:endParaRPr lang="en-US" sz="1200" dirty="0">
                        <a:solidFill>
                          <a:schemeClr val="bg1">
                            <a:lumMod val="85000"/>
                          </a:schemeClr>
                        </a:solidFill>
                        <a:latin typeface="Arial"/>
                        <a:cs typeface="Arial"/>
                      </a:endParaRPr>
                    </a:p>
                  </a:txBody>
                  <a:tcPr marL="137160" marR="68580" marT="80010" marB="26670">
                    <a:solidFill>
                      <a:srgbClr val="010101"/>
                    </a:solidFill>
                  </a:tcPr>
                </a:tc>
                <a:tc hMerge="1">
                  <a:txBody>
                    <a:bodyPr/>
                    <a:lstStyle/>
                    <a:p>
                      <a:pPr>
                        <a:lnSpc>
                          <a:spcPts val="2600"/>
                        </a:lnSpc>
                      </a:pPr>
                      <a:endParaRPr lang="en-US" sz="2000" dirty="0">
                        <a:solidFill>
                          <a:schemeClr val="bg1">
                            <a:lumMod val="85000"/>
                          </a:schemeClr>
                        </a:solidFill>
                        <a:latin typeface="Arial"/>
                        <a:cs typeface="Arial"/>
                      </a:endParaRPr>
                    </a:p>
                  </a:txBody>
                  <a:tcPr marL="182880" marT="137160">
                    <a:solidFill>
                      <a:srgbClr val="010101"/>
                    </a:solidFill>
                  </a:tcPr>
                </a:tc>
                <a:tc>
                  <a:txBody>
                    <a:bodyPr/>
                    <a:lstStyle/>
                    <a:p>
                      <a:r>
                        <a:rPr lang="en-US" sz="1100" dirty="0">
                          <a:solidFill>
                            <a:schemeClr val="bg1"/>
                          </a:solidFill>
                          <a:latin typeface="Arial"/>
                          <a:cs typeface="Arial"/>
                        </a:rPr>
                        <a:t>For additional help, visit our online tutorials at </a:t>
                      </a:r>
                      <a:r>
                        <a:rPr lang="en-US" sz="800" dirty="0">
                          <a:solidFill>
                            <a:schemeClr val="bg1"/>
                          </a:solidFill>
                          <a:latin typeface="Arial"/>
                          <a:cs typeface="Arial"/>
                        </a:rPr>
                        <a:t>https://</a:t>
                      </a:r>
                      <a:r>
                        <a:rPr lang="en-US" sz="800" dirty="0" err="1">
                          <a:solidFill>
                            <a:schemeClr val="bg1"/>
                          </a:solidFill>
                          <a:latin typeface="Arial"/>
                          <a:cs typeface="Arial"/>
                        </a:rPr>
                        <a:t>www.posterpresentations.com</a:t>
                      </a:r>
                      <a:r>
                        <a:rPr lang="en-US" sz="800" dirty="0">
                          <a:solidFill>
                            <a:schemeClr val="bg1"/>
                          </a:solidFill>
                          <a:latin typeface="Arial"/>
                          <a:cs typeface="Arial"/>
                        </a:rPr>
                        <a:t>/</a:t>
                      </a:r>
                      <a:r>
                        <a:rPr lang="en-US" sz="800" dirty="0" err="1">
                          <a:solidFill>
                            <a:schemeClr val="bg1"/>
                          </a:solidFill>
                          <a:latin typeface="Arial"/>
                          <a:cs typeface="Arial"/>
                        </a:rPr>
                        <a:t>helpdesk.html</a:t>
                      </a:r>
                      <a:endParaRPr lang="en-US" sz="5800" dirty="0"/>
                    </a:p>
                  </a:txBody>
                  <a:tcPr marL="137160" marR="68580" marT="80010" marB="26670">
                    <a:solidFill>
                      <a:srgbClr val="01010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163100274"/>
      </p:ext>
    </p:extLst>
  </p:cSld>
  <p:clrMap bg1="lt1" tx1="dk1" bg2="lt2" tx2="dk2" accent1="accent1" accent2="accent2" accent3="accent3" accent4="accent4" accent5="accent5" accent6="accent6" hlink="hlink" folHlink="folHlink"/>
  <p:sldLayoutIdLst>
    <p:sldLayoutId id="2147483656" r:id="rId1"/>
  </p:sldLayoutIdLst>
  <p:txStyles>
    <p:titleStyle>
      <a:lvl1pPr algn="ctr" defTabSz="3840404" rtl="0" eaLnBrk="1" latinLnBrk="0" hangingPunct="1">
        <a:spcBef>
          <a:spcPct val="0"/>
        </a:spcBef>
        <a:buNone/>
        <a:defRPr sz="7702" kern="1200">
          <a:solidFill>
            <a:schemeClr val="bg1"/>
          </a:solidFill>
          <a:latin typeface="Trebuchet MS" pitchFamily="34" charset="0"/>
          <a:ea typeface="+mj-ea"/>
          <a:cs typeface="+mj-cs"/>
        </a:defRPr>
      </a:lvl1pPr>
    </p:titleStyle>
    <p:bodyStyle>
      <a:lvl1pPr marL="1440152" indent="-1440152" algn="l" defTabSz="3840404" rtl="0" eaLnBrk="1" latinLnBrk="0" hangingPunct="1">
        <a:spcBef>
          <a:spcPct val="20000"/>
        </a:spcBef>
        <a:buFont typeface="Arial" pitchFamily="34" charset="0"/>
        <a:buChar char="•"/>
        <a:defRPr sz="13475" kern="1200">
          <a:solidFill>
            <a:schemeClr val="tx1"/>
          </a:solidFill>
          <a:latin typeface="+mn-lt"/>
          <a:ea typeface="+mn-ea"/>
          <a:cs typeface="+mn-cs"/>
        </a:defRPr>
      </a:lvl1pPr>
      <a:lvl2pPr marL="3120329" indent="-1200127" algn="l" defTabSz="3840404" rtl="0" eaLnBrk="1" latinLnBrk="0" hangingPunct="1">
        <a:spcBef>
          <a:spcPct val="20000"/>
        </a:spcBef>
        <a:buFont typeface="Arial" pitchFamily="34" charset="0"/>
        <a:buChar char="–"/>
        <a:defRPr sz="11812" kern="1200">
          <a:solidFill>
            <a:schemeClr val="tx1"/>
          </a:solidFill>
          <a:latin typeface="+mn-lt"/>
          <a:ea typeface="+mn-ea"/>
          <a:cs typeface="+mn-cs"/>
        </a:defRPr>
      </a:lvl2pPr>
      <a:lvl3pPr marL="4800508" indent="-960103" algn="l" defTabSz="3840404" rtl="0" eaLnBrk="1" latinLnBrk="0" hangingPunct="1">
        <a:spcBef>
          <a:spcPct val="20000"/>
        </a:spcBef>
        <a:buFont typeface="Arial" pitchFamily="34" charset="0"/>
        <a:buChar char="•"/>
        <a:defRPr sz="10151" kern="1200">
          <a:solidFill>
            <a:schemeClr val="tx1"/>
          </a:solidFill>
          <a:latin typeface="+mn-lt"/>
          <a:ea typeface="+mn-ea"/>
          <a:cs typeface="+mn-cs"/>
        </a:defRPr>
      </a:lvl3pPr>
      <a:lvl4pPr marL="6720710"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4pPr>
      <a:lvl5pPr marL="8640912"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5pPr>
      <a:lvl6pPr marL="10561115"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1314"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1518"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1721"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9pPr>
    </p:bodyStyle>
    <p:otherStyle>
      <a:defPPr>
        <a:defRPr lang="en-US"/>
      </a:defPPr>
      <a:lvl1pPr marL="0" algn="l" defTabSz="3840404" rtl="0" eaLnBrk="1" latinLnBrk="0" hangingPunct="1">
        <a:defRPr sz="7525" kern="1200">
          <a:solidFill>
            <a:schemeClr val="tx1"/>
          </a:solidFill>
          <a:latin typeface="+mn-lt"/>
          <a:ea typeface="+mn-ea"/>
          <a:cs typeface="+mn-cs"/>
        </a:defRPr>
      </a:lvl1pPr>
      <a:lvl2pPr marL="1920203" algn="l" defTabSz="3840404" rtl="0" eaLnBrk="1" latinLnBrk="0" hangingPunct="1">
        <a:defRPr sz="7525" kern="1200">
          <a:solidFill>
            <a:schemeClr val="tx1"/>
          </a:solidFill>
          <a:latin typeface="+mn-lt"/>
          <a:ea typeface="+mn-ea"/>
          <a:cs typeface="+mn-cs"/>
        </a:defRPr>
      </a:lvl2pPr>
      <a:lvl3pPr marL="3840404" algn="l" defTabSz="3840404" rtl="0" eaLnBrk="1" latinLnBrk="0" hangingPunct="1">
        <a:defRPr sz="7525" kern="1200">
          <a:solidFill>
            <a:schemeClr val="tx1"/>
          </a:solidFill>
          <a:latin typeface="+mn-lt"/>
          <a:ea typeface="+mn-ea"/>
          <a:cs typeface="+mn-cs"/>
        </a:defRPr>
      </a:lvl3pPr>
      <a:lvl4pPr marL="5760607" algn="l" defTabSz="3840404" rtl="0" eaLnBrk="1" latinLnBrk="0" hangingPunct="1">
        <a:defRPr sz="7525" kern="1200">
          <a:solidFill>
            <a:schemeClr val="tx1"/>
          </a:solidFill>
          <a:latin typeface="+mn-lt"/>
          <a:ea typeface="+mn-ea"/>
          <a:cs typeface="+mn-cs"/>
        </a:defRPr>
      </a:lvl4pPr>
      <a:lvl5pPr marL="7680810" algn="l" defTabSz="3840404" rtl="0" eaLnBrk="1" latinLnBrk="0" hangingPunct="1">
        <a:defRPr sz="7525" kern="1200">
          <a:solidFill>
            <a:schemeClr val="tx1"/>
          </a:solidFill>
          <a:latin typeface="+mn-lt"/>
          <a:ea typeface="+mn-ea"/>
          <a:cs typeface="+mn-cs"/>
        </a:defRPr>
      </a:lvl5pPr>
      <a:lvl6pPr marL="9601013" algn="l" defTabSz="3840404" rtl="0" eaLnBrk="1" latinLnBrk="0" hangingPunct="1">
        <a:defRPr sz="7525" kern="1200">
          <a:solidFill>
            <a:schemeClr val="tx1"/>
          </a:solidFill>
          <a:latin typeface="+mn-lt"/>
          <a:ea typeface="+mn-ea"/>
          <a:cs typeface="+mn-cs"/>
        </a:defRPr>
      </a:lvl6pPr>
      <a:lvl7pPr marL="11521216" algn="l" defTabSz="3840404" rtl="0" eaLnBrk="1" latinLnBrk="0" hangingPunct="1">
        <a:defRPr sz="7525" kern="1200">
          <a:solidFill>
            <a:schemeClr val="tx1"/>
          </a:solidFill>
          <a:latin typeface="+mn-lt"/>
          <a:ea typeface="+mn-ea"/>
          <a:cs typeface="+mn-cs"/>
        </a:defRPr>
      </a:lvl7pPr>
      <a:lvl8pPr marL="13441417" algn="l" defTabSz="3840404" rtl="0" eaLnBrk="1" latinLnBrk="0" hangingPunct="1">
        <a:defRPr sz="7525" kern="1200">
          <a:solidFill>
            <a:schemeClr val="tx1"/>
          </a:solidFill>
          <a:latin typeface="+mn-lt"/>
          <a:ea typeface="+mn-ea"/>
          <a:cs typeface="+mn-cs"/>
        </a:defRPr>
      </a:lvl8pPr>
      <a:lvl9pPr marL="15361621" algn="l" defTabSz="3840404" rtl="0" eaLnBrk="1" latinLnBrk="0" hangingPunct="1">
        <a:defRPr sz="752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6" userDrawn="1">
          <p15:clr>
            <a:srgbClr val="F26B43"/>
          </p15:clr>
        </p15:guide>
        <p15:guide id="2" userDrawn="1">
          <p15:clr>
            <a:srgbClr val="F26B43"/>
          </p15:clr>
        </p15:guide>
        <p15:guide id="3" pos="20736" userDrawn="1">
          <p15:clr>
            <a:srgbClr val="F26B43"/>
          </p15:clr>
        </p15:guide>
        <p15:guide id="4" orient="horz" pos="1178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48EB6F-BBB5-57EC-F651-041E1003E918}"/>
              </a:ext>
            </a:extLst>
          </p:cNvPr>
          <p:cNvSpPr/>
          <p:nvPr userDrawn="1"/>
        </p:nvSpPr>
        <p:spPr>
          <a:xfrm rot="10800000">
            <a:off x="-22665" y="18726151"/>
            <a:ext cx="32941067" cy="518204"/>
          </a:xfrm>
          <a:prstGeom prst="rect">
            <a:avLst/>
          </a:prstGeom>
          <a:gradFill>
            <a:gsLst>
              <a:gs pos="0">
                <a:srgbClr val="EC018C"/>
              </a:gs>
              <a:gs pos="100000">
                <a:srgbClr val="F8973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p>
        </p:txBody>
      </p:sp>
      <p:sp>
        <p:nvSpPr>
          <p:cNvPr id="10" name="Text Box 14"/>
          <p:cNvSpPr txBox="1">
            <a:spLocks noChangeArrowheads="1"/>
          </p:cNvSpPr>
          <p:nvPr/>
        </p:nvSpPr>
        <p:spPr bwMode="auto">
          <a:xfrm>
            <a:off x="1175480" y="18894699"/>
            <a:ext cx="1885950" cy="395518"/>
          </a:xfrm>
          <a:prstGeom prst="rect">
            <a:avLst/>
          </a:prstGeom>
          <a:noFill/>
          <a:ln w="9525">
            <a:noFill/>
            <a:miter lim="800000"/>
            <a:headEnd/>
            <a:tailEnd/>
          </a:ln>
          <a:effectLst/>
        </p:spPr>
        <p:txBody>
          <a:bodyPr lIns="79856" tIns="39922" rIns="79856" bIns="39922">
            <a:spAutoFit/>
          </a:bodyPr>
          <a:lstStyle/>
          <a:p>
            <a:pPr eaLnBrk="0" hangingPunct="0">
              <a:lnSpc>
                <a:spcPct val="65000"/>
              </a:lnSpc>
              <a:spcBef>
                <a:spcPct val="50000"/>
              </a:spcBef>
              <a:defRPr/>
            </a:pPr>
            <a:r>
              <a:rPr lang="en-US" sz="438" b="1" dirty="0">
                <a:solidFill>
                  <a:schemeClr val="bg1">
                    <a:lumMod val="75000"/>
                  </a:schemeClr>
                </a:solidFill>
                <a:latin typeface="Arial" charset="0"/>
              </a:rPr>
              <a:t>RESEARCH POSTER PRESENTATION DESIGN © 2025</a:t>
            </a:r>
          </a:p>
          <a:p>
            <a:pPr eaLnBrk="0" hangingPunct="0">
              <a:lnSpc>
                <a:spcPct val="65000"/>
              </a:lnSpc>
              <a:spcBef>
                <a:spcPct val="50000"/>
              </a:spcBef>
              <a:defRPr/>
            </a:pPr>
            <a:r>
              <a:rPr lang="en-US" sz="964" b="1" dirty="0">
                <a:solidFill>
                  <a:schemeClr val="bg1">
                    <a:lumMod val="75000"/>
                  </a:schemeClr>
                </a:solidFill>
                <a:latin typeface="Arial" charset="0"/>
              </a:rPr>
              <a:t>www.PosterPresentations.com</a:t>
            </a:r>
          </a:p>
        </p:txBody>
      </p:sp>
      <p:sp>
        <p:nvSpPr>
          <p:cNvPr id="2" name="Rectangle 1">
            <a:extLst>
              <a:ext uri="{FF2B5EF4-FFF2-40B4-BE49-F238E27FC236}">
                <a16:creationId xmlns:a16="http://schemas.microsoft.com/office/drawing/2014/main" id="{B95ADCDC-56BB-267A-F385-295ACAB6EA06}"/>
              </a:ext>
            </a:extLst>
          </p:cNvPr>
          <p:cNvSpPr/>
          <p:nvPr userDrawn="1"/>
        </p:nvSpPr>
        <p:spPr>
          <a:xfrm>
            <a:off x="0" y="8225"/>
            <a:ext cx="32918400" cy="2868327"/>
          </a:xfrm>
          <a:prstGeom prst="rect">
            <a:avLst/>
          </a:prstGeom>
          <a:gradFill>
            <a:gsLst>
              <a:gs pos="0">
                <a:srgbClr val="EC018C"/>
              </a:gs>
              <a:gs pos="100000">
                <a:srgbClr val="F8973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p>
        </p:txBody>
      </p:sp>
      <p:sp>
        <p:nvSpPr>
          <p:cNvPr id="6" name="Rectangle 5">
            <a:extLst>
              <a:ext uri="{FF2B5EF4-FFF2-40B4-BE49-F238E27FC236}">
                <a16:creationId xmlns:a16="http://schemas.microsoft.com/office/drawing/2014/main" id="{EE7A87B8-B8C5-D3A0-72FE-28C783F3B7A8}"/>
              </a:ext>
            </a:extLst>
          </p:cNvPr>
          <p:cNvSpPr/>
          <p:nvPr userDrawn="1"/>
        </p:nvSpPr>
        <p:spPr>
          <a:xfrm>
            <a:off x="26942144" y="8225"/>
            <a:ext cx="5976257" cy="2868327"/>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8343" h="4917131">
                <a:moveTo>
                  <a:pt x="5943600" y="0"/>
                </a:moveTo>
                <a:lnTo>
                  <a:pt x="7968343" y="0"/>
                </a:lnTo>
                <a:lnTo>
                  <a:pt x="7968343" y="4917131"/>
                </a:lnTo>
                <a:lnTo>
                  <a:pt x="0" y="4917131"/>
                </a:lnTo>
                <a:lnTo>
                  <a:pt x="5943600" y="0"/>
                </a:lnTo>
                <a:close/>
              </a:path>
            </a:pathLst>
          </a:custGeom>
          <a:gradFill>
            <a:gsLst>
              <a:gs pos="2000">
                <a:srgbClr val="EB5D38"/>
              </a:gs>
              <a:gs pos="99000">
                <a:srgbClr val="FC6433"/>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ln>
                <a:noFill/>
              </a:ln>
            </a:endParaRPr>
          </a:p>
        </p:txBody>
      </p:sp>
      <p:sp>
        <p:nvSpPr>
          <p:cNvPr id="8" name="Rectangle 5">
            <a:extLst>
              <a:ext uri="{FF2B5EF4-FFF2-40B4-BE49-F238E27FC236}">
                <a16:creationId xmlns:a16="http://schemas.microsoft.com/office/drawing/2014/main" id="{F3F024EB-F7FE-309C-930F-42451D29C2E6}"/>
              </a:ext>
            </a:extLst>
          </p:cNvPr>
          <p:cNvSpPr/>
          <p:nvPr userDrawn="1"/>
        </p:nvSpPr>
        <p:spPr>
          <a:xfrm>
            <a:off x="31179410" y="808325"/>
            <a:ext cx="1738993" cy="2068227"/>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 name="connsiteX0" fmla="*/ 0 w 7968343"/>
              <a:gd name="connsiteY0" fmla="*/ 4917131 h 4917131"/>
              <a:gd name="connsiteX1" fmla="*/ 7968343 w 7968343"/>
              <a:gd name="connsiteY1" fmla="*/ 0 h 4917131"/>
              <a:gd name="connsiteX2" fmla="*/ 7968343 w 7968343"/>
              <a:gd name="connsiteY2" fmla="*/ 4917131 h 4917131"/>
              <a:gd name="connsiteX3" fmla="*/ 0 w 7968343"/>
              <a:gd name="connsiteY3" fmla="*/ 4917131 h 4917131"/>
              <a:gd name="connsiteX0" fmla="*/ 0 w 7968343"/>
              <a:gd name="connsiteY0" fmla="*/ 3512874 h 3512874"/>
              <a:gd name="connsiteX1" fmla="*/ 7968343 w 7968343"/>
              <a:gd name="connsiteY1" fmla="*/ 0 h 3512874"/>
              <a:gd name="connsiteX2" fmla="*/ 7968343 w 7968343"/>
              <a:gd name="connsiteY2" fmla="*/ 3512874 h 3512874"/>
              <a:gd name="connsiteX3" fmla="*/ 0 w 7968343"/>
              <a:gd name="connsiteY3" fmla="*/ 3512874 h 3512874"/>
              <a:gd name="connsiteX0" fmla="*/ 0 w 2253343"/>
              <a:gd name="connsiteY0" fmla="*/ 3545531 h 3545531"/>
              <a:gd name="connsiteX1" fmla="*/ 2253343 w 2253343"/>
              <a:gd name="connsiteY1" fmla="*/ 0 h 3545531"/>
              <a:gd name="connsiteX2" fmla="*/ 2253343 w 2253343"/>
              <a:gd name="connsiteY2" fmla="*/ 3512874 h 3545531"/>
              <a:gd name="connsiteX3" fmla="*/ 0 w 2253343"/>
              <a:gd name="connsiteY3" fmla="*/ 3545531 h 3545531"/>
              <a:gd name="connsiteX0" fmla="*/ 0 w 3135086"/>
              <a:gd name="connsiteY0" fmla="*/ 3545531 h 3545531"/>
              <a:gd name="connsiteX1" fmla="*/ 3135086 w 3135086"/>
              <a:gd name="connsiteY1" fmla="*/ 0 h 3545531"/>
              <a:gd name="connsiteX2" fmla="*/ 3135086 w 3135086"/>
              <a:gd name="connsiteY2" fmla="*/ 3512874 h 3545531"/>
              <a:gd name="connsiteX3" fmla="*/ 0 w 3135086"/>
              <a:gd name="connsiteY3" fmla="*/ 3545531 h 3545531"/>
              <a:gd name="connsiteX0" fmla="*/ 0 w 2318657"/>
              <a:gd name="connsiteY0" fmla="*/ 3545531 h 3545531"/>
              <a:gd name="connsiteX1" fmla="*/ 2318657 w 2318657"/>
              <a:gd name="connsiteY1" fmla="*/ 0 h 3545531"/>
              <a:gd name="connsiteX2" fmla="*/ 2318657 w 2318657"/>
              <a:gd name="connsiteY2" fmla="*/ 3512874 h 3545531"/>
              <a:gd name="connsiteX3" fmla="*/ 0 w 2318657"/>
              <a:gd name="connsiteY3" fmla="*/ 3545531 h 3545531"/>
            </a:gdLst>
            <a:ahLst/>
            <a:cxnLst>
              <a:cxn ang="0">
                <a:pos x="connsiteX0" y="connsiteY0"/>
              </a:cxn>
              <a:cxn ang="0">
                <a:pos x="connsiteX1" y="connsiteY1"/>
              </a:cxn>
              <a:cxn ang="0">
                <a:pos x="connsiteX2" y="connsiteY2"/>
              </a:cxn>
              <a:cxn ang="0">
                <a:pos x="connsiteX3" y="connsiteY3"/>
              </a:cxn>
            </a:cxnLst>
            <a:rect l="l" t="t" r="r" b="b"/>
            <a:pathLst>
              <a:path w="2318657" h="3545531">
                <a:moveTo>
                  <a:pt x="0" y="3545531"/>
                </a:moveTo>
                <a:lnTo>
                  <a:pt x="2318657" y="0"/>
                </a:lnTo>
                <a:lnTo>
                  <a:pt x="2318657" y="3512874"/>
                </a:lnTo>
                <a:lnTo>
                  <a:pt x="0" y="3545531"/>
                </a:lnTo>
                <a:close/>
              </a:path>
            </a:pathLst>
          </a:custGeom>
          <a:solidFill>
            <a:srgbClr val="EF31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ln>
                <a:noFill/>
              </a:ln>
            </a:endParaRPr>
          </a:p>
        </p:txBody>
      </p:sp>
      <p:cxnSp>
        <p:nvCxnSpPr>
          <p:cNvPr id="7" name="Straight Connector 6">
            <a:extLst>
              <a:ext uri="{FF2B5EF4-FFF2-40B4-BE49-F238E27FC236}">
                <a16:creationId xmlns:a16="http://schemas.microsoft.com/office/drawing/2014/main" id="{D5547EFD-AF3C-5C77-4F75-BF235114F8F1}"/>
              </a:ext>
            </a:extLst>
          </p:cNvPr>
          <p:cNvCxnSpPr>
            <a:cxnSpLocks/>
          </p:cNvCxnSpPr>
          <p:nvPr userDrawn="1"/>
        </p:nvCxnSpPr>
        <p:spPr>
          <a:xfrm flipV="1">
            <a:off x="11083015" y="3236771"/>
            <a:ext cx="0" cy="15091958"/>
          </a:xfrm>
          <a:prstGeom prst="line">
            <a:avLst/>
          </a:prstGeom>
          <a:ln w="38100">
            <a:solidFill>
              <a:srgbClr val="F03987"/>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4EC6B0C-7925-8926-B0A8-B3C13B336B7B}"/>
              </a:ext>
            </a:extLst>
          </p:cNvPr>
          <p:cNvCxnSpPr>
            <a:cxnSpLocks/>
          </p:cNvCxnSpPr>
          <p:nvPr userDrawn="1"/>
        </p:nvCxnSpPr>
        <p:spPr>
          <a:xfrm flipV="1">
            <a:off x="21863959" y="3222625"/>
            <a:ext cx="0" cy="15091958"/>
          </a:xfrm>
          <a:prstGeom prst="line">
            <a:avLst/>
          </a:prstGeom>
          <a:ln w="38100">
            <a:solidFill>
              <a:srgbClr val="F03987"/>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able 8">
            <a:extLst>
              <a:ext uri="{FF2B5EF4-FFF2-40B4-BE49-F238E27FC236}">
                <a16:creationId xmlns:a16="http://schemas.microsoft.com/office/drawing/2014/main" id="{1D532159-8769-C1C0-9A00-21245E1025AB}"/>
              </a:ext>
            </a:extLst>
          </p:cNvPr>
          <p:cNvGraphicFramePr>
            <a:graphicFrameLocks noGrp="1"/>
          </p:cNvGraphicFramePr>
          <p:nvPr userDrawn="1">
            <p:extLst>
              <p:ext uri="{D42A27DB-BD31-4B8C-83A1-F6EECF244321}">
                <p14:modId xmlns:p14="http://schemas.microsoft.com/office/powerpoint/2010/main" val="4206352149"/>
              </p:ext>
            </p:extLst>
          </p:nvPr>
        </p:nvGraphicFramePr>
        <p:xfrm>
          <a:off x="-6787479" y="29688"/>
          <a:ext cx="5976258" cy="19172713"/>
        </p:xfrm>
        <a:graphic>
          <a:graphicData uri="http://schemas.openxmlformats.org/drawingml/2006/table">
            <a:tbl>
              <a:tblPr firstRow="1" bandRow="1">
                <a:tableStyleId>{5C22544A-7EE6-4342-B048-85BDC9FD1C3A}</a:tableStyleId>
              </a:tblPr>
              <a:tblGrid>
                <a:gridCol w="2562572">
                  <a:extLst>
                    <a:ext uri="{9D8B030D-6E8A-4147-A177-3AD203B41FA5}">
                      <a16:colId xmlns:a16="http://schemas.microsoft.com/office/drawing/2014/main" val="20000"/>
                    </a:ext>
                  </a:extLst>
                </a:gridCol>
                <a:gridCol w="3413686">
                  <a:extLst>
                    <a:ext uri="{9D8B030D-6E8A-4147-A177-3AD203B41FA5}">
                      <a16:colId xmlns:a16="http://schemas.microsoft.com/office/drawing/2014/main" val="20001"/>
                    </a:ext>
                  </a:extLst>
                </a:gridCol>
              </a:tblGrid>
              <a:tr h="712046">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APPEAR ON THE POSTER)</a:t>
                      </a:r>
                      <a:endParaRPr lang="en-US" sz="2100" b="1" spc="600" dirty="0">
                        <a:solidFill>
                          <a:schemeClr val="bg1"/>
                        </a:solidFill>
                        <a:latin typeface="Trebuchet MS" pitchFamily="34" charset="0"/>
                      </a:endParaRPr>
                    </a:p>
                  </a:txBody>
                  <a:tcPr marL="137160" marR="68580" marT="80010" marB="2667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277202">
                <a:tc gridSpan="2">
                  <a:txBody>
                    <a:bodyPr/>
                    <a:lstStyle/>
                    <a:p>
                      <a:pPr defTabSz="3765639"/>
                      <a:r>
                        <a:rPr lang="en-US" sz="1200" b="0" i="0" dirty="0">
                          <a:solidFill>
                            <a:srgbClr val="D9D9D9"/>
                          </a:solidFill>
                          <a:latin typeface="Arial"/>
                          <a:cs typeface="Arial"/>
                        </a:rPr>
                        <a:t>This PowerPoint template is designed to create a </a:t>
                      </a:r>
                      <a:r>
                        <a:rPr lang="en-US" sz="1200" b="1" i="0" dirty="0">
                          <a:solidFill>
                            <a:srgbClr val="FFC000"/>
                          </a:solidFill>
                          <a:latin typeface="Arial"/>
                          <a:cs typeface="Arial"/>
                        </a:rPr>
                        <a:t>36"x48" </a:t>
                      </a:r>
                      <a:r>
                        <a:rPr lang="en-US" sz="1200" b="0" i="0" dirty="0">
                          <a:solidFill>
                            <a:srgbClr val="D9D9D9"/>
                          </a:solidFill>
                          <a:latin typeface="Arial"/>
                          <a:cs typeface="Arial"/>
                        </a:rPr>
                        <a:t>research poster. Simply add your title, subtitle, text, tables, charts, and photos to customize your poster.</a:t>
                      </a:r>
                    </a:p>
                    <a:p>
                      <a:pPr defTabSz="3765639"/>
                      <a:endParaRPr lang="en-US" sz="1200" b="0" i="0" dirty="0">
                        <a:solidFill>
                          <a:srgbClr val="D9D9D9"/>
                        </a:solidFill>
                        <a:latin typeface="Arial"/>
                        <a:cs typeface="Arial"/>
                      </a:endParaRPr>
                    </a:p>
                    <a:p>
                      <a:pPr defTabSz="3765639"/>
                      <a:r>
                        <a:rPr lang="en-US" sz="1200" b="0" i="0" dirty="0">
                          <a:solidFill>
                            <a:srgbClr val="D9D9D9"/>
                          </a:solidFill>
                          <a:latin typeface="Arial"/>
                          <a:cs typeface="Arial"/>
                        </a:rPr>
                        <a:t>To assist you in the design process and address any poster-related questions, we offer a series of online tutorials. Visit </a:t>
                      </a:r>
                      <a:r>
                        <a:rPr lang="en-US" sz="1200" b="1" i="0" dirty="0" err="1">
                          <a:solidFill>
                            <a:srgbClr val="FFC000"/>
                          </a:solidFill>
                          <a:latin typeface="Arial"/>
                          <a:cs typeface="Arial"/>
                        </a:rPr>
                        <a:t>PosterPresentations.com</a:t>
                      </a:r>
                      <a:r>
                        <a:rPr lang="en-US" sz="1200" b="1" i="0" dirty="0">
                          <a:solidFill>
                            <a:srgbClr val="FFC000"/>
                          </a:solidFill>
                          <a:latin typeface="Arial"/>
                          <a:cs typeface="Arial"/>
                        </a:rPr>
                        <a:t> </a:t>
                      </a:r>
                      <a:r>
                        <a:rPr lang="en-US" sz="1200" b="0" i="0" dirty="0">
                          <a:solidFill>
                            <a:srgbClr val="D9D9D9"/>
                          </a:solidFill>
                          <a:latin typeface="Arial"/>
                          <a:cs typeface="Arial"/>
                        </a:rPr>
                        <a:t>and select the </a:t>
                      </a:r>
                      <a:r>
                        <a:rPr lang="en-US" sz="1200" b="1" i="0" dirty="0">
                          <a:solidFill>
                            <a:srgbClr val="FFC000"/>
                          </a:solidFill>
                          <a:latin typeface="Arial"/>
                          <a:cs typeface="Arial"/>
                        </a:rPr>
                        <a:t>Tutorials </a:t>
                      </a:r>
                      <a:r>
                        <a:rPr lang="en-US" sz="1200" b="0" i="0" dirty="0">
                          <a:solidFill>
                            <a:srgbClr val="D9D9D9"/>
                          </a:solidFill>
                          <a:latin typeface="Arial"/>
                          <a:cs typeface="Arial"/>
                        </a:rPr>
                        <a:t>tab for detailed guidance.</a:t>
                      </a:r>
                    </a:p>
                    <a:p>
                      <a:pPr defTabSz="3765639"/>
                      <a:endParaRPr lang="en-US" sz="1200" b="0" i="0" dirty="0">
                        <a:solidFill>
                          <a:srgbClr val="D9D9D9"/>
                        </a:solidFill>
                        <a:latin typeface="Arial"/>
                        <a:cs typeface="Arial"/>
                      </a:endParaRPr>
                    </a:p>
                    <a:p>
                      <a:pPr defTabSz="3765639"/>
                      <a:r>
                        <a:rPr lang="en-US" sz="1200" b="0" i="0" dirty="0">
                          <a:solidFill>
                            <a:srgbClr val="D9D9D9"/>
                          </a:solidFill>
                          <a:latin typeface="Arial"/>
                          <a:cs typeface="Arial"/>
                        </a:rPr>
                        <a:t>For same-day professional printing of your poster, go to </a:t>
                      </a:r>
                      <a:r>
                        <a:rPr lang="en-US" sz="1200" b="1" i="0" dirty="0" err="1">
                          <a:solidFill>
                            <a:srgbClr val="FFC000"/>
                          </a:solidFill>
                          <a:latin typeface="Arial"/>
                          <a:cs typeface="Arial"/>
                        </a:rPr>
                        <a:t>PosterPresentations.com</a:t>
                      </a:r>
                      <a:r>
                        <a:rPr lang="en-US" sz="1200" b="1" i="0" dirty="0">
                          <a:solidFill>
                            <a:srgbClr val="FFC000"/>
                          </a:solidFill>
                          <a:latin typeface="Arial"/>
                          <a:cs typeface="Arial"/>
                        </a:rPr>
                        <a:t> </a:t>
                      </a:r>
                      <a:r>
                        <a:rPr lang="en-US" sz="1200" b="0" i="0" dirty="0">
                          <a:solidFill>
                            <a:srgbClr val="D9D9D9"/>
                          </a:solidFill>
                          <a:latin typeface="Arial"/>
                          <a:cs typeface="Arial"/>
                        </a:rPr>
                        <a:t>and click on the ”</a:t>
                      </a:r>
                      <a:r>
                        <a:rPr lang="en-US" sz="1200" b="1" i="0" dirty="0">
                          <a:solidFill>
                            <a:srgbClr val="FFC000"/>
                          </a:solidFill>
                          <a:latin typeface="Arial"/>
                          <a:cs typeface="Arial"/>
                        </a:rPr>
                        <a:t>PRINT</a:t>
                      </a:r>
                      <a:r>
                        <a:rPr lang="en-US" sz="1200" b="0" i="0" dirty="0">
                          <a:solidFill>
                            <a:srgbClr val="D9D9D9"/>
                          </a:solidFill>
                          <a:latin typeface="Arial"/>
                          <a:cs typeface="Arial"/>
                        </a:rPr>
                        <a:t>” button or click on any of our poster options.</a:t>
                      </a:r>
                      <a:endParaRPr lang="en-US" sz="1200" b="0" dirty="0">
                        <a:solidFill>
                          <a:srgbClr val="D9D9D9"/>
                        </a:solidFill>
                        <a:latin typeface="Arial"/>
                        <a:cs typeface="Arial"/>
                      </a:endParaRPr>
                    </a:p>
                  </a:txBody>
                  <a:tcPr marL="137160" marR="68580" marT="80010" marB="2667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449577">
                <a:tc>
                  <a:txBody>
                    <a:bodyPr/>
                    <a:lstStyle/>
                    <a:p>
                      <a:pPr algn="ctr"/>
                      <a:endParaRPr lang="en-US" sz="1200" dirty="0">
                        <a:solidFill>
                          <a:srgbClr val="1F3A4E"/>
                        </a:solidFill>
                      </a:endParaRPr>
                    </a:p>
                    <a:p>
                      <a:pPr algn="ctr"/>
                      <a:endParaRPr lang="en-US" sz="1200" dirty="0">
                        <a:solidFill>
                          <a:srgbClr val="1F3A4E"/>
                        </a:solidFill>
                      </a:endParaRP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This is a template for a</a:t>
                      </a: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presentation poster </a:t>
                      </a:r>
                      <a:b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42 inches tall</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by</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72 inches wide</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68580" marR="68580" marT="26670" marB="2667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Important: Check the template size</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D9D9D9"/>
                          </a:solidFill>
                          <a:latin typeface="Arial" panose="020B0604020202020204" pitchFamily="34" charset="0"/>
                          <a:cs typeface="Arial" panose="020B0604020202020204" pitchFamily="34" charset="0"/>
                        </a:rPr>
                        <a:t>Before starting your poster, ensure you have downloaded the correct template size to avoid printing issues.</a:t>
                      </a:r>
                    </a:p>
                    <a:p>
                      <a:pPr marL="0" marR="0" indent="0" algn="l" defTabSz="4388900" rtl="0" eaLnBrk="1" fontAlgn="auto" latinLnBrk="0" hangingPunct="1">
                        <a:lnSpc>
                          <a:spcPct val="100000"/>
                        </a:lnSpc>
                        <a:spcBef>
                          <a:spcPts val="0"/>
                        </a:spcBef>
                        <a:spcAft>
                          <a:spcPts val="0"/>
                        </a:spcAft>
                        <a:buClrTx/>
                        <a:buSzTx/>
                        <a:buFontTx/>
                        <a:buNone/>
                        <a:tabLst/>
                        <a:defRPr/>
                      </a:pPr>
                      <a:endParaRPr lang="en-US" sz="1200" b="0" baseline="0" dirty="0">
                        <a:solidFill>
                          <a:srgbClr val="D9D9D9"/>
                        </a:solidFill>
                        <a:latin typeface="Arial" panose="020B0604020202020204" pitchFamily="34" charset="0"/>
                        <a:cs typeface="Arial" panose="020B0604020202020204" pitchFamily="34" charset="0"/>
                      </a:endParaRPr>
                    </a:p>
                    <a:p>
                      <a:pPr marL="0" marR="0" indent="0" algn="l" defTabSz="4388900" rtl="0" eaLnBrk="1" fontAlgn="auto" latinLnBrk="0" hangingPunct="1">
                        <a:lnSpc>
                          <a:spcPct val="100000"/>
                        </a:lnSpc>
                        <a:spcBef>
                          <a:spcPts val="0"/>
                        </a:spcBef>
                        <a:spcAft>
                          <a:spcPts val="0"/>
                        </a:spcAft>
                        <a:buClrTx/>
                        <a:buSzTx/>
                        <a:buFontTx/>
                        <a:buNone/>
                        <a:tabLst/>
                        <a:defRPr/>
                      </a:pPr>
                      <a:r>
                        <a:rPr lang="en-US" sz="1200" b="0" baseline="0" dirty="0">
                          <a:solidFill>
                            <a:srgbClr val="D9D9D9"/>
                          </a:solidFill>
                          <a:latin typeface="Arial" panose="020B0604020202020204" pitchFamily="34" charset="0"/>
                          <a:cs typeface="Arial" panose="020B0604020202020204" pitchFamily="34" charset="0"/>
                        </a:rPr>
                        <a:t>This template can also be printed in the following sizes without distortion or additional formatting:</a:t>
                      </a:r>
                      <a:br>
                        <a:rPr lang="en-US" sz="1200" b="0" baseline="0" dirty="0">
                          <a:solidFill>
                            <a:srgbClr val="D9D9D9"/>
                          </a:solidFill>
                          <a:latin typeface="Arial" panose="020B0604020202020204" pitchFamily="34" charset="0"/>
                          <a:cs typeface="Arial" panose="020B0604020202020204" pitchFamily="34" charset="0"/>
                        </a:rPr>
                      </a:br>
                      <a:r>
                        <a:rPr lang="en-US" sz="1200" b="0" baseline="0" dirty="0">
                          <a:solidFill>
                            <a:srgbClr val="FFC000"/>
                          </a:solidFill>
                          <a:latin typeface="Arial" panose="020B0604020202020204" pitchFamily="34" charset="0"/>
                          <a:cs typeface="Arial" panose="020B0604020202020204" pitchFamily="34" charset="0"/>
                        </a:rPr>
                        <a:t>36 tall x 61.70 wide</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FFC000"/>
                          </a:solidFill>
                          <a:latin typeface="Arial" panose="020B0604020202020204" pitchFamily="34" charset="0"/>
                          <a:cs typeface="Arial" panose="020B0604020202020204" pitchFamily="34" charset="0"/>
                        </a:rPr>
                        <a:t>48 tall x 82.28 wide</a:t>
                      </a:r>
                    </a:p>
                  </a:txBody>
                  <a:tcPr marL="137160" marR="68580" marT="80010" marB="26670">
                    <a:solidFill>
                      <a:srgbClr val="010101"/>
                    </a:solidFill>
                  </a:tcPr>
                </a:tc>
                <a:extLst>
                  <a:ext uri="{0D108BD9-81ED-4DB2-BD59-A6C34878D82A}">
                    <a16:rowId xmlns:a16="http://schemas.microsoft.com/office/drawing/2014/main" val="10008"/>
                  </a:ext>
                </a:extLst>
              </a:tr>
              <a:tr h="2443090">
                <a:tc>
                  <a:txBody>
                    <a:bodyPr/>
                    <a:lstStyle/>
                    <a:p>
                      <a:endParaRPr lang="en-US" sz="1200" dirty="0">
                        <a:solidFill>
                          <a:srgbClr val="1F3A4E"/>
                        </a:solidFill>
                      </a:endParaRPr>
                    </a:p>
                  </a:txBody>
                  <a:tcPr marL="68580" marR="68580" marT="26670" marB="26670">
                    <a:blipFill rotWithShape="1">
                      <a:blip r:embed="rId3"/>
                      <a:stretch>
                        <a:fillRect/>
                      </a:stretch>
                    </a:blipFill>
                  </a:tcPr>
                </a:tc>
                <a:tc>
                  <a:txBody>
                    <a:bodyPr/>
                    <a:lstStyle/>
                    <a:p>
                      <a:pPr algn="l"/>
                      <a:r>
                        <a:rPr lang="en-US" sz="1400" b="1" baseline="0" dirty="0">
                          <a:solidFill>
                            <a:srgbClr val="FFC000"/>
                          </a:solidFill>
                          <a:latin typeface="Arial" panose="020B0604020202020204" pitchFamily="34" charset="0"/>
                          <a:cs typeface="Arial" panose="020B0604020202020204" pitchFamily="34" charset="0"/>
                        </a:rPr>
                        <a:t>How to </a:t>
                      </a:r>
                      <a:r>
                        <a:rPr lang="en-US" sz="2300" b="1" baseline="0" dirty="0">
                          <a:solidFill>
                            <a:srgbClr val="FFC000"/>
                          </a:solidFill>
                          <a:latin typeface="Arial" panose="020B0604020202020204" pitchFamily="34" charset="0"/>
                          <a:cs typeface="Arial" panose="020B0604020202020204" pitchFamily="34" charset="0"/>
                        </a:rPr>
                        <a:t>Zoom in </a:t>
                      </a:r>
                      <a:r>
                        <a:rPr lang="en-US" sz="1400" b="1" baseline="0" dirty="0">
                          <a:solidFill>
                            <a:srgbClr val="FFC000"/>
                          </a:solidFill>
                          <a:latin typeface="Arial" panose="020B0604020202020204" pitchFamily="34" charset="0"/>
                          <a:cs typeface="Arial" panose="020B0604020202020204" pitchFamily="34" charset="0"/>
                        </a:rPr>
                        <a:t>and </a:t>
                      </a:r>
                      <a:r>
                        <a:rPr lang="en-US" sz="1100" b="1" baseline="0" dirty="0">
                          <a:solidFill>
                            <a:srgbClr val="FFC000"/>
                          </a:solidFill>
                          <a:latin typeface="Arial" panose="020B0604020202020204" pitchFamily="34" charset="0"/>
                          <a:cs typeface="Arial" panose="020B0604020202020204" pitchFamily="34" charset="0"/>
                        </a:rPr>
                        <a:t>out</a:t>
                      </a:r>
                      <a:endParaRPr lang="en-US" sz="1400" b="1" baseline="0" dirty="0">
                        <a:solidFill>
                          <a:srgbClr val="FFC000"/>
                        </a:solidFill>
                        <a:latin typeface="Arial" panose="020B0604020202020204" pitchFamily="34" charset="0"/>
                        <a:cs typeface="Arial" panose="020B0604020202020204" pitchFamily="34" charset="0"/>
                      </a:endParaRPr>
                    </a:p>
                    <a:p>
                      <a:pPr algn="l"/>
                      <a:r>
                        <a:rPr lang="en-US" sz="1200" b="0" baseline="0" dirty="0">
                          <a:solidFill>
                            <a:srgbClr val="D9D9D9"/>
                          </a:solidFill>
                          <a:latin typeface="Arial" panose="020B0604020202020204" pitchFamily="34" charset="0"/>
                          <a:cs typeface="Arial" panose="020B0604020202020204" pitchFamily="34" charset="0"/>
                        </a:rPr>
                        <a:t>Use the PowerPoint zoom tool to adjust the screen magnification for comfortable viewing. PowerPoint offers two ways to zoom:</a:t>
                      </a:r>
                    </a:p>
                    <a:p>
                      <a:pPr algn="l"/>
                      <a:endParaRPr lang="en-US" sz="1200" b="0" baseline="0" dirty="0">
                        <a:solidFill>
                          <a:srgbClr val="D9D9D9"/>
                        </a:solidFill>
                        <a:latin typeface="Arial" panose="020B0604020202020204" pitchFamily="34" charset="0"/>
                        <a:cs typeface="Arial" panose="020B0604020202020204" pitchFamily="34" charset="0"/>
                      </a:endParaRPr>
                    </a:p>
                    <a:p>
                      <a:pPr algn="l"/>
                      <a:r>
                        <a:rPr lang="en-US" sz="1200" b="0" baseline="0" dirty="0">
                          <a:solidFill>
                            <a:srgbClr val="D9D9D9"/>
                          </a:solidFill>
                          <a:latin typeface="Arial" panose="020B0604020202020204" pitchFamily="34" charset="0"/>
                          <a:cs typeface="Arial" panose="020B0604020202020204" pitchFamily="34" charset="0"/>
                        </a:rPr>
                        <a:t>1. Click the VIEW tab in the top menu bar, then select ZOOM. Choose the zoom percentage that suits you best.</a:t>
                      </a:r>
                    </a:p>
                    <a:p>
                      <a:pPr algn="l"/>
                      <a:r>
                        <a:rPr lang="en-US" sz="1200" b="0" baseline="0" dirty="0">
                          <a:solidFill>
                            <a:srgbClr val="D9D9D9"/>
                          </a:solidFill>
                          <a:latin typeface="Arial" panose="020B0604020202020204" pitchFamily="34" charset="0"/>
                          <a:cs typeface="Arial" panose="020B0604020202020204" pitchFamily="34" charset="0"/>
                        </a:rPr>
                        <a:t>2. Use the zoom slider located at the bottom-right corner of the window for more flexible adjustments.</a:t>
                      </a:r>
                    </a:p>
                  </a:txBody>
                  <a:tcPr marL="137160" marR="68580" marT="80010" marB="26670">
                    <a:solidFill>
                      <a:srgbClr val="010101"/>
                    </a:solidFill>
                  </a:tcPr>
                </a:tc>
                <a:extLst>
                  <a:ext uri="{0D108BD9-81ED-4DB2-BD59-A6C34878D82A}">
                    <a16:rowId xmlns:a16="http://schemas.microsoft.com/office/drawing/2014/main" val="10001"/>
                  </a:ext>
                </a:extLst>
              </a:tr>
              <a:tr h="116876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Ruler and Guides</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D9D9D9"/>
                          </a:solidFill>
                          <a:latin typeface="Arial" panose="020B0604020202020204" pitchFamily="34" charset="0"/>
                          <a:cs typeface="Arial" panose="020B06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p>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0" baseline="0" dirty="0">
                          <a:solidFill>
                            <a:srgbClr val="D9D9D9"/>
                          </a:solidFill>
                          <a:latin typeface="Arial" panose="020B0604020202020204" pitchFamily="34" charset="0"/>
                          <a:cs typeface="Arial" panose="020B0604020202020204" pitchFamily="34" charset="0"/>
                        </a:rPr>
                        <a:t>To hide the guides, go to the VIEW tab and uncheck the Guides box.</a:t>
                      </a:r>
                    </a:p>
                  </a:txBody>
                  <a:tcPr marL="68580" marR="68580" marT="26670" marB="2667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307363">
                <a:tc>
                  <a:txBody>
                    <a:bodyPr/>
                    <a:lstStyle/>
                    <a:p>
                      <a:endParaRPr lang="en-US" sz="1200" dirty="0">
                        <a:solidFill>
                          <a:srgbClr val="1F3A4E"/>
                        </a:solidFill>
                      </a:endParaRPr>
                    </a:p>
                  </a:txBody>
                  <a:tcPr marL="68580" marR="68580" marT="26670" marB="26670">
                    <a:blipFill rotWithShape="1">
                      <a:blip r:embed="rId4"/>
                      <a:stretch>
                        <a:fillRect/>
                      </a:stretch>
                    </a:blipFill>
                  </a:tcPr>
                </a:tc>
                <a:tc>
                  <a:txBody>
                    <a:bodyPr/>
                    <a:lstStyle/>
                    <a:p>
                      <a:pPr marL="0" lvl="1" indent="0" algn="l" defTabSz="114300"/>
                      <a:r>
                        <a:rPr lang="en-US" sz="1400" b="1" baseline="0" dirty="0">
                          <a:solidFill>
                            <a:srgbClr val="FFC000"/>
                          </a:solidFill>
                          <a:latin typeface="Arial" panose="020B0604020202020204" pitchFamily="34" charset="0"/>
                          <a:cs typeface="Arial" panose="020B0604020202020204" pitchFamily="34" charset="0"/>
                        </a:rPr>
                        <a:t>Headers and text containers</a:t>
                      </a:r>
                      <a:br>
                        <a:rPr lang="en-US" sz="1200" b="0" baseline="0" dirty="0">
                          <a:solidFill>
                            <a:schemeClr val="bg1"/>
                          </a:solidFill>
                          <a:latin typeface="Arial" panose="020B0604020202020204" pitchFamily="34" charset="0"/>
                          <a:cs typeface="Arial" panose="020B0604020202020204" pitchFamily="34" charset="0"/>
                        </a:rPr>
                      </a:br>
                      <a:r>
                        <a:rPr lang="en-US" sz="1200" b="0" baseline="0" dirty="0">
                          <a:solidFill>
                            <a:schemeClr val="bg1"/>
                          </a:solidFill>
                          <a:latin typeface="Arial" panose="020B0604020202020204" pitchFamily="34" charset="0"/>
                          <a:cs typeface="Arial" panose="020B0604020202020204" pitchFamily="34" charset="0"/>
                        </a:rPr>
                        <a:t>This template includes commonly used section headers, such as Abstract, Objectives, Methods, and Results.</a:t>
                      </a:r>
                    </a:p>
                    <a:p>
                      <a:pPr marL="0" lvl="1" indent="0" algn="l" defTabSz="114300"/>
                      <a:endParaRPr lang="en-US" sz="1200" b="0" baseline="0" dirty="0">
                        <a:solidFill>
                          <a:schemeClr val="bg1"/>
                        </a:solidFill>
                        <a:latin typeface="Arial" panose="020B0604020202020204" pitchFamily="34" charset="0"/>
                        <a:cs typeface="Arial" panose="020B0604020202020204" pitchFamily="34" charset="0"/>
                      </a:endParaRP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Click inside a section header to add text.</a:t>
                      </a: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To create a new header, click the edge of the section box to outline it, then copy and paste it.</a:t>
                      </a: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To resize a header, click on the white circles and drag to the desired size.</a:t>
                      </a:r>
                      <a:endParaRPr lang="en-US" sz="1200" b="0" baseline="0" dirty="0">
                        <a:solidFill>
                          <a:srgbClr val="D9D9D9"/>
                        </a:solidFill>
                        <a:latin typeface="Arial" panose="020B0604020202020204" pitchFamily="34" charset="0"/>
                        <a:cs typeface="Arial" panose="020B0604020202020204" pitchFamily="34" charset="0"/>
                      </a:endParaRPr>
                    </a:p>
                  </a:txBody>
                  <a:tcPr marL="137160" marR="68580" marT="80010" marB="26670">
                    <a:solidFill>
                      <a:srgbClr val="010101"/>
                    </a:solidFill>
                  </a:tcPr>
                </a:tc>
                <a:extLst>
                  <a:ext uri="{0D108BD9-81ED-4DB2-BD59-A6C34878D82A}">
                    <a16:rowId xmlns:a16="http://schemas.microsoft.com/office/drawing/2014/main" val="10003"/>
                  </a:ext>
                </a:extLst>
              </a:tr>
              <a:tr h="2073611">
                <a:tc gridSpan="2">
                  <a:txBody>
                    <a:bodyPr/>
                    <a:lstStyle/>
                    <a:p>
                      <a:r>
                        <a:rPr lang="en-US" sz="1400" b="1" dirty="0">
                          <a:solidFill>
                            <a:srgbClr val="FFC000"/>
                          </a:solidFill>
                          <a:latin typeface="Arial" panose="020B0604020202020204" pitchFamily="34" charset="0"/>
                          <a:cs typeface="Arial" panose="020B0604020202020204" pitchFamily="34" charset="0"/>
                        </a:rPr>
                        <a:t>Adding content to the poster</a:t>
                      </a:r>
                    </a:p>
                    <a:p>
                      <a:r>
                        <a:rPr lang="en-US" sz="1200" baseline="0" dirty="0">
                          <a:solidFill>
                            <a:srgbClr val="D9D9D9"/>
                          </a:solidFill>
                          <a:latin typeface="Arial" panose="020B0604020202020204" pitchFamily="34" charset="0"/>
                          <a:cs typeface="Arial" panose="020B06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p>
                    <a:p>
                      <a:endParaRPr lang="en-US" sz="1200" baseline="0" dirty="0">
                        <a:solidFill>
                          <a:srgbClr val="D9D9D9"/>
                        </a:solidFill>
                        <a:latin typeface="Arial" panose="020B0604020202020204" pitchFamily="34" charset="0"/>
                        <a:cs typeface="Arial" panose="020B0604020202020204" pitchFamily="34" charset="0"/>
                      </a:endParaRPr>
                    </a:p>
                    <a:p>
                      <a:r>
                        <a:rPr lang="en-US" sz="1200" baseline="0" dirty="0">
                          <a:solidFill>
                            <a:srgbClr val="D9D9D9"/>
                          </a:solidFill>
                          <a:latin typeface="Arial" panose="020B0604020202020204" pitchFamily="34" charset="0"/>
                          <a:cs typeface="Arial" panose="020B0604020202020204" pitchFamily="34" charset="0"/>
                        </a:rPr>
                        <a:t>Once everything is in place, go back and adjust the size of your text, images, and other visual elements to distribute the content evenly across the poster.</a:t>
                      </a:r>
                    </a:p>
                    <a:p>
                      <a:endParaRPr lang="en-US" sz="1200" baseline="0" dirty="0">
                        <a:solidFill>
                          <a:srgbClr val="D9D9D9"/>
                        </a:solidFill>
                        <a:latin typeface="Arial" panose="020B0604020202020204" pitchFamily="34" charset="0"/>
                        <a:cs typeface="Arial" panose="020B0604020202020204" pitchFamily="34" charset="0"/>
                      </a:endParaRPr>
                    </a:p>
                    <a:p>
                      <a:r>
                        <a:rPr lang="en-US" sz="1200" baseline="0" dirty="0">
                          <a:solidFill>
                            <a:srgbClr val="D9D9D9"/>
                          </a:solidFill>
                          <a:latin typeface="Arial" panose="020B0604020202020204" pitchFamily="34" charset="0"/>
                          <a:cs typeface="Arial" panose="020B0604020202020204" pitchFamily="34" charset="0"/>
                        </a:rPr>
                        <a:t>Make sure everything is aligned correctly before you finalize your poster.</a:t>
                      </a:r>
                    </a:p>
                  </a:txBody>
                  <a:tcPr marL="68580" marR="68580" marT="26670" marB="2667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40251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a:ea typeface="+mn-ea"/>
                          <a:cs typeface="Arial"/>
                        </a:rPr>
                        <a:t>To add photos, you can drag and drop them from your desktop, copy and paste, or go to INSERT &gt; PICTURES in the menu.</a:t>
                      </a:r>
                    </a:p>
                    <a:p>
                      <a:pPr marL="0" marR="0" lvl="0" indent="0" algn="l" defTabSz="9779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D9D9D9"/>
                        </a:solidFill>
                        <a:effectLst/>
                        <a:uLnTx/>
                        <a:uFillTx/>
                        <a:latin typeface="Arial"/>
                        <a:ea typeface="+mn-ea"/>
                        <a:cs typeface="Arial"/>
                      </a:endParaRP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a:ea typeface="+mn-ea"/>
                          <a:cs typeface="Arial"/>
                        </a:rPr>
                        <a:t>To resize images proportionally, drag one of the white corner handles (small circles or squares). The middle handles will stretch and distort your image. </a:t>
                      </a:r>
                    </a:p>
                  </a:txBody>
                  <a:tcPr marL="137160" marR="68580" marT="80010" marB="2667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228519">
                <a:tc gridSpan="2">
                  <a:txBody>
                    <a:bodyPr/>
                    <a:lstStyle/>
                    <a:p>
                      <a:endParaRPr lang="en-US" sz="1200" dirty="0">
                        <a:solidFill>
                          <a:schemeClr val="bg1"/>
                        </a:solidFill>
                        <a:latin typeface="Arial" panose="020B0604020202020204" pitchFamily="34" charset="0"/>
                        <a:cs typeface="Arial" panose="020B0604020202020204" pitchFamily="34" charset="0"/>
                      </a:endParaRPr>
                    </a:p>
                  </a:txBody>
                  <a:tcPr marL="137160" marR="68580" marT="80010" marB="2667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0251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p>
                  </a:txBody>
                  <a:tcPr marL="137160" marR="68580" marT="80010" marB="2667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70751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chemeClr val="bg1"/>
                        </a:solidFill>
                        <a:latin typeface="Arial"/>
                        <a:cs typeface="Arial"/>
                      </a:endParaRPr>
                    </a:p>
                  </a:txBody>
                  <a:tcPr marL="137160" marR="68580" marT="80010" marB="2667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3" name="Table 2">
            <a:extLst>
              <a:ext uri="{FF2B5EF4-FFF2-40B4-BE49-F238E27FC236}">
                <a16:creationId xmlns:a16="http://schemas.microsoft.com/office/drawing/2014/main" id="{E21606D2-D402-F960-E071-2FCA87E02FA8}"/>
              </a:ext>
            </a:extLst>
          </p:cNvPr>
          <p:cNvGraphicFramePr>
            <a:graphicFrameLocks noGrp="1"/>
          </p:cNvGraphicFramePr>
          <p:nvPr userDrawn="1">
            <p:extLst>
              <p:ext uri="{D42A27DB-BD31-4B8C-83A1-F6EECF244321}">
                <p14:modId xmlns:p14="http://schemas.microsoft.com/office/powerpoint/2010/main" val="689495701"/>
              </p:ext>
            </p:extLst>
          </p:nvPr>
        </p:nvGraphicFramePr>
        <p:xfrm>
          <a:off x="33708974" y="0"/>
          <a:ext cx="6467830" cy="19202399"/>
        </p:xfrm>
        <a:graphic>
          <a:graphicData uri="http://schemas.openxmlformats.org/drawingml/2006/table">
            <a:tbl>
              <a:tblPr firstRow="1" bandRow="1">
                <a:tableStyleId>{5C22544A-7EE6-4342-B048-85BDC9FD1C3A}</a:tableStyleId>
              </a:tblPr>
              <a:tblGrid>
                <a:gridCol w="2892673">
                  <a:extLst>
                    <a:ext uri="{9D8B030D-6E8A-4147-A177-3AD203B41FA5}">
                      <a16:colId xmlns:a16="http://schemas.microsoft.com/office/drawing/2014/main" val="20000"/>
                    </a:ext>
                  </a:extLst>
                </a:gridCol>
                <a:gridCol w="441797">
                  <a:extLst>
                    <a:ext uri="{9D8B030D-6E8A-4147-A177-3AD203B41FA5}">
                      <a16:colId xmlns:a16="http://schemas.microsoft.com/office/drawing/2014/main" val="3519466302"/>
                    </a:ext>
                  </a:extLst>
                </a:gridCol>
                <a:gridCol w="3133360">
                  <a:extLst>
                    <a:ext uri="{9D8B030D-6E8A-4147-A177-3AD203B41FA5}">
                      <a16:colId xmlns:a16="http://schemas.microsoft.com/office/drawing/2014/main" val="4164475170"/>
                    </a:ext>
                  </a:extLst>
                </a:gridCol>
              </a:tblGrid>
              <a:tr h="80015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300" b="0" spc="600" dirty="0">
                          <a:solidFill>
                            <a:srgbClr val="1F3A4E"/>
                          </a:solidFill>
                          <a:latin typeface="Arial Black" panose="020B0A04020102020204" pitchFamily="34" charset="0"/>
                        </a:rPr>
                        <a:t>QUICK START GUIDE</a:t>
                      </a:r>
                      <a:br>
                        <a:rPr lang="en-US" sz="2300" b="0" spc="600" dirty="0">
                          <a:solidFill>
                            <a:srgbClr val="1F3A4E"/>
                          </a:solidFill>
                          <a:latin typeface="Arial Black" panose="020B0A04020102020204" pitchFamily="34" charset="0"/>
                        </a:rPr>
                      </a:br>
                      <a:r>
                        <a:rPr lang="en-US" sz="1900" b="1" spc="0" dirty="0">
                          <a:solidFill>
                            <a:srgbClr val="FF0000"/>
                          </a:solidFill>
                          <a:latin typeface="Trebuchet MS" pitchFamily="34" charset="0"/>
                        </a:rPr>
                        <a:t>(THIS SIDEBAR WILL APPEAR ON THE POSTER)</a:t>
                      </a:r>
                      <a:endParaRPr lang="en-US" sz="2300" b="1" spc="600" dirty="0">
                        <a:solidFill>
                          <a:schemeClr val="bg1"/>
                        </a:solidFill>
                        <a:latin typeface="Trebuchet MS" pitchFamily="34" charset="0"/>
                      </a:endParaRPr>
                    </a:p>
                  </a:txBody>
                  <a:tcPr marL="137160" marR="68580" marT="80010" marB="2667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15673">
                <a:tc>
                  <a:txBody>
                    <a:bodyPr/>
                    <a:lstStyle/>
                    <a:p>
                      <a:endParaRPr lang="en-US" sz="1200" u="none" dirty="0">
                        <a:solidFill>
                          <a:srgbClr val="FFC000"/>
                        </a:solidFill>
                      </a:endParaRPr>
                    </a:p>
                  </a:txBody>
                  <a:tcPr marL="137160" marR="68580" marT="80010" marB="26670">
                    <a:blipFill>
                      <a:blip r:embed="rId7"/>
                      <a:stretch>
                        <a:fillRect/>
                      </a:stretch>
                    </a:blipFill>
                  </a:tcPr>
                </a:tc>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1200" u="none" dirty="0">
                        <a:solidFill>
                          <a:srgbClr val="FFC000"/>
                        </a:solidFill>
                      </a:endParaRPr>
                    </a:p>
                  </a:txBody>
                  <a:tcPr marL="137160" marR="68580" marT="80010" marB="26670">
                    <a:solidFill>
                      <a:schemeClr val="tx1"/>
                    </a:solidFill>
                  </a:tcPr>
                </a:tc>
                <a:tc hMerge="1">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To manually adjust the column configuration, go to VIEW &gt; SLIDE MASTER. From there, you can delete, resize, or modify the columns to suit your layout. When finished, remember to exit the MASTER by clicking on VIEW &gt; NORMAL</a:t>
                      </a:r>
                    </a:p>
                    <a:p>
                      <a:pPr marL="0" marR="0" lvl="0" indent="0" algn="l" defTabSz="43889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endParaRP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For step-by-step guidance, refer to the tutorial here: </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https://</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www.posterpresentations.com</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/how-to-change-the-column-</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configuration.html</a:t>
                      </a:r>
                      <a:endParaRPr kumimoji="0" lang="en-US" sz="2000" b="0" i="0" u="none" strike="noStrike" kern="1200" cap="none" spc="0" normalizeH="0" baseline="0" noProof="0" dirty="0">
                        <a:ln>
                          <a:noFill/>
                        </a:ln>
                        <a:solidFill>
                          <a:srgbClr val="FFC000"/>
                        </a:solidFill>
                        <a:effectLst/>
                        <a:uLnTx/>
                        <a:uFillTx/>
                        <a:latin typeface="+mn-lt"/>
                        <a:ea typeface="+mn-ea"/>
                        <a:cs typeface="+mn-cs"/>
                      </a:endParaRPr>
                    </a:p>
                  </a:txBody>
                  <a:tcPr marL="182880" marT="137160">
                    <a:solidFill>
                      <a:schemeClr val="tx1"/>
                    </a:solidFill>
                  </a:tcPr>
                </a:tc>
                <a:extLst>
                  <a:ext uri="{0D108BD9-81ED-4DB2-BD59-A6C34878D82A}">
                    <a16:rowId xmlns:a16="http://schemas.microsoft.com/office/drawing/2014/main" val="10004"/>
                  </a:ext>
                </a:extLst>
              </a:tr>
              <a:tr h="141399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1. Click on the View tab, and then click Slide Master</a:t>
                      </a:r>
                    </a:p>
                  </a:txBody>
                  <a:tcPr marL="137160" marR="68580" marT="80010" marB="26670">
                    <a:blipFill>
                      <a:blip r:embed="rId8"/>
                      <a:stretch>
                        <a:fillRect/>
                      </a:stretch>
                    </a:blipFill>
                  </a:tcPr>
                </a:tc>
                <a:tc rowSpan="3"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The Quick Start Guides are positioned outside the template's printable area, so they will not appear on the printed poster.</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If you save the file as a PDF using the Save As menu, the guides will also be excluded.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Alternatively, you can remove them directly from the Slide Master.</a:t>
                      </a:r>
                    </a:p>
                  </a:txBody>
                  <a:tcPr marL="137160" marR="68580" marT="80010" marB="26670">
                    <a:solidFill>
                      <a:srgbClr val="010101"/>
                    </a:solidFill>
                  </a:tcPr>
                </a:tc>
                <a:tc rowSpan="3"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the SAVES AS menu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Alternatively, you can delete them from the Slide Master. </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94304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txBody>
                  <a:tcPr marL="137160" marR="68580" marT="80010" marB="26670">
                    <a:blipFill>
                      <a:blip r:embed="rId9"/>
                      <a:stretch>
                        <a:fillRect/>
                      </a:stretch>
                    </a:blip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a:blip r:embed="rId9"/>
                      <a:stretch>
                        <a:fillRect/>
                      </a:stretch>
                    </a:blipFill>
                  </a:tcPr>
                </a:tc>
                <a:tc hMerge="1" vMerge="1">
                  <a:txBody>
                    <a:bodyPr/>
                    <a:lstStyle/>
                    <a:p>
                      <a:endParaRPr lang="en-US"/>
                    </a:p>
                  </a:txBody>
                  <a:tcPr/>
                </a:tc>
                <a:extLst>
                  <a:ext uri="{0D108BD9-81ED-4DB2-BD59-A6C34878D82A}">
                    <a16:rowId xmlns:a16="http://schemas.microsoft.com/office/drawing/2014/main" val="3063495530"/>
                  </a:ext>
                </a:extLst>
              </a:tr>
              <a:tr h="1586036">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2. Select the Master you are working on.</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3. Click on the border of the Guide box and delete.</a:t>
                      </a:r>
                      <a:br>
                        <a:rPr lang="en-US" sz="1400" noProof="0" dirty="0">
                          <a:solidFill>
                            <a:srgbClr val="D9D9D9"/>
                          </a:solidFill>
                          <a:latin typeface="Arial" panose="020B0604020202020204" pitchFamily="34" charset="0"/>
                          <a:cs typeface="Arial" panose="020B0604020202020204" pitchFamily="34" charset="0"/>
                        </a:rPr>
                      </a:br>
                      <a:r>
                        <a:rPr lang="en-US" sz="1400" noProof="0" dirty="0">
                          <a:solidFill>
                            <a:srgbClr val="D9D9D9"/>
                          </a:solidFill>
                          <a:latin typeface="Arial" panose="020B0604020202020204" pitchFamily="34" charset="0"/>
                          <a:cs typeface="Arial" panose="020B0604020202020204" pitchFamily="34" charset="0"/>
                        </a:rPr>
                        <a:t>4. IMPORTANT: Do not forget to exit the Master when finished.</a:t>
                      </a:r>
                    </a:p>
                  </a:txBody>
                  <a:tcPr marL="137160" marR="68580" marT="80010" marB="2667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766341567"/>
                  </a:ext>
                </a:extLst>
              </a:tr>
              <a:tr h="2713885">
                <a:tc>
                  <a:txBody>
                    <a:bodyPr/>
                    <a:lstStyle/>
                    <a:p>
                      <a:r>
                        <a:rPr lang="en-US" sz="1600" b="1" dirty="0">
                          <a:solidFill>
                            <a:srgbClr val="FFC000"/>
                          </a:solidFill>
                          <a:latin typeface="Arial" panose="020B0604020202020204" pitchFamily="34" charset="0"/>
                          <a:cs typeface="Arial" panose="020B0604020202020204" pitchFamily="34" charset="0"/>
                        </a:rPr>
                        <a:t>How to</a:t>
                      </a:r>
                      <a:r>
                        <a:rPr lang="en-US" sz="1600" b="1" baseline="0" dirty="0">
                          <a:solidFill>
                            <a:srgbClr val="FFC000"/>
                          </a:solidFill>
                          <a:latin typeface="Arial" panose="020B0604020202020204" pitchFamily="34" charset="0"/>
                          <a:cs typeface="Arial" panose="020B0604020202020204" pitchFamily="34" charset="0"/>
                        </a:rPr>
                        <a:t> preview your poster prior to printing</a:t>
                      </a:r>
                      <a:endParaRPr lang="en-US" sz="1600" b="1" dirty="0">
                        <a:solidFill>
                          <a:srgbClr val="FFC000"/>
                        </a:solidFill>
                        <a:latin typeface="Arial" panose="020B0604020202020204" pitchFamily="34" charset="0"/>
                        <a:cs typeface="Arial" panose="020B0604020202020204" pitchFamily="34" charset="0"/>
                      </a:endParaRPr>
                    </a:p>
                    <a:p>
                      <a:r>
                        <a:rPr lang="en-US" sz="1400" dirty="0">
                          <a:solidFill>
                            <a:srgbClr val="D9D9D9"/>
                          </a:solidFill>
                          <a:latin typeface="Arial" panose="020B0604020202020204" pitchFamily="34" charset="0"/>
                          <a:cs typeface="Arial" panose="020B0604020202020204" pitchFamily="34" charset="0"/>
                        </a:rPr>
                        <a:t>You can preview your poster at any time by pressing the </a:t>
                      </a:r>
                      <a:r>
                        <a:rPr lang="en-US" sz="1400" b="1" dirty="0">
                          <a:solidFill>
                            <a:srgbClr val="FFC000"/>
                          </a:solidFill>
                          <a:latin typeface="Arial" panose="020B0604020202020204" pitchFamily="34" charset="0"/>
                          <a:cs typeface="Arial" panose="020B0604020202020204" pitchFamily="34" charset="0"/>
                        </a:rPr>
                        <a:t>F5 key </a:t>
                      </a:r>
                      <a:r>
                        <a:rPr lang="en-US" sz="1400" dirty="0">
                          <a:solidFill>
                            <a:srgbClr val="D9D9D9"/>
                          </a:solidFill>
                          <a:latin typeface="Arial" panose="020B0604020202020204" pitchFamily="34" charset="0"/>
                          <a:cs typeface="Arial" panose="020B0604020202020204" pitchFamily="34" charset="0"/>
                        </a:rPr>
                        <a:t>on your keyboard (Windows) or by clicking on the SLIDESHOW tab. This will display your poster on the screen, showing how it will appear when printed. To exit the preview, press the </a:t>
                      </a:r>
                      <a:r>
                        <a:rPr lang="en-US" sz="1400" b="1" dirty="0">
                          <a:solidFill>
                            <a:srgbClr val="FFC000"/>
                          </a:solidFill>
                          <a:latin typeface="Arial" panose="020B0604020202020204" pitchFamily="34" charset="0"/>
                          <a:cs typeface="Arial" panose="020B0604020202020204" pitchFamily="34" charset="0"/>
                        </a:rPr>
                        <a:t>ESC</a:t>
                      </a:r>
                      <a:r>
                        <a:rPr lang="en-US" sz="1400" dirty="0">
                          <a:solidFill>
                            <a:srgbClr val="D9D9D9"/>
                          </a:solidFill>
                          <a:latin typeface="Arial" panose="020B0604020202020204" pitchFamily="34" charset="0"/>
                          <a:cs typeface="Arial" panose="020B0604020202020204" pitchFamily="34" charset="0"/>
                        </a:rPr>
                        <a:t> key.</a:t>
                      </a:r>
                    </a:p>
                  </a:txBody>
                  <a:tcPr marL="137160" marR="68580" marT="80010" marB="26670">
                    <a:solidFill>
                      <a:srgbClr val="010101"/>
                    </a:solidFill>
                  </a:tcPr>
                </a:tc>
                <a:tc gridSpan="2">
                  <a:txBody>
                    <a:bodyPr/>
                    <a:lstStyle/>
                    <a:p>
                      <a:pPr algn="ctr"/>
                      <a:r>
                        <a:rPr lang="en-US" sz="6800" b="1" dirty="0">
                          <a:solidFill>
                            <a:srgbClr val="D9D9D9"/>
                          </a:solidFill>
                          <a:latin typeface="Arial" panose="020B0604020202020204" pitchFamily="34" charset="0"/>
                          <a:cs typeface="Arial" panose="020B0604020202020204" pitchFamily="34" charset="0"/>
                        </a:rPr>
                        <a:t>F5</a:t>
                      </a:r>
                      <a:br>
                        <a:rPr lang="en-US" sz="6800" b="1" dirty="0">
                          <a:solidFill>
                            <a:srgbClr val="D9D9D9"/>
                          </a:solidFill>
                          <a:latin typeface="Arial" panose="020B0604020202020204" pitchFamily="34" charset="0"/>
                          <a:cs typeface="Arial" panose="020B0604020202020204" pitchFamily="34" charset="0"/>
                        </a:rPr>
                      </a:br>
                      <a:r>
                        <a:rPr lang="en-US" sz="1600" b="1" dirty="0">
                          <a:solidFill>
                            <a:srgbClr val="D9D9D9"/>
                          </a:solidFill>
                          <a:latin typeface="Arial" panose="020B0604020202020204" pitchFamily="34" charset="0"/>
                          <a:cs typeface="Arial" panose="020B0604020202020204" pitchFamily="34" charset="0"/>
                        </a:rPr>
                        <a:t>(Windows)</a:t>
                      </a:r>
                      <a:br>
                        <a:rPr lang="en-US" sz="1600" b="1" dirty="0">
                          <a:solidFill>
                            <a:srgbClr val="D9D9D9"/>
                          </a:solidFill>
                          <a:latin typeface="Arial" panose="020B0604020202020204" pitchFamily="34" charset="0"/>
                          <a:cs typeface="Arial" panose="020B0604020202020204" pitchFamily="34" charset="0"/>
                        </a:rPr>
                      </a:br>
                      <a:r>
                        <a:rPr lang="en-US" sz="1600" b="1" dirty="0">
                          <a:solidFill>
                            <a:srgbClr val="D9D9D9"/>
                          </a:solidFill>
                          <a:latin typeface="Arial" panose="020B0604020202020204" pitchFamily="34" charset="0"/>
                          <a:cs typeface="Arial" panose="020B0604020202020204" pitchFamily="34" charset="0"/>
                        </a:rPr>
                        <a:t>Or click on the SLIDESHOW tab (Mac and Windows)</a:t>
                      </a:r>
                      <a:endParaRPr lang="en-US" sz="1400" dirty="0">
                        <a:solidFill>
                          <a:srgbClr val="D9D9D9"/>
                        </a:solidFill>
                        <a:latin typeface="Arial" panose="020B0604020202020204" pitchFamily="34" charset="0"/>
                        <a:cs typeface="Arial" panose="020B0604020202020204" pitchFamily="34" charset="0"/>
                      </a:endParaRPr>
                    </a:p>
                  </a:txBody>
                  <a:tcPr marL="137160" marR="68580" marT="80010" marB="26670" anchor="ctr">
                    <a:solidFill>
                      <a:schemeClr val="tx1">
                        <a:lumMod val="95000"/>
                        <a:lumOff val="5000"/>
                      </a:schemeClr>
                    </a:solidFill>
                  </a:tcPr>
                </a:tc>
                <a:tc hMerge="1">
                  <a:txBody>
                    <a:bodyPr/>
                    <a:lstStyle/>
                    <a:p>
                      <a:pPr algn="ctr"/>
                      <a:r>
                        <a:rPr lang="en-US" sz="11500" b="1" dirty="0">
                          <a:solidFill>
                            <a:srgbClr val="D9D9D9"/>
                          </a:solidFill>
                          <a:latin typeface="Arial" panose="020B0604020202020204" pitchFamily="34" charset="0"/>
                          <a:cs typeface="Arial" panose="020B0604020202020204" pitchFamily="34" charset="0"/>
                        </a:rPr>
                        <a:t>F5</a:t>
                      </a:r>
                      <a:br>
                        <a:rPr lang="en-US" sz="11500" b="1" dirty="0">
                          <a:solidFill>
                            <a:srgbClr val="D9D9D9"/>
                          </a:solidFill>
                          <a:latin typeface="Arial" panose="020B0604020202020204" pitchFamily="34" charset="0"/>
                          <a:cs typeface="Arial" panose="020B0604020202020204" pitchFamily="34" charset="0"/>
                        </a:rPr>
                      </a:br>
                      <a:r>
                        <a:rPr lang="en-US" sz="2800" b="1" dirty="0">
                          <a:solidFill>
                            <a:srgbClr val="D9D9D9"/>
                          </a:solidFill>
                          <a:latin typeface="Arial" panose="020B0604020202020204" pitchFamily="34" charset="0"/>
                          <a:cs typeface="Arial" panose="020B0604020202020204" pitchFamily="34" charset="0"/>
                        </a:rPr>
                        <a:t>or click on the SLIDESHOW tab</a:t>
                      </a:r>
                      <a:r>
                        <a:rPr lang="en-US" sz="5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2755472">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Printing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To print your poster, visit </a:t>
                      </a:r>
                      <a:r>
                        <a:rPr lang="en-US" sz="1400" noProof="0" dirty="0" err="1">
                          <a:solidFill>
                            <a:srgbClr val="FFC000"/>
                          </a:solidFill>
                          <a:latin typeface="Arial"/>
                          <a:cs typeface="Arial"/>
                        </a:rPr>
                        <a:t>PosterPresentations.com</a:t>
                      </a:r>
                      <a:r>
                        <a:rPr lang="en-US" sz="1400" noProof="0" dirty="0">
                          <a:solidFill>
                            <a:srgbClr val="FFC000"/>
                          </a:solidFill>
                          <a:latin typeface="Arial"/>
                          <a:cs typeface="Arial"/>
                        </a:rPr>
                        <a:t> </a:t>
                      </a:r>
                      <a:r>
                        <a:rPr lang="en-US" sz="1400" noProof="0" dirty="0">
                          <a:solidFill>
                            <a:srgbClr val="D9D9D9"/>
                          </a:solidFill>
                          <a:latin typeface="Arial"/>
                          <a:cs typeface="Arial"/>
                        </a:rPr>
                        <a:t>and click the "</a:t>
                      </a:r>
                      <a:r>
                        <a:rPr lang="en-US" sz="1400" noProof="0" dirty="0">
                          <a:solidFill>
                            <a:srgbClr val="FFC000"/>
                          </a:solidFill>
                          <a:latin typeface="Arial"/>
                          <a:cs typeface="Arial"/>
                        </a:rPr>
                        <a:t>PRINT</a:t>
                      </a:r>
                      <a:r>
                        <a:rPr lang="en-US" sz="1400" noProof="0" dirty="0">
                          <a:solidFill>
                            <a:srgbClr val="D9D9D9"/>
                          </a:solidFill>
                          <a:latin typeface="Arial"/>
                          <a:cs typeface="Arial"/>
                        </a:rPr>
                        <a:t>" button, or choose from the available poster types. Options include professional paper, fabric for convenient travel, trifold, and other printing materials.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Orders placed and paid for by noon (Pacific Time) from Monday to Friday are typically processed the same day. Shipping options include Next Business Day, Second Business Day, Third Business Day, or Free Ground Delivery.</a:t>
                      </a:r>
                      <a:br>
                        <a:rPr lang="en-US" sz="1400" noProof="0" dirty="0">
                          <a:solidFill>
                            <a:srgbClr val="D9D9D9"/>
                          </a:solidFill>
                          <a:latin typeface="Arial"/>
                          <a:cs typeface="Arial"/>
                        </a:rPr>
                      </a:br>
                      <a:br>
                        <a:rPr lang="en-US" sz="1400" noProof="0" dirty="0">
                          <a:solidFill>
                            <a:srgbClr val="D9D9D9"/>
                          </a:solidFill>
                          <a:latin typeface="Arial"/>
                          <a:cs typeface="Arial"/>
                        </a:rPr>
                      </a:br>
                      <a:r>
                        <a:rPr lang="en-US" sz="1400" noProof="0" dirty="0">
                          <a:solidFill>
                            <a:srgbClr val="D9D9D9"/>
                          </a:solidFill>
                          <a:latin typeface="Arial"/>
                          <a:cs typeface="Arial"/>
                        </a:rPr>
                        <a:t>Go to </a:t>
                      </a:r>
                      <a:r>
                        <a:rPr lang="en-US" sz="1400" noProof="0" dirty="0" err="1">
                          <a:solidFill>
                            <a:srgbClr val="FFC000"/>
                          </a:solidFill>
                          <a:latin typeface="Arial"/>
                          <a:cs typeface="Arial"/>
                        </a:rPr>
                        <a:t>PosterPresentations.com</a:t>
                      </a:r>
                      <a:r>
                        <a:rPr lang="en-US" sz="1400" noProof="0" dirty="0">
                          <a:solidFill>
                            <a:srgbClr val="D9D9D9"/>
                          </a:solidFill>
                          <a:latin typeface="Arial"/>
                          <a:cs typeface="Arial"/>
                        </a:rPr>
                        <a:t> for more information.</a:t>
                      </a:r>
                    </a:p>
                  </a:txBody>
                  <a:tcPr marL="137160" marR="68580" marT="80010" marB="2667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6736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Group printing discounts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We provide event coordinators and conference organizers with a seamless solution for attendees’ poster printing needs. Our service offers discounted, high-quality prints with quick turnaround times and flexible options, ensuring we cater to a wide range of requirements.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For more information, visit this page: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FFC000"/>
                          </a:solidFill>
                          <a:latin typeface="Arial"/>
                          <a:cs typeface="Arial"/>
                        </a:rPr>
                        <a:t>https://</a:t>
                      </a:r>
                      <a:r>
                        <a:rPr lang="en-US" sz="1400" noProof="0" dirty="0" err="1">
                          <a:solidFill>
                            <a:srgbClr val="FFC000"/>
                          </a:solidFill>
                          <a:latin typeface="Arial"/>
                          <a:cs typeface="Arial"/>
                        </a:rPr>
                        <a:t>www.posterpresentations.com</a:t>
                      </a:r>
                      <a:r>
                        <a:rPr lang="en-US" sz="1400" noProof="0" dirty="0">
                          <a:solidFill>
                            <a:srgbClr val="FFC000"/>
                          </a:solidFill>
                          <a:latin typeface="Arial"/>
                          <a:cs typeface="Arial"/>
                        </a:rPr>
                        <a:t>/poster-presentation-services-for-conferences-and-</a:t>
                      </a:r>
                      <a:r>
                        <a:rPr lang="en-US" sz="1400" noProof="0" dirty="0" err="1">
                          <a:solidFill>
                            <a:srgbClr val="FFC000"/>
                          </a:solidFill>
                          <a:latin typeface="Arial"/>
                          <a:cs typeface="Arial"/>
                        </a:rPr>
                        <a:t>events.html</a:t>
                      </a:r>
                      <a:endParaRPr lang="en-US" sz="1400"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FFC000"/>
                        </a:solidFill>
                        <a:latin typeface="Arial"/>
                        <a:cs typeface="Arial"/>
                      </a:endParaRPr>
                    </a:p>
                  </a:txBody>
                  <a:tcPr marL="137160" marR="68580" marT="80010" marB="2667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3546655"/>
                  </a:ext>
                </a:extLst>
              </a:tr>
              <a:tr h="937191">
                <a:tc gridSpan="3">
                  <a:txBody>
                    <a:bodyPr/>
                    <a:lstStyle/>
                    <a:p>
                      <a:endParaRPr lang="en-US" sz="1400" dirty="0">
                        <a:solidFill>
                          <a:srgbClr val="1F3A4E"/>
                        </a:solidFill>
                      </a:endParaRPr>
                    </a:p>
                  </a:txBody>
                  <a:tcPr marL="137160" marR="68580" marT="80010" marB="26670">
                    <a:blipFill dpi="0" rotWithShape="1">
                      <a:blip r:embed="rId10"/>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463346">
                <a:tc gridSpan="2">
                  <a:txBody>
                    <a:bodyPr/>
                    <a:lstStyle/>
                    <a:p>
                      <a:pPr>
                        <a:lnSpc>
                          <a:spcPts val="2600"/>
                        </a:lnSpc>
                      </a:pPr>
                      <a:r>
                        <a:rPr lang="en-US" sz="1200" dirty="0">
                          <a:solidFill>
                            <a:schemeClr val="bg1">
                              <a:lumMod val="85000"/>
                            </a:schemeClr>
                          </a:solidFill>
                          <a:latin typeface="Arial"/>
                          <a:cs typeface="Arial"/>
                        </a:rPr>
                        <a:t>© 2025</a:t>
                      </a:r>
                      <a:r>
                        <a:rPr lang="en-US" sz="1200" baseline="0" dirty="0">
                          <a:solidFill>
                            <a:schemeClr val="bg1">
                              <a:lumMod val="85000"/>
                            </a:schemeClr>
                          </a:solidFill>
                          <a:latin typeface="Arial"/>
                          <a:cs typeface="Arial"/>
                        </a:rPr>
                        <a:t> </a:t>
                      </a:r>
                      <a:r>
                        <a:rPr lang="en-US" sz="1200" dirty="0" err="1">
                          <a:solidFill>
                            <a:schemeClr val="bg1">
                              <a:lumMod val="85000"/>
                            </a:schemeClr>
                          </a:solidFill>
                          <a:latin typeface="Arial"/>
                          <a:cs typeface="Arial"/>
                        </a:rPr>
                        <a:t>PosterPresentations.com</a:t>
                      </a:r>
                      <a:br>
                        <a:rPr lang="en-US" sz="1200" dirty="0">
                          <a:solidFill>
                            <a:schemeClr val="bg1">
                              <a:lumMod val="85000"/>
                            </a:schemeClr>
                          </a:solidFill>
                          <a:latin typeface="Arial"/>
                          <a:cs typeface="Arial"/>
                        </a:rPr>
                      </a:br>
                      <a:r>
                        <a:rPr lang="en-US" sz="1200" dirty="0">
                          <a:solidFill>
                            <a:schemeClr val="bg1">
                              <a:lumMod val="85000"/>
                            </a:schemeClr>
                          </a:solidFill>
                          <a:latin typeface="Arial"/>
                          <a:cs typeface="Arial"/>
                        </a:rPr>
                        <a:t>2117 Fourth Street ,</a:t>
                      </a:r>
                      <a:r>
                        <a:rPr lang="en-US" sz="1200" baseline="0" dirty="0">
                          <a:solidFill>
                            <a:schemeClr val="bg1">
                              <a:lumMod val="85000"/>
                            </a:schemeClr>
                          </a:solidFill>
                          <a:latin typeface="Arial"/>
                          <a:cs typeface="Arial"/>
                        </a:rPr>
                        <a:t> STE C        </a:t>
                      </a:r>
                    </a:p>
                    <a:p>
                      <a:pPr>
                        <a:lnSpc>
                          <a:spcPts val="2600"/>
                        </a:lnSpc>
                      </a:pPr>
                      <a:r>
                        <a:rPr lang="en-US" sz="1200" baseline="0" dirty="0">
                          <a:solidFill>
                            <a:schemeClr val="bg1">
                              <a:lumMod val="85000"/>
                            </a:schemeClr>
                          </a:solidFill>
                          <a:latin typeface="Arial"/>
                          <a:cs typeface="Arial"/>
                        </a:rPr>
                        <a:t>Berkeley CA 94710 USA</a:t>
                      </a:r>
                      <a:endParaRPr lang="en-US" sz="1200" dirty="0">
                        <a:solidFill>
                          <a:schemeClr val="bg1">
                            <a:lumMod val="85000"/>
                          </a:schemeClr>
                        </a:solidFill>
                        <a:latin typeface="Arial"/>
                        <a:cs typeface="Arial"/>
                      </a:endParaRPr>
                    </a:p>
                  </a:txBody>
                  <a:tcPr marL="137160" marR="68580" marT="80010" marB="26670">
                    <a:solidFill>
                      <a:srgbClr val="010101"/>
                    </a:solidFill>
                  </a:tcPr>
                </a:tc>
                <a:tc hMerge="1">
                  <a:txBody>
                    <a:bodyPr/>
                    <a:lstStyle/>
                    <a:p>
                      <a:pPr>
                        <a:lnSpc>
                          <a:spcPts val="2600"/>
                        </a:lnSpc>
                      </a:pPr>
                      <a:endParaRPr lang="en-US" sz="2000" dirty="0">
                        <a:solidFill>
                          <a:schemeClr val="bg1">
                            <a:lumMod val="85000"/>
                          </a:schemeClr>
                        </a:solidFill>
                        <a:latin typeface="Arial"/>
                        <a:cs typeface="Arial"/>
                      </a:endParaRPr>
                    </a:p>
                  </a:txBody>
                  <a:tcPr marL="182880" marT="137160">
                    <a:solidFill>
                      <a:srgbClr val="010101"/>
                    </a:solidFill>
                  </a:tcPr>
                </a:tc>
                <a:tc>
                  <a:txBody>
                    <a:bodyPr/>
                    <a:lstStyle/>
                    <a:p>
                      <a:r>
                        <a:rPr lang="en-US" sz="1100" dirty="0">
                          <a:solidFill>
                            <a:schemeClr val="bg1"/>
                          </a:solidFill>
                          <a:latin typeface="Arial"/>
                          <a:cs typeface="Arial"/>
                        </a:rPr>
                        <a:t>For additional help, visit our online tutorials at </a:t>
                      </a:r>
                      <a:r>
                        <a:rPr lang="en-US" sz="800" dirty="0">
                          <a:solidFill>
                            <a:schemeClr val="bg1"/>
                          </a:solidFill>
                          <a:latin typeface="Arial"/>
                          <a:cs typeface="Arial"/>
                        </a:rPr>
                        <a:t>https://</a:t>
                      </a:r>
                      <a:r>
                        <a:rPr lang="en-US" sz="800" dirty="0" err="1">
                          <a:solidFill>
                            <a:schemeClr val="bg1"/>
                          </a:solidFill>
                          <a:latin typeface="Arial"/>
                          <a:cs typeface="Arial"/>
                        </a:rPr>
                        <a:t>www.posterpresentations.com</a:t>
                      </a:r>
                      <a:r>
                        <a:rPr lang="en-US" sz="800" dirty="0">
                          <a:solidFill>
                            <a:schemeClr val="bg1"/>
                          </a:solidFill>
                          <a:latin typeface="Arial"/>
                          <a:cs typeface="Arial"/>
                        </a:rPr>
                        <a:t>/</a:t>
                      </a:r>
                      <a:r>
                        <a:rPr lang="en-US" sz="800" dirty="0" err="1">
                          <a:solidFill>
                            <a:schemeClr val="bg1"/>
                          </a:solidFill>
                          <a:latin typeface="Arial"/>
                          <a:cs typeface="Arial"/>
                        </a:rPr>
                        <a:t>helpdesk.html</a:t>
                      </a:r>
                      <a:endParaRPr lang="en-US" sz="5800" dirty="0"/>
                    </a:p>
                  </a:txBody>
                  <a:tcPr marL="137160" marR="68580" marT="80010" marB="26670">
                    <a:solidFill>
                      <a:srgbClr val="01010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12762203"/>
      </p:ext>
    </p:extLst>
  </p:cSld>
  <p:clrMap bg1="lt1" tx1="dk1" bg2="lt2" tx2="dk2" accent1="accent1" accent2="accent2" accent3="accent3" accent4="accent4" accent5="accent5" accent6="accent6" hlink="hlink" folHlink="folHlink"/>
  <p:sldLayoutIdLst>
    <p:sldLayoutId id="2147483658" r:id="rId1"/>
  </p:sldLayoutIdLst>
  <p:txStyles>
    <p:titleStyle>
      <a:lvl1pPr algn="ctr" defTabSz="3840404" rtl="0" eaLnBrk="1" latinLnBrk="0" hangingPunct="1">
        <a:spcBef>
          <a:spcPct val="0"/>
        </a:spcBef>
        <a:buNone/>
        <a:defRPr sz="7702" kern="1200">
          <a:solidFill>
            <a:schemeClr val="bg1"/>
          </a:solidFill>
          <a:latin typeface="Trebuchet MS" pitchFamily="34" charset="0"/>
          <a:ea typeface="+mj-ea"/>
          <a:cs typeface="+mj-cs"/>
        </a:defRPr>
      </a:lvl1pPr>
    </p:titleStyle>
    <p:bodyStyle>
      <a:lvl1pPr marL="1440152" indent="-1440152" algn="l" defTabSz="3840404" rtl="0" eaLnBrk="1" latinLnBrk="0" hangingPunct="1">
        <a:spcBef>
          <a:spcPct val="20000"/>
        </a:spcBef>
        <a:buFont typeface="Arial" pitchFamily="34" charset="0"/>
        <a:buChar char="•"/>
        <a:defRPr sz="13475" kern="1200">
          <a:solidFill>
            <a:schemeClr val="tx1"/>
          </a:solidFill>
          <a:latin typeface="+mn-lt"/>
          <a:ea typeface="+mn-ea"/>
          <a:cs typeface="+mn-cs"/>
        </a:defRPr>
      </a:lvl1pPr>
      <a:lvl2pPr marL="3120329" indent="-1200127" algn="l" defTabSz="3840404" rtl="0" eaLnBrk="1" latinLnBrk="0" hangingPunct="1">
        <a:spcBef>
          <a:spcPct val="20000"/>
        </a:spcBef>
        <a:buFont typeface="Arial" pitchFamily="34" charset="0"/>
        <a:buChar char="–"/>
        <a:defRPr sz="11812" kern="1200">
          <a:solidFill>
            <a:schemeClr val="tx1"/>
          </a:solidFill>
          <a:latin typeface="+mn-lt"/>
          <a:ea typeface="+mn-ea"/>
          <a:cs typeface="+mn-cs"/>
        </a:defRPr>
      </a:lvl2pPr>
      <a:lvl3pPr marL="4800508" indent="-960103" algn="l" defTabSz="3840404" rtl="0" eaLnBrk="1" latinLnBrk="0" hangingPunct="1">
        <a:spcBef>
          <a:spcPct val="20000"/>
        </a:spcBef>
        <a:buFont typeface="Arial" pitchFamily="34" charset="0"/>
        <a:buChar char="•"/>
        <a:defRPr sz="10151" kern="1200">
          <a:solidFill>
            <a:schemeClr val="tx1"/>
          </a:solidFill>
          <a:latin typeface="+mn-lt"/>
          <a:ea typeface="+mn-ea"/>
          <a:cs typeface="+mn-cs"/>
        </a:defRPr>
      </a:lvl3pPr>
      <a:lvl4pPr marL="6720710"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4pPr>
      <a:lvl5pPr marL="8640912"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5pPr>
      <a:lvl6pPr marL="10561115"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1314"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1518"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1721"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9pPr>
    </p:bodyStyle>
    <p:otherStyle>
      <a:defPPr>
        <a:defRPr lang="en-US"/>
      </a:defPPr>
      <a:lvl1pPr marL="0" algn="l" defTabSz="3840404" rtl="0" eaLnBrk="1" latinLnBrk="0" hangingPunct="1">
        <a:defRPr sz="7525" kern="1200">
          <a:solidFill>
            <a:schemeClr val="tx1"/>
          </a:solidFill>
          <a:latin typeface="+mn-lt"/>
          <a:ea typeface="+mn-ea"/>
          <a:cs typeface="+mn-cs"/>
        </a:defRPr>
      </a:lvl1pPr>
      <a:lvl2pPr marL="1920203" algn="l" defTabSz="3840404" rtl="0" eaLnBrk="1" latinLnBrk="0" hangingPunct="1">
        <a:defRPr sz="7525" kern="1200">
          <a:solidFill>
            <a:schemeClr val="tx1"/>
          </a:solidFill>
          <a:latin typeface="+mn-lt"/>
          <a:ea typeface="+mn-ea"/>
          <a:cs typeface="+mn-cs"/>
        </a:defRPr>
      </a:lvl2pPr>
      <a:lvl3pPr marL="3840404" algn="l" defTabSz="3840404" rtl="0" eaLnBrk="1" latinLnBrk="0" hangingPunct="1">
        <a:defRPr sz="7525" kern="1200">
          <a:solidFill>
            <a:schemeClr val="tx1"/>
          </a:solidFill>
          <a:latin typeface="+mn-lt"/>
          <a:ea typeface="+mn-ea"/>
          <a:cs typeface="+mn-cs"/>
        </a:defRPr>
      </a:lvl3pPr>
      <a:lvl4pPr marL="5760607" algn="l" defTabSz="3840404" rtl="0" eaLnBrk="1" latinLnBrk="0" hangingPunct="1">
        <a:defRPr sz="7525" kern="1200">
          <a:solidFill>
            <a:schemeClr val="tx1"/>
          </a:solidFill>
          <a:latin typeface="+mn-lt"/>
          <a:ea typeface="+mn-ea"/>
          <a:cs typeface="+mn-cs"/>
        </a:defRPr>
      </a:lvl4pPr>
      <a:lvl5pPr marL="7680810" algn="l" defTabSz="3840404" rtl="0" eaLnBrk="1" latinLnBrk="0" hangingPunct="1">
        <a:defRPr sz="7525" kern="1200">
          <a:solidFill>
            <a:schemeClr val="tx1"/>
          </a:solidFill>
          <a:latin typeface="+mn-lt"/>
          <a:ea typeface="+mn-ea"/>
          <a:cs typeface="+mn-cs"/>
        </a:defRPr>
      </a:lvl5pPr>
      <a:lvl6pPr marL="9601013" algn="l" defTabSz="3840404" rtl="0" eaLnBrk="1" latinLnBrk="0" hangingPunct="1">
        <a:defRPr sz="7525" kern="1200">
          <a:solidFill>
            <a:schemeClr val="tx1"/>
          </a:solidFill>
          <a:latin typeface="+mn-lt"/>
          <a:ea typeface="+mn-ea"/>
          <a:cs typeface="+mn-cs"/>
        </a:defRPr>
      </a:lvl6pPr>
      <a:lvl7pPr marL="11521216" algn="l" defTabSz="3840404" rtl="0" eaLnBrk="1" latinLnBrk="0" hangingPunct="1">
        <a:defRPr sz="7525" kern="1200">
          <a:solidFill>
            <a:schemeClr val="tx1"/>
          </a:solidFill>
          <a:latin typeface="+mn-lt"/>
          <a:ea typeface="+mn-ea"/>
          <a:cs typeface="+mn-cs"/>
        </a:defRPr>
      </a:lvl7pPr>
      <a:lvl8pPr marL="13441417" algn="l" defTabSz="3840404" rtl="0" eaLnBrk="1" latinLnBrk="0" hangingPunct="1">
        <a:defRPr sz="7525" kern="1200">
          <a:solidFill>
            <a:schemeClr val="tx1"/>
          </a:solidFill>
          <a:latin typeface="+mn-lt"/>
          <a:ea typeface="+mn-ea"/>
          <a:cs typeface="+mn-cs"/>
        </a:defRPr>
      </a:lvl8pPr>
      <a:lvl9pPr marL="15361621" algn="l" defTabSz="3840404" rtl="0" eaLnBrk="1" latinLnBrk="0" hangingPunct="1">
        <a:defRPr sz="752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6" userDrawn="1">
          <p15:clr>
            <a:srgbClr val="F26B43"/>
          </p15:clr>
        </p15:guide>
        <p15:guide id="2" userDrawn="1">
          <p15:clr>
            <a:srgbClr val="F26B43"/>
          </p15:clr>
        </p15:guide>
        <p15:guide id="3" pos="20736" userDrawn="1">
          <p15:clr>
            <a:srgbClr val="F26B43"/>
          </p15:clr>
        </p15:guide>
        <p15:guide id="4" orient="horz" pos="1178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BF9F9"/>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48EB6F-BBB5-57EC-F651-041E1003E918}"/>
              </a:ext>
            </a:extLst>
          </p:cNvPr>
          <p:cNvSpPr/>
          <p:nvPr userDrawn="1"/>
        </p:nvSpPr>
        <p:spPr>
          <a:xfrm rot="10800000">
            <a:off x="-22665" y="18726151"/>
            <a:ext cx="32941067" cy="518204"/>
          </a:xfrm>
          <a:prstGeom prst="rect">
            <a:avLst/>
          </a:prstGeom>
          <a:gradFill>
            <a:gsLst>
              <a:gs pos="0">
                <a:srgbClr val="EC018C"/>
              </a:gs>
              <a:gs pos="100000">
                <a:srgbClr val="F8973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p>
        </p:txBody>
      </p:sp>
      <p:sp>
        <p:nvSpPr>
          <p:cNvPr id="10" name="Text Box 14"/>
          <p:cNvSpPr txBox="1">
            <a:spLocks noChangeArrowheads="1"/>
          </p:cNvSpPr>
          <p:nvPr/>
        </p:nvSpPr>
        <p:spPr bwMode="auto">
          <a:xfrm>
            <a:off x="1175480" y="18894699"/>
            <a:ext cx="1885950" cy="395518"/>
          </a:xfrm>
          <a:prstGeom prst="rect">
            <a:avLst/>
          </a:prstGeom>
          <a:noFill/>
          <a:ln w="9525">
            <a:noFill/>
            <a:miter lim="800000"/>
            <a:headEnd/>
            <a:tailEnd/>
          </a:ln>
          <a:effectLst/>
        </p:spPr>
        <p:txBody>
          <a:bodyPr lIns="79856" tIns="39922" rIns="79856" bIns="39922">
            <a:spAutoFit/>
          </a:bodyPr>
          <a:lstStyle/>
          <a:p>
            <a:pPr eaLnBrk="0" hangingPunct="0">
              <a:lnSpc>
                <a:spcPct val="65000"/>
              </a:lnSpc>
              <a:spcBef>
                <a:spcPct val="50000"/>
              </a:spcBef>
              <a:defRPr/>
            </a:pPr>
            <a:r>
              <a:rPr lang="en-US" sz="438" b="1" dirty="0">
                <a:solidFill>
                  <a:schemeClr val="bg1">
                    <a:lumMod val="75000"/>
                  </a:schemeClr>
                </a:solidFill>
                <a:latin typeface="Arial" charset="0"/>
              </a:rPr>
              <a:t>RESEARCH POSTER PRESENTATION DESIGN © 2025</a:t>
            </a:r>
          </a:p>
          <a:p>
            <a:pPr eaLnBrk="0" hangingPunct="0">
              <a:lnSpc>
                <a:spcPct val="65000"/>
              </a:lnSpc>
              <a:spcBef>
                <a:spcPct val="50000"/>
              </a:spcBef>
              <a:defRPr/>
            </a:pPr>
            <a:r>
              <a:rPr lang="en-US" sz="964" b="1" dirty="0">
                <a:solidFill>
                  <a:schemeClr val="bg1">
                    <a:lumMod val="75000"/>
                  </a:schemeClr>
                </a:solidFill>
                <a:latin typeface="Arial" charset="0"/>
              </a:rPr>
              <a:t>www.PosterPresentations.com</a:t>
            </a:r>
          </a:p>
        </p:txBody>
      </p:sp>
      <p:sp>
        <p:nvSpPr>
          <p:cNvPr id="2" name="Rectangle 1">
            <a:extLst>
              <a:ext uri="{FF2B5EF4-FFF2-40B4-BE49-F238E27FC236}">
                <a16:creationId xmlns:a16="http://schemas.microsoft.com/office/drawing/2014/main" id="{B95ADCDC-56BB-267A-F385-295ACAB6EA06}"/>
              </a:ext>
            </a:extLst>
          </p:cNvPr>
          <p:cNvSpPr/>
          <p:nvPr userDrawn="1"/>
        </p:nvSpPr>
        <p:spPr>
          <a:xfrm>
            <a:off x="0" y="8225"/>
            <a:ext cx="32918400" cy="2868327"/>
          </a:xfrm>
          <a:prstGeom prst="rect">
            <a:avLst/>
          </a:prstGeom>
          <a:gradFill>
            <a:gsLst>
              <a:gs pos="0">
                <a:srgbClr val="EC018C"/>
              </a:gs>
              <a:gs pos="100000">
                <a:srgbClr val="F8973A"/>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p>
        </p:txBody>
      </p:sp>
      <p:sp>
        <p:nvSpPr>
          <p:cNvPr id="6" name="Rectangle 5">
            <a:extLst>
              <a:ext uri="{FF2B5EF4-FFF2-40B4-BE49-F238E27FC236}">
                <a16:creationId xmlns:a16="http://schemas.microsoft.com/office/drawing/2014/main" id="{EE7A87B8-B8C5-D3A0-72FE-28C783F3B7A8}"/>
              </a:ext>
            </a:extLst>
          </p:cNvPr>
          <p:cNvSpPr/>
          <p:nvPr userDrawn="1"/>
        </p:nvSpPr>
        <p:spPr>
          <a:xfrm>
            <a:off x="26942144" y="8225"/>
            <a:ext cx="5976257" cy="2868327"/>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8343" h="4917131">
                <a:moveTo>
                  <a:pt x="5943600" y="0"/>
                </a:moveTo>
                <a:lnTo>
                  <a:pt x="7968343" y="0"/>
                </a:lnTo>
                <a:lnTo>
                  <a:pt x="7968343" y="4917131"/>
                </a:lnTo>
                <a:lnTo>
                  <a:pt x="0" y="4917131"/>
                </a:lnTo>
                <a:lnTo>
                  <a:pt x="5943600" y="0"/>
                </a:lnTo>
                <a:close/>
              </a:path>
            </a:pathLst>
          </a:custGeom>
          <a:gradFill>
            <a:gsLst>
              <a:gs pos="2000">
                <a:srgbClr val="EB5D38"/>
              </a:gs>
              <a:gs pos="99000">
                <a:srgbClr val="FC6433"/>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ln>
                <a:noFill/>
              </a:ln>
            </a:endParaRPr>
          </a:p>
        </p:txBody>
      </p:sp>
      <p:sp>
        <p:nvSpPr>
          <p:cNvPr id="8" name="Rectangle 5">
            <a:extLst>
              <a:ext uri="{FF2B5EF4-FFF2-40B4-BE49-F238E27FC236}">
                <a16:creationId xmlns:a16="http://schemas.microsoft.com/office/drawing/2014/main" id="{F3F024EB-F7FE-309C-930F-42451D29C2E6}"/>
              </a:ext>
            </a:extLst>
          </p:cNvPr>
          <p:cNvSpPr/>
          <p:nvPr userDrawn="1"/>
        </p:nvSpPr>
        <p:spPr>
          <a:xfrm>
            <a:off x="31179410" y="808325"/>
            <a:ext cx="1738993" cy="2068227"/>
          </a:xfrm>
          <a:custGeom>
            <a:avLst/>
            <a:gdLst>
              <a:gd name="connsiteX0" fmla="*/ 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0 w 7968343"/>
              <a:gd name="connsiteY4" fmla="*/ 0 h 4917131"/>
              <a:gd name="connsiteX0" fmla="*/ 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0 w 7968343"/>
              <a:gd name="connsiteY4" fmla="*/ 0 h 4917131"/>
              <a:gd name="connsiteX0" fmla="*/ 5943600 w 7968343"/>
              <a:gd name="connsiteY0" fmla="*/ 0 h 4917131"/>
              <a:gd name="connsiteX1" fmla="*/ 7968343 w 7968343"/>
              <a:gd name="connsiteY1" fmla="*/ 0 h 4917131"/>
              <a:gd name="connsiteX2" fmla="*/ 4931229 w 7968343"/>
              <a:gd name="connsiteY2" fmla="*/ 4917131 h 4917131"/>
              <a:gd name="connsiteX3" fmla="*/ 0 w 7968343"/>
              <a:gd name="connsiteY3" fmla="*/ 4917131 h 4917131"/>
              <a:gd name="connsiteX4" fmla="*/ 5943600 w 7968343"/>
              <a:gd name="connsiteY4" fmla="*/ 0 h 4917131"/>
              <a:gd name="connsiteX0" fmla="*/ 5943600 w 7968343"/>
              <a:gd name="connsiteY0" fmla="*/ 0 h 4917131"/>
              <a:gd name="connsiteX1" fmla="*/ 7968343 w 7968343"/>
              <a:gd name="connsiteY1" fmla="*/ 0 h 4917131"/>
              <a:gd name="connsiteX2" fmla="*/ 7968343 w 7968343"/>
              <a:gd name="connsiteY2" fmla="*/ 4917131 h 4917131"/>
              <a:gd name="connsiteX3" fmla="*/ 0 w 7968343"/>
              <a:gd name="connsiteY3" fmla="*/ 4917131 h 4917131"/>
              <a:gd name="connsiteX4" fmla="*/ 5943600 w 7968343"/>
              <a:gd name="connsiteY4" fmla="*/ 0 h 4917131"/>
              <a:gd name="connsiteX0" fmla="*/ 0 w 7968343"/>
              <a:gd name="connsiteY0" fmla="*/ 4917131 h 4917131"/>
              <a:gd name="connsiteX1" fmla="*/ 7968343 w 7968343"/>
              <a:gd name="connsiteY1" fmla="*/ 0 h 4917131"/>
              <a:gd name="connsiteX2" fmla="*/ 7968343 w 7968343"/>
              <a:gd name="connsiteY2" fmla="*/ 4917131 h 4917131"/>
              <a:gd name="connsiteX3" fmla="*/ 0 w 7968343"/>
              <a:gd name="connsiteY3" fmla="*/ 4917131 h 4917131"/>
              <a:gd name="connsiteX0" fmla="*/ 0 w 7968343"/>
              <a:gd name="connsiteY0" fmla="*/ 3512874 h 3512874"/>
              <a:gd name="connsiteX1" fmla="*/ 7968343 w 7968343"/>
              <a:gd name="connsiteY1" fmla="*/ 0 h 3512874"/>
              <a:gd name="connsiteX2" fmla="*/ 7968343 w 7968343"/>
              <a:gd name="connsiteY2" fmla="*/ 3512874 h 3512874"/>
              <a:gd name="connsiteX3" fmla="*/ 0 w 7968343"/>
              <a:gd name="connsiteY3" fmla="*/ 3512874 h 3512874"/>
              <a:gd name="connsiteX0" fmla="*/ 0 w 2253343"/>
              <a:gd name="connsiteY0" fmla="*/ 3545531 h 3545531"/>
              <a:gd name="connsiteX1" fmla="*/ 2253343 w 2253343"/>
              <a:gd name="connsiteY1" fmla="*/ 0 h 3545531"/>
              <a:gd name="connsiteX2" fmla="*/ 2253343 w 2253343"/>
              <a:gd name="connsiteY2" fmla="*/ 3512874 h 3545531"/>
              <a:gd name="connsiteX3" fmla="*/ 0 w 2253343"/>
              <a:gd name="connsiteY3" fmla="*/ 3545531 h 3545531"/>
              <a:gd name="connsiteX0" fmla="*/ 0 w 3135086"/>
              <a:gd name="connsiteY0" fmla="*/ 3545531 h 3545531"/>
              <a:gd name="connsiteX1" fmla="*/ 3135086 w 3135086"/>
              <a:gd name="connsiteY1" fmla="*/ 0 h 3545531"/>
              <a:gd name="connsiteX2" fmla="*/ 3135086 w 3135086"/>
              <a:gd name="connsiteY2" fmla="*/ 3512874 h 3545531"/>
              <a:gd name="connsiteX3" fmla="*/ 0 w 3135086"/>
              <a:gd name="connsiteY3" fmla="*/ 3545531 h 3545531"/>
              <a:gd name="connsiteX0" fmla="*/ 0 w 2318657"/>
              <a:gd name="connsiteY0" fmla="*/ 3545531 h 3545531"/>
              <a:gd name="connsiteX1" fmla="*/ 2318657 w 2318657"/>
              <a:gd name="connsiteY1" fmla="*/ 0 h 3545531"/>
              <a:gd name="connsiteX2" fmla="*/ 2318657 w 2318657"/>
              <a:gd name="connsiteY2" fmla="*/ 3512874 h 3545531"/>
              <a:gd name="connsiteX3" fmla="*/ 0 w 2318657"/>
              <a:gd name="connsiteY3" fmla="*/ 3545531 h 3545531"/>
            </a:gdLst>
            <a:ahLst/>
            <a:cxnLst>
              <a:cxn ang="0">
                <a:pos x="connsiteX0" y="connsiteY0"/>
              </a:cxn>
              <a:cxn ang="0">
                <a:pos x="connsiteX1" y="connsiteY1"/>
              </a:cxn>
              <a:cxn ang="0">
                <a:pos x="connsiteX2" y="connsiteY2"/>
              </a:cxn>
              <a:cxn ang="0">
                <a:pos x="connsiteX3" y="connsiteY3"/>
              </a:cxn>
            </a:cxnLst>
            <a:rect l="l" t="t" r="r" b="b"/>
            <a:pathLst>
              <a:path w="2318657" h="3545531">
                <a:moveTo>
                  <a:pt x="0" y="3545531"/>
                </a:moveTo>
                <a:lnTo>
                  <a:pt x="2318657" y="0"/>
                </a:lnTo>
                <a:lnTo>
                  <a:pt x="2318657" y="3512874"/>
                </a:lnTo>
                <a:lnTo>
                  <a:pt x="0" y="3545531"/>
                </a:lnTo>
                <a:close/>
              </a:path>
            </a:pathLst>
          </a:custGeom>
          <a:solidFill>
            <a:srgbClr val="EF31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525">
              <a:ln>
                <a:noFill/>
              </a:ln>
            </a:endParaRPr>
          </a:p>
        </p:txBody>
      </p:sp>
      <p:graphicFrame>
        <p:nvGraphicFramePr>
          <p:cNvPr id="7" name="Table 6">
            <a:extLst>
              <a:ext uri="{FF2B5EF4-FFF2-40B4-BE49-F238E27FC236}">
                <a16:creationId xmlns:a16="http://schemas.microsoft.com/office/drawing/2014/main" id="{0366876C-7C0F-854A-6596-79126BFA1BB5}"/>
              </a:ext>
            </a:extLst>
          </p:cNvPr>
          <p:cNvGraphicFramePr>
            <a:graphicFrameLocks noGrp="1"/>
          </p:cNvGraphicFramePr>
          <p:nvPr userDrawn="1">
            <p:extLst>
              <p:ext uri="{D42A27DB-BD31-4B8C-83A1-F6EECF244321}">
                <p14:modId xmlns:p14="http://schemas.microsoft.com/office/powerpoint/2010/main" val="4206352149"/>
              </p:ext>
            </p:extLst>
          </p:nvPr>
        </p:nvGraphicFramePr>
        <p:xfrm>
          <a:off x="-6787479" y="29688"/>
          <a:ext cx="5976258" cy="19172713"/>
        </p:xfrm>
        <a:graphic>
          <a:graphicData uri="http://schemas.openxmlformats.org/drawingml/2006/table">
            <a:tbl>
              <a:tblPr firstRow="1" bandRow="1">
                <a:tableStyleId>{5C22544A-7EE6-4342-B048-85BDC9FD1C3A}</a:tableStyleId>
              </a:tblPr>
              <a:tblGrid>
                <a:gridCol w="2562572">
                  <a:extLst>
                    <a:ext uri="{9D8B030D-6E8A-4147-A177-3AD203B41FA5}">
                      <a16:colId xmlns:a16="http://schemas.microsoft.com/office/drawing/2014/main" val="20000"/>
                    </a:ext>
                  </a:extLst>
                </a:gridCol>
                <a:gridCol w="3413686">
                  <a:extLst>
                    <a:ext uri="{9D8B030D-6E8A-4147-A177-3AD203B41FA5}">
                      <a16:colId xmlns:a16="http://schemas.microsoft.com/office/drawing/2014/main" val="20001"/>
                    </a:ext>
                  </a:extLst>
                </a:gridCol>
              </a:tblGrid>
              <a:tr h="712046">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100" b="0" spc="600" dirty="0">
                          <a:solidFill>
                            <a:srgbClr val="1F3A4E"/>
                          </a:solidFill>
                          <a:latin typeface="Arial Black" panose="020B0A04020102020204" pitchFamily="34" charset="0"/>
                        </a:rPr>
                        <a:t>QUICK START GUIDE</a:t>
                      </a:r>
                      <a:br>
                        <a:rPr lang="en-US" sz="21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APPEAR ON THE POSTER)</a:t>
                      </a:r>
                      <a:endParaRPr lang="en-US" sz="2100" b="1" spc="600" dirty="0">
                        <a:solidFill>
                          <a:schemeClr val="bg1"/>
                        </a:solidFill>
                        <a:latin typeface="Trebuchet MS" pitchFamily="34" charset="0"/>
                      </a:endParaRPr>
                    </a:p>
                  </a:txBody>
                  <a:tcPr marL="137160" marR="68580" marT="80010" marB="2667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277202">
                <a:tc gridSpan="2">
                  <a:txBody>
                    <a:bodyPr/>
                    <a:lstStyle/>
                    <a:p>
                      <a:pPr defTabSz="3765639"/>
                      <a:r>
                        <a:rPr lang="en-US" sz="1200" b="0" i="0" dirty="0">
                          <a:solidFill>
                            <a:srgbClr val="D9D9D9"/>
                          </a:solidFill>
                          <a:latin typeface="Arial"/>
                          <a:cs typeface="Arial"/>
                        </a:rPr>
                        <a:t>This PowerPoint template is designed to create a </a:t>
                      </a:r>
                      <a:r>
                        <a:rPr lang="en-US" sz="1200" b="1" i="0" dirty="0">
                          <a:solidFill>
                            <a:srgbClr val="FFC000"/>
                          </a:solidFill>
                          <a:latin typeface="Arial"/>
                          <a:cs typeface="Arial"/>
                        </a:rPr>
                        <a:t>36"x48" </a:t>
                      </a:r>
                      <a:r>
                        <a:rPr lang="en-US" sz="1200" b="0" i="0" dirty="0">
                          <a:solidFill>
                            <a:srgbClr val="D9D9D9"/>
                          </a:solidFill>
                          <a:latin typeface="Arial"/>
                          <a:cs typeface="Arial"/>
                        </a:rPr>
                        <a:t>research poster. Simply add your title, subtitle, text, tables, charts, and photos to customize your poster.</a:t>
                      </a:r>
                    </a:p>
                    <a:p>
                      <a:pPr defTabSz="3765639"/>
                      <a:endParaRPr lang="en-US" sz="1200" b="0" i="0" dirty="0">
                        <a:solidFill>
                          <a:srgbClr val="D9D9D9"/>
                        </a:solidFill>
                        <a:latin typeface="Arial"/>
                        <a:cs typeface="Arial"/>
                      </a:endParaRPr>
                    </a:p>
                    <a:p>
                      <a:pPr defTabSz="3765639"/>
                      <a:r>
                        <a:rPr lang="en-US" sz="1200" b="0" i="0" dirty="0">
                          <a:solidFill>
                            <a:srgbClr val="D9D9D9"/>
                          </a:solidFill>
                          <a:latin typeface="Arial"/>
                          <a:cs typeface="Arial"/>
                        </a:rPr>
                        <a:t>To assist you in the design process and address any poster-related questions, we offer a series of online tutorials. Visit </a:t>
                      </a:r>
                      <a:r>
                        <a:rPr lang="en-US" sz="1200" b="1" i="0" dirty="0" err="1">
                          <a:solidFill>
                            <a:srgbClr val="FFC000"/>
                          </a:solidFill>
                          <a:latin typeface="Arial"/>
                          <a:cs typeface="Arial"/>
                        </a:rPr>
                        <a:t>PosterPresentations.com</a:t>
                      </a:r>
                      <a:r>
                        <a:rPr lang="en-US" sz="1200" b="1" i="0" dirty="0">
                          <a:solidFill>
                            <a:srgbClr val="FFC000"/>
                          </a:solidFill>
                          <a:latin typeface="Arial"/>
                          <a:cs typeface="Arial"/>
                        </a:rPr>
                        <a:t> </a:t>
                      </a:r>
                      <a:r>
                        <a:rPr lang="en-US" sz="1200" b="0" i="0" dirty="0">
                          <a:solidFill>
                            <a:srgbClr val="D9D9D9"/>
                          </a:solidFill>
                          <a:latin typeface="Arial"/>
                          <a:cs typeface="Arial"/>
                        </a:rPr>
                        <a:t>and select the </a:t>
                      </a:r>
                      <a:r>
                        <a:rPr lang="en-US" sz="1200" b="1" i="0" dirty="0">
                          <a:solidFill>
                            <a:srgbClr val="FFC000"/>
                          </a:solidFill>
                          <a:latin typeface="Arial"/>
                          <a:cs typeface="Arial"/>
                        </a:rPr>
                        <a:t>Tutorials </a:t>
                      </a:r>
                      <a:r>
                        <a:rPr lang="en-US" sz="1200" b="0" i="0" dirty="0">
                          <a:solidFill>
                            <a:srgbClr val="D9D9D9"/>
                          </a:solidFill>
                          <a:latin typeface="Arial"/>
                          <a:cs typeface="Arial"/>
                        </a:rPr>
                        <a:t>tab for detailed guidance.</a:t>
                      </a:r>
                    </a:p>
                    <a:p>
                      <a:pPr defTabSz="3765639"/>
                      <a:endParaRPr lang="en-US" sz="1200" b="0" i="0" dirty="0">
                        <a:solidFill>
                          <a:srgbClr val="D9D9D9"/>
                        </a:solidFill>
                        <a:latin typeface="Arial"/>
                        <a:cs typeface="Arial"/>
                      </a:endParaRPr>
                    </a:p>
                    <a:p>
                      <a:pPr defTabSz="3765639"/>
                      <a:r>
                        <a:rPr lang="en-US" sz="1200" b="0" i="0" dirty="0">
                          <a:solidFill>
                            <a:srgbClr val="D9D9D9"/>
                          </a:solidFill>
                          <a:latin typeface="Arial"/>
                          <a:cs typeface="Arial"/>
                        </a:rPr>
                        <a:t>For same-day professional printing of your poster, go to </a:t>
                      </a:r>
                      <a:r>
                        <a:rPr lang="en-US" sz="1200" b="1" i="0" dirty="0" err="1">
                          <a:solidFill>
                            <a:srgbClr val="FFC000"/>
                          </a:solidFill>
                          <a:latin typeface="Arial"/>
                          <a:cs typeface="Arial"/>
                        </a:rPr>
                        <a:t>PosterPresentations.com</a:t>
                      </a:r>
                      <a:r>
                        <a:rPr lang="en-US" sz="1200" b="1" i="0" dirty="0">
                          <a:solidFill>
                            <a:srgbClr val="FFC000"/>
                          </a:solidFill>
                          <a:latin typeface="Arial"/>
                          <a:cs typeface="Arial"/>
                        </a:rPr>
                        <a:t> </a:t>
                      </a:r>
                      <a:r>
                        <a:rPr lang="en-US" sz="1200" b="0" i="0" dirty="0">
                          <a:solidFill>
                            <a:srgbClr val="D9D9D9"/>
                          </a:solidFill>
                          <a:latin typeface="Arial"/>
                          <a:cs typeface="Arial"/>
                        </a:rPr>
                        <a:t>and click on the ”</a:t>
                      </a:r>
                      <a:r>
                        <a:rPr lang="en-US" sz="1200" b="1" i="0" dirty="0">
                          <a:solidFill>
                            <a:srgbClr val="FFC000"/>
                          </a:solidFill>
                          <a:latin typeface="Arial"/>
                          <a:cs typeface="Arial"/>
                        </a:rPr>
                        <a:t>PRINT</a:t>
                      </a:r>
                      <a:r>
                        <a:rPr lang="en-US" sz="1200" b="0" i="0" dirty="0">
                          <a:solidFill>
                            <a:srgbClr val="D9D9D9"/>
                          </a:solidFill>
                          <a:latin typeface="Arial"/>
                          <a:cs typeface="Arial"/>
                        </a:rPr>
                        <a:t>” button or click on any of our poster options.</a:t>
                      </a:r>
                      <a:endParaRPr lang="en-US" sz="1200" b="0" dirty="0">
                        <a:solidFill>
                          <a:srgbClr val="D9D9D9"/>
                        </a:solidFill>
                        <a:latin typeface="Arial"/>
                        <a:cs typeface="Arial"/>
                      </a:endParaRPr>
                    </a:p>
                  </a:txBody>
                  <a:tcPr marL="137160" marR="68580" marT="80010" marB="2667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449577">
                <a:tc>
                  <a:txBody>
                    <a:bodyPr/>
                    <a:lstStyle/>
                    <a:p>
                      <a:pPr algn="ctr"/>
                      <a:endParaRPr lang="en-US" sz="1200" dirty="0">
                        <a:solidFill>
                          <a:srgbClr val="1F3A4E"/>
                        </a:solidFill>
                      </a:endParaRPr>
                    </a:p>
                    <a:p>
                      <a:pPr algn="ctr"/>
                      <a:endParaRPr lang="en-US" sz="1200" dirty="0">
                        <a:solidFill>
                          <a:srgbClr val="1F3A4E"/>
                        </a:solidFill>
                      </a:endParaRP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This is a template for a</a:t>
                      </a:r>
                    </a:p>
                    <a:p>
                      <a:pPr marL="0" marR="0" lvl="0" indent="0" algn="ctr" defTabSz="2507943"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presentation poster </a:t>
                      </a:r>
                      <a:br>
                        <a:rPr kumimoji="0" lang="en-US" sz="13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42 inches tall</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by</a:t>
                      </a:r>
                      <a:br>
                        <a:rPr lang="en-US" sz="1800" b="1" dirty="0">
                          <a:solidFill>
                            <a:srgbClr val="FFC000"/>
                          </a:solidFill>
                          <a:latin typeface="Arial" panose="020B0604020202020204" pitchFamily="34" charset="0"/>
                          <a:cs typeface="Arial" panose="020B0604020202020204" pitchFamily="34" charset="0"/>
                        </a:rPr>
                      </a:br>
                      <a:r>
                        <a:rPr lang="en-US" sz="1800" b="1" dirty="0">
                          <a:solidFill>
                            <a:srgbClr val="FFC000"/>
                          </a:solidFill>
                          <a:latin typeface="Arial" panose="020B0604020202020204" pitchFamily="34" charset="0"/>
                          <a:cs typeface="Arial" panose="020B0604020202020204" pitchFamily="34" charset="0"/>
                        </a:rPr>
                        <a:t>72 inches wide</a:t>
                      </a:r>
                      <a:br>
                        <a:rPr lang="en-US" sz="1200" dirty="0">
                          <a:solidFill>
                            <a:schemeClr val="bg1"/>
                          </a:solidFill>
                          <a:latin typeface="Arial" panose="020B0604020202020204" pitchFamily="34" charset="0"/>
                          <a:cs typeface="Arial" panose="020B0604020202020204" pitchFamily="34" charset="0"/>
                        </a:rPr>
                      </a:br>
                      <a:endParaRPr lang="en-US" sz="1200" dirty="0">
                        <a:solidFill>
                          <a:srgbClr val="1F3A4E"/>
                        </a:solidFill>
                      </a:endParaRPr>
                    </a:p>
                  </a:txBody>
                  <a:tcPr marL="68580" marR="68580" marT="26670" marB="2667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Important: Check the template size</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D9D9D9"/>
                          </a:solidFill>
                          <a:latin typeface="Arial" panose="020B0604020202020204" pitchFamily="34" charset="0"/>
                          <a:cs typeface="Arial" panose="020B0604020202020204" pitchFamily="34" charset="0"/>
                        </a:rPr>
                        <a:t>Before starting your poster, ensure you have downloaded the correct template size to avoid printing issues.</a:t>
                      </a:r>
                    </a:p>
                    <a:p>
                      <a:pPr marL="0" marR="0" indent="0" algn="l" defTabSz="4388900" rtl="0" eaLnBrk="1" fontAlgn="auto" latinLnBrk="0" hangingPunct="1">
                        <a:lnSpc>
                          <a:spcPct val="100000"/>
                        </a:lnSpc>
                        <a:spcBef>
                          <a:spcPts val="0"/>
                        </a:spcBef>
                        <a:spcAft>
                          <a:spcPts val="0"/>
                        </a:spcAft>
                        <a:buClrTx/>
                        <a:buSzTx/>
                        <a:buFontTx/>
                        <a:buNone/>
                        <a:tabLst/>
                        <a:defRPr/>
                      </a:pPr>
                      <a:endParaRPr lang="en-US" sz="1200" b="0" baseline="0" dirty="0">
                        <a:solidFill>
                          <a:srgbClr val="D9D9D9"/>
                        </a:solidFill>
                        <a:latin typeface="Arial" panose="020B0604020202020204" pitchFamily="34" charset="0"/>
                        <a:cs typeface="Arial" panose="020B0604020202020204" pitchFamily="34" charset="0"/>
                      </a:endParaRPr>
                    </a:p>
                    <a:p>
                      <a:pPr marL="0" marR="0" indent="0" algn="l" defTabSz="4388900" rtl="0" eaLnBrk="1" fontAlgn="auto" latinLnBrk="0" hangingPunct="1">
                        <a:lnSpc>
                          <a:spcPct val="100000"/>
                        </a:lnSpc>
                        <a:spcBef>
                          <a:spcPts val="0"/>
                        </a:spcBef>
                        <a:spcAft>
                          <a:spcPts val="0"/>
                        </a:spcAft>
                        <a:buClrTx/>
                        <a:buSzTx/>
                        <a:buFontTx/>
                        <a:buNone/>
                        <a:tabLst/>
                        <a:defRPr/>
                      </a:pPr>
                      <a:r>
                        <a:rPr lang="en-US" sz="1200" b="0" baseline="0" dirty="0">
                          <a:solidFill>
                            <a:srgbClr val="D9D9D9"/>
                          </a:solidFill>
                          <a:latin typeface="Arial" panose="020B0604020202020204" pitchFamily="34" charset="0"/>
                          <a:cs typeface="Arial" panose="020B0604020202020204" pitchFamily="34" charset="0"/>
                        </a:rPr>
                        <a:t>This template can also be printed in the following sizes without distortion or additional formatting:</a:t>
                      </a:r>
                      <a:br>
                        <a:rPr lang="en-US" sz="1200" b="0" baseline="0" dirty="0">
                          <a:solidFill>
                            <a:srgbClr val="D9D9D9"/>
                          </a:solidFill>
                          <a:latin typeface="Arial" panose="020B0604020202020204" pitchFamily="34" charset="0"/>
                          <a:cs typeface="Arial" panose="020B0604020202020204" pitchFamily="34" charset="0"/>
                        </a:rPr>
                      </a:br>
                      <a:r>
                        <a:rPr lang="en-US" sz="1200" b="0" baseline="0" dirty="0">
                          <a:solidFill>
                            <a:srgbClr val="FFC000"/>
                          </a:solidFill>
                          <a:latin typeface="Arial" panose="020B0604020202020204" pitchFamily="34" charset="0"/>
                          <a:cs typeface="Arial" panose="020B0604020202020204" pitchFamily="34" charset="0"/>
                        </a:rPr>
                        <a:t>36 tall x 61.70 wide</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FFC000"/>
                          </a:solidFill>
                          <a:latin typeface="Arial" panose="020B0604020202020204" pitchFamily="34" charset="0"/>
                          <a:cs typeface="Arial" panose="020B0604020202020204" pitchFamily="34" charset="0"/>
                        </a:rPr>
                        <a:t>48 tall x 82.28 wide</a:t>
                      </a:r>
                    </a:p>
                  </a:txBody>
                  <a:tcPr marL="137160" marR="68580" marT="80010" marB="26670">
                    <a:solidFill>
                      <a:srgbClr val="010101"/>
                    </a:solidFill>
                  </a:tcPr>
                </a:tc>
                <a:extLst>
                  <a:ext uri="{0D108BD9-81ED-4DB2-BD59-A6C34878D82A}">
                    <a16:rowId xmlns:a16="http://schemas.microsoft.com/office/drawing/2014/main" val="10008"/>
                  </a:ext>
                </a:extLst>
              </a:tr>
              <a:tr h="2443090">
                <a:tc>
                  <a:txBody>
                    <a:bodyPr/>
                    <a:lstStyle/>
                    <a:p>
                      <a:endParaRPr lang="en-US" sz="1200" dirty="0">
                        <a:solidFill>
                          <a:srgbClr val="1F3A4E"/>
                        </a:solidFill>
                      </a:endParaRPr>
                    </a:p>
                  </a:txBody>
                  <a:tcPr marL="68580" marR="68580" marT="26670" marB="26670">
                    <a:blipFill rotWithShape="1">
                      <a:blip r:embed="rId3"/>
                      <a:stretch>
                        <a:fillRect/>
                      </a:stretch>
                    </a:blipFill>
                  </a:tcPr>
                </a:tc>
                <a:tc>
                  <a:txBody>
                    <a:bodyPr/>
                    <a:lstStyle/>
                    <a:p>
                      <a:pPr algn="l"/>
                      <a:r>
                        <a:rPr lang="en-US" sz="1400" b="1" baseline="0" dirty="0">
                          <a:solidFill>
                            <a:srgbClr val="FFC000"/>
                          </a:solidFill>
                          <a:latin typeface="Arial" panose="020B0604020202020204" pitchFamily="34" charset="0"/>
                          <a:cs typeface="Arial" panose="020B0604020202020204" pitchFamily="34" charset="0"/>
                        </a:rPr>
                        <a:t>How to </a:t>
                      </a:r>
                      <a:r>
                        <a:rPr lang="en-US" sz="2300" b="1" baseline="0" dirty="0">
                          <a:solidFill>
                            <a:srgbClr val="FFC000"/>
                          </a:solidFill>
                          <a:latin typeface="Arial" panose="020B0604020202020204" pitchFamily="34" charset="0"/>
                          <a:cs typeface="Arial" panose="020B0604020202020204" pitchFamily="34" charset="0"/>
                        </a:rPr>
                        <a:t>Zoom in </a:t>
                      </a:r>
                      <a:r>
                        <a:rPr lang="en-US" sz="1400" b="1" baseline="0" dirty="0">
                          <a:solidFill>
                            <a:srgbClr val="FFC000"/>
                          </a:solidFill>
                          <a:latin typeface="Arial" panose="020B0604020202020204" pitchFamily="34" charset="0"/>
                          <a:cs typeface="Arial" panose="020B0604020202020204" pitchFamily="34" charset="0"/>
                        </a:rPr>
                        <a:t>and </a:t>
                      </a:r>
                      <a:r>
                        <a:rPr lang="en-US" sz="1100" b="1" baseline="0" dirty="0">
                          <a:solidFill>
                            <a:srgbClr val="FFC000"/>
                          </a:solidFill>
                          <a:latin typeface="Arial" panose="020B0604020202020204" pitchFamily="34" charset="0"/>
                          <a:cs typeface="Arial" panose="020B0604020202020204" pitchFamily="34" charset="0"/>
                        </a:rPr>
                        <a:t>out</a:t>
                      </a:r>
                      <a:endParaRPr lang="en-US" sz="1400" b="1" baseline="0" dirty="0">
                        <a:solidFill>
                          <a:srgbClr val="FFC000"/>
                        </a:solidFill>
                        <a:latin typeface="Arial" panose="020B0604020202020204" pitchFamily="34" charset="0"/>
                        <a:cs typeface="Arial" panose="020B0604020202020204" pitchFamily="34" charset="0"/>
                      </a:endParaRPr>
                    </a:p>
                    <a:p>
                      <a:pPr algn="l"/>
                      <a:r>
                        <a:rPr lang="en-US" sz="1200" b="0" baseline="0" dirty="0">
                          <a:solidFill>
                            <a:srgbClr val="D9D9D9"/>
                          </a:solidFill>
                          <a:latin typeface="Arial" panose="020B0604020202020204" pitchFamily="34" charset="0"/>
                          <a:cs typeface="Arial" panose="020B0604020202020204" pitchFamily="34" charset="0"/>
                        </a:rPr>
                        <a:t>Use the PowerPoint zoom tool to adjust the screen magnification for comfortable viewing. PowerPoint offers two ways to zoom:</a:t>
                      </a:r>
                    </a:p>
                    <a:p>
                      <a:pPr algn="l"/>
                      <a:endParaRPr lang="en-US" sz="1200" b="0" baseline="0" dirty="0">
                        <a:solidFill>
                          <a:srgbClr val="D9D9D9"/>
                        </a:solidFill>
                        <a:latin typeface="Arial" panose="020B0604020202020204" pitchFamily="34" charset="0"/>
                        <a:cs typeface="Arial" panose="020B0604020202020204" pitchFamily="34" charset="0"/>
                      </a:endParaRPr>
                    </a:p>
                    <a:p>
                      <a:pPr algn="l"/>
                      <a:r>
                        <a:rPr lang="en-US" sz="1200" b="0" baseline="0" dirty="0">
                          <a:solidFill>
                            <a:srgbClr val="D9D9D9"/>
                          </a:solidFill>
                          <a:latin typeface="Arial" panose="020B0604020202020204" pitchFamily="34" charset="0"/>
                          <a:cs typeface="Arial" panose="020B0604020202020204" pitchFamily="34" charset="0"/>
                        </a:rPr>
                        <a:t>1. Click the VIEW tab in the top menu bar, then select ZOOM. Choose the zoom percentage that suits you best.</a:t>
                      </a:r>
                    </a:p>
                    <a:p>
                      <a:pPr algn="l"/>
                      <a:r>
                        <a:rPr lang="en-US" sz="1200" b="0" baseline="0" dirty="0">
                          <a:solidFill>
                            <a:srgbClr val="D9D9D9"/>
                          </a:solidFill>
                          <a:latin typeface="Arial" panose="020B0604020202020204" pitchFamily="34" charset="0"/>
                          <a:cs typeface="Arial" panose="020B0604020202020204" pitchFamily="34" charset="0"/>
                        </a:rPr>
                        <a:t>2. Use the zoom slider located at the bottom-right corner of the window for more flexible adjustments.</a:t>
                      </a:r>
                    </a:p>
                  </a:txBody>
                  <a:tcPr marL="137160" marR="68580" marT="80010" marB="26670">
                    <a:solidFill>
                      <a:srgbClr val="010101"/>
                    </a:solidFill>
                  </a:tcPr>
                </a:tc>
                <a:extLst>
                  <a:ext uri="{0D108BD9-81ED-4DB2-BD59-A6C34878D82A}">
                    <a16:rowId xmlns:a16="http://schemas.microsoft.com/office/drawing/2014/main" val="10001"/>
                  </a:ext>
                </a:extLst>
              </a:tr>
              <a:tr h="116876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Ruler and Guides</a:t>
                      </a:r>
                      <a:br>
                        <a:rPr lang="en-US" sz="1200" b="0" baseline="0" dirty="0">
                          <a:solidFill>
                            <a:srgbClr val="FFC000"/>
                          </a:solidFill>
                          <a:latin typeface="Arial" panose="020B0604020202020204" pitchFamily="34" charset="0"/>
                          <a:cs typeface="Arial" panose="020B0604020202020204" pitchFamily="34" charset="0"/>
                        </a:rPr>
                      </a:br>
                      <a:r>
                        <a:rPr lang="en-US" sz="1200" b="0" baseline="0" dirty="0">
                          <a:solidFill>
                            <a:srgbClr val="D9D9D9"/>
                          </a:solidFill>
                          <a:latin typeface="Arial" panose="020B0604020202020204" pitchFamily="34" charset="0"/>
                          <a:cs typeface="Arial" panose="020B0604020202020204" pitchFamily="34" charset="0"/>
                        </a:rPr>
                        <a:t>The thin lines on this poster template are alignment guides. Horizontal and vertical guides help you position poster elements accurately. Text boxes and other elements will "snap" to the guides, ensuring they stay within the column boundaries.</a:t>
                      </a:r>
                    </a:p>
                    <a:p>
                      <a:pPr marL="0" marR="0" lvl="0" indent="0" algn="l" defTabSz="4388900" rtl="0" eaLnBrk="1" fontAlgn="auto" latinLnBrk="0" hangingPunct="1">
                        <a:lnSpc>
                          <a:spcPct val="100000"/>
                        </a:lnSpc>
                        <a:spcBef>
                          <a:spcPts val="0"/>
                        </a:spcBef>
                        <a:spcAft>
                          <a:spcPts val="0"/>
                        </a:spcAft>
                        <a:buClrTx/>
                        <a:buSzTx/>
                        <a:buFontTx/>
                        <a:buNone/>
                        <a:tabLst/>
                        <a:defRPr/>
                      </a:pPr>
                      <a:r>
                        <a:rPr lang="en-US" sz="1200" b="0" baseline="0" dirty="0">
                          <a:solidFill>
                            <a:srgbClr val="D9D9D9"/>
                          </a:solidFill>
                          <a:latin typeface="Arial" panose="020B0604020202020204" pitchFamily="34" charset="0"/>
                          <a:cs typeface="Arial" panose="020B0604020202020204" pitchFamily="34" charset="0"/>
                        </a:rPr>
                        <a:t>To hide the guides, go to the VIEW tab and uncheck the Guides box.</a:t>
                      </a:r>
                    </a:p>
                  </a:txBody>
                  <a:tcPr marL="68580" marR="68580" marT="26670" marB="26670">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307363">
                <a:tc>
                  <a:txBody>
                    <a:bodyPr/>
                    <a:lstStyle/>
                    <a:p>
                      <a:endParaRPr lang="en-US" sz="1200" dirty="0">
                        <a:solidFill>
                          <a:srgbClr val="1F3A4E"/>
                        </a:solidFill>
                      </a:endParaRPr>
                    </a:p>
                  </a:txBody>
                  <a:tcPr marL="68580" marR="68580" marT="26670" marB="26670">
                    <a:blipFill rotWithShape="1">
                      <a:blip r:embed="rId4"/>
                      <a:stretch>
                        <a:fillRect/>
                      </a:stretch>
                    </a:blipFill>
                  </a:tcPr>
                </a:tc>
                <a:tc>
                  <a:txBody>
                    <a:bodyPr/>
                    <a:lstStyle/>
                    <a:p>
                      <a:pPr marL="0" lvl="1" indent="0" algn="l" defTabSz="114300"/>
                      <a:r>
                        <a:rPr lang="en-US" sz="1400" b="1" baseline="0" dirty="0">
                          <a:solidFill>
                            <a:srgbClr val="FFC000"/>
                          </a:solidFill>
                          <a:latin typeface="Arial" panose="020B0604020202020204" pitchFamily="34" charset="0"/>
                          <a:cs typeface="Arial" panose="020B0604020202020204" pitchFamily="34" charset="0"/>
                        </a:rPr>
                        <a:t>Headers and text containers</a:t>
                      </a:r>
                      <a:br>
                        <a:rPr lang="en-US" sz="1200" b="0" baseline="0" dirty="0">
                          <a:solidFill>
                            <a:schemeClr val="bg1"/>
                          </a:solidFill>
                          <a:latin typeface="Arial" panose="020B0604020202020204" pitchFamily="34" charset="0"/>
                          <a:cs typeface="Arial" panose="020B0604020202020204" pitchFamily="34" charset="0"/>
                        </a:rPr>
                      </a:br>
                      <a:r>
                        <a:rPr lang="en-US" sz="1200" b="0" baseline="0" dirty="0">
                          <a:solidFill>
                            <a:schemeClr val="bg1"/>
                          </a:solidFill>
                          <a:latin typeface="Arial" panose="020B0604020202020204" pitchFamily="34" charset="0"/>
                          <a:cs typeface="Arial" panose="020B0604020202020204" pitchFamily="34" charset="0"/>
                        </a:rPr>
                        <a:t>This template includes commonly used section headers, such as Abstract, Objectives, Methods, and Results.</a:t>
                      </a:r>
                    </a:p>
                    <a:p>
                      <a:pPr marL="0" lvl="1" indent="0" algn="l" defTabSz="114300"/>
                      <a:endParaRPr lang="en-US" sz="1200" b="0" baseline="0" dirty="0">
                        <a:solidFill>
                          <a:schemeClr val="bg1"/>
                        </a:solidFill>
                        <a:latin typeface="Arial" panose="020B0604020202020204" pitchFamily="34" charset="0"/>
                        <a:cs typeface="Arial" panose="020B0604020202020204" pitchFamily="34" charset="0"/>
                      </a:endParaRP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Click inside a section header to add text.</a:t>
                      </a: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To create a new header, click the edge of the section box to outline it, then copy and paste it.</a:t>
                      </a:r>
                    </a:p>
                    <a:p>
                      <a:pPr marL="0" lvl="1" indent="0" algn="l" defTabSz="114300"/>
                      <a:r>
                        <a:rPr lang="en-US" sz="1200" b="0" baseline="0" dirty="0">
                          <a:solidFill>
                            <a:schemeClr val="bg1"/>
                          </a:solidFill>
                          <a:latin typeface="Arial" panose="020B0604020202020204" pitchFamily="34" charset="0"/>
                          <a:cs typeface="Arial" panose="020B0604020202020204" pitchFamily="34" charset="0"/>
                        </a:rPr>
                        <a:t>To resize a header, click on the white circles and drag to the desired size.</a:t>
                      </a:r>
                      <a:endParaRPr lang="en-US" sz="1200" b="0" baseline="0" dirty="0">
                        <a:solidFill>
                          <a:srgbClr val="D9D9D9"/>
                        </a:solidFill>
                        <a:latin typeface="Arial" panose="020B0604020202020204" pitchFamily="34" charset="0"/>
                        <a:cs typeface="Arial" panose="020B0604020202020204" pitchFamily="34" charset="0"/>
                      </a:endParaRPr>
                    </a:p>
                  </a:txBody>
                  <a:tcPr marL="137160" marR="68580" marT="80010" marB="26670">
                    <a:solidFill>
                      <a:srgbClr val="010101"/>
                    </a:solidFill>
                  </a:tcPr>
                </a:tc>
                <a:extLst>
                  <a:ext uri="{0D108BD9-81ED-4DB2-BD59-A6C34878D82A}">
                    <a16:rowId xmlns:a16="http://schemas.microsoft.com/office/drawing/2014/main" val="10003"/>
                  </a:ext>
                </a:extLst>
              </a:tr>
              <a:tr h="2073611">
                <a:tc gridSpan="2">
                  <a:txBody>
                    <a:bodyPr/>
                    <a:lstStyle/>
                    <a:p>
                      <a:r>
                        <a:rPr lang="en-US" sz="1400" b="1" dirty="0">
                          <a:solidFill>
                            <a:srgbClr val="FFC000"/>
                          </a:solidFill>
                          <a:latin typeface="Arial" panose="020B0604020202020204" pitchFamily="34" charset="0"/>
                          <a:cs typeface="Arial" panose="020B0604020202020204" pitchFamily="34" charset="0"/>
                        </a:rPr>
                        <a:t>Adding content to the poster</a:t>
                      </a:r>
                    </a:p>
                    <a:p>
                      <a:r>
                        <a:rPr lang="en-US" sz="1200" baseline="0" dirty="0">
                          <a:solidFill>
                            <a:srgbClr val="D9D9D9"/>
                          </a:solidFill>
                          <a:latin typeface="Arial" panose="020B0604020202020204" pitchFamily="34" charset="0"/>
                          <a:cs typeface="Arial" panose="020B0604020202020204" pitchFamily="34" charset="0"/>
                        </a:rPr>
                        <a:t>Start by adding text to each section without worrying too much about formatting. Use the default font size initially, even if the text overflows beyond the poster’s boundaries or doesn’t completely fill the space. Add all your content, including text, graphics, and photos.</a:t>
                      </a:r>
                    </a:p>
                    <a:p>
                      <a:endParaRPr lang="en-US" sz="1200" baseline="0" dirty="0">
                        <a:solidFill>
                          <a:srgbClr val="D9D9D9"/>
                        </a:solidFill>
                        <a:latin typeface="Arial" panose="020B0604020202020204" pitchFamily="34" charset="0"/>
                        <a:cs typeface="Arial" panose="020B0604020202020204" pitchFamily="34" charset="0"/>
                      </a:endParaRPr>
                    </a:p>
                    <a:p>
                      <a:r>
                        <a:rPr lang="en-US" sz="1200" baseline="0" dirty="0">
                          <a:solidFill>
                            <a:srgbClr val="D9D9D9"/>
                          </a:solidFill>
                          <a:latin typeface="Arial" panose="020B0604020202020204" pitchFamily="34" charset="0"/>
                          <a:cs typeface="Arial" panose="020B0604020202020204" pitchFamily="34" charset="0"/>
                        </a:rPr>
                        <a:t>Once everything is in place, go back and adjust the size of your text, images, and other visual elements to distribute the content evenly across the poster.</a:t>
                      </a:r>
                    </a:p>
                    <a:p>
                      <a:endParaRPr lang="en-US" sz="1200" baseline="0" dirty="0">
                        <a:solidFill>
                          <a:srgbClr val="D9D9D9"/>
                        </a:solidFill>
                        <a:latin typeface="Arial" panose="020B0604020202020204" pitchFamily="34" charset="0"/>
                        <a:cs typeface="Arial" panose="020B0604020202020204" pitchFamily="34" charset="0"/>
                      </a:endParaRPr>
                    </a:p>
                    <a:p>
                      <a:r>
                        <a:rPr lang="en-US" sz="1200" baseline="0" dirty="0">
                          <a:solidFill>
                            <a:srgbClr val="D9D9D9"/>
                          </a:solidFill>
                          <a:latin typeface="Arial" panose="020B0604020202020204" pitchFamily="34" charset="0"/>
                          <a:cs typeface="Arial" panose="020B0604020202020204" pitchFamily="34" charset="0"/>
                        </a:rPr>
                        <a:t>Make sure everything is aligned correctly before you finalize your poster.</a:t>
                      </a:r>
                    </a:p>
                  </a:txBody>
                  <a:tcPr marL="68580" marR="68580" marT="26670" marB="26670">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40251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a:ea typeface="+mn-ea"/>
                          <a:cs typeface="Arial"/>
                        </a:rPr>
                        <a:t>To add photos, you can drag and drop them from your desktop, copy and paste, or go to INSERT &gt; PICTURES in the menu.</a:t>
                      </a:r>
                    </a:p>
                    <a:p>
                      <a:pPr marL="0" marR="0" lvl="0" indent="0" algn="l" defTabSz="9779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D9D9D9"/>
                        </a:solidFill>
                        <a:effectLst/>
                        <a:uLnTx/>
                        <a:uFillTx/>
                        <a:latin typeface="Arial"/>
                        <a:ea typeface="+mn-ea"/>
                        <a:cs typeface="Arial"/>
                      </a:endParaRP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9D9D9"/>
                          </a:solidFill>
                          <a:effectLst/>
                          <a:uLnTx/>
                          <a:uFillTx/>
                          <a:latin typeface="Arial"/>
                          <a:ea typeface="+mn-ea"/>
                          <a:cs typeface="Arial"/>
                        </a:rPr>
                        <a:t>To resize images proportionally, drag one of the white corner handles (small circles or squares). The middle handles will stretch and distort your image. </a:t>
                      </a:r>
                    </a:p>
                  </a:txBody>
                  <a:tcPr marL="137160" marR="68580" marT="80010" marB="2667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228519">
                <a:tc gridSpan="2">
                  <a:txBody>
                    <a:bodyPr/>
                    <a:lstStyle/>
                    <a:p>
                      <a:endParaRPr lang="en-US" sz="1200" dirty="0">
                        <a:solidFill>
                          <a:schemeClr val="bg1"/>
                        </a:solidFill>
                        <a:latin typeface="Arial" panose="020B0604020202020204" pitchFamily="34" charset="0"/>
                        <a:cs typeface="Arial" panose="020B0604020202020204" pitchFamily="34" charset="0"/>
                      </a:endParaRPr>
                    </a:p>
                  </a:txBody>
                  <a:tcPr marL="137160" marR="68580" marT="80010" marB="2667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0251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200" noProof="0" dirty="0">
                          <a:solidFill>
                            <a:srgbClr val="D9D9D9"/>
                          </a:solidFill>
                          <a:latin typeface="Arial"/>
                          <a:cs typeface="Arial"/>
                        </a:rPr>
                        <a:t>Zoom in on your images to a magnification level of 100%-200% in PowerPoint to check their clarity. This allows you to preview how the images will appear when printed. If the images look sharp and clear at this zoom level, they will likely print well without losing quality. However, if the images appear blurry or pixelated, consider using higher-resolution versions to ensure they print properly.</a:t>
                      </a:r>
                    </a:p>
                  </a:txBody>
                  <a:tcPr marL="137160" marR="68580" marT="80010" marB="2667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70751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200" noProof="0" dirty="0">
                        <a:solidFill>
                          <a:schemeClr val="bg1"/>
                        </a:solidFill>
                        <a:latin typeface="Arial"/>
                        <a:cs typeface="Arial"/>
                      </a:endParaRPr>
                    </a:p>
                  </a:txBody>
                  <a:tcPr marL="137160" marR="68580" marT="80010" marB="2667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3" name="Table 2">
            <a:extLst>
              <a:ext uri="{FF2B5EF4-FFF2-40B4-BE49-F238E27FC236}">
                <a16:creationId xmlns:a16="http://schemas.microsoft.com/office/drawing/2014/main" id="{938262A2-FFB5-A34C-0CDA-AE4865E59B0C}"/>
              </a:ext>
            </a:extLst>
          </p:cNvPr>
          <p:cNvGraphicFramePr>
            <a:graphicFrameLocks noGrp="1"/>
          </p:cNvGraphicFramePr>
          <p:nvPr userDrawn="1">
            <p:extLst>
              <p:ext uri="{D42A27DB-BD31-4B8C-83A1-F6EECF244321}">
                <p14:modId xmlns:p14="http://schemas.microsoft.com/office/powerpoint/2010/main" val="689495701"/>
              </p:ext>
            </p:extLst>
          </p:nvPr>
        </p:nvGraphicFramePr>
        <p:xfrm>
          <a:off x="33708974" y="0"/>
          <a:ext cx="6467830" cy="19202399"/>
        </p:xfrm>
        <a:graphic>
          <a:graphicData uri="http://schemas.openxmlformats.org/drawingml/2006/table">
            <a:tbl>
              <a:tblPr firstRow="1" bandRow="1">
                <a:tableStyleId>{5C22544A-7EE6-4342-B048-85BDC9FD1C3A}</a:tableStyleId>
              </a:tblPr>
              <a:tblGrid>
                <a:gridCol w="2892673">
                  <a:extLst>
                    <a:ext uri="{9D8B030D-6E8A-4147-A177-3AD203B41FA5}">
                      <a16:colId xmlns:a16="http://schemas.microsoft.com/office/drawing/2014/main" val="20000"/>
                    </a:ext>
                  </a:extLst>
                </a:gridCol>
                <a:gridCol w="441797">
                  <a:extLst>
                    <a:ext uri="{9D8B030D-6E8A-4147-A177-3AD203B41FA5}">
                      <a16:colId xmlns:a16="http://schemas.microsoft.com/office/drawing/2014/main" val="3519466302"/>
                    </a:ext>
                  </a:extLst>
                </a:gridCol>
                <a:gridCol w="3133360">
                  <a:extLst>
                    <a:ext uri="{9D8B030D-6E8A-4147-A177-3AD203B41FA5}">
                      <a16:colId xmlns:a16="http://schemas.microsoft.com/office/drawing/2014/main" val="4164475170"/>
                    </a:ext>
                  </a:extLst>
                </a:gridCol>
              </a:tblGrid>
              <a:tr h="80015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300" b="0" spc="600" dirty="0">
                          <a:solidFill>
                            <a:srgbClr val="1F3A4E"/>
                          </a:solidFill>
                          <a:latin typeface="Arial Black" panose="020B0A04020102020204" pitchFamily="34" charset="0"/>
                        </a:rPr>
                        <a:t>QUICK START GUIDE</a:t>
                      </a:r>
                      <a:br>
                        <a:rPr lang="en-US" sz="2300" b="0" spc="600" dirty="0">
                          <a:solidFill>
                            <a:srgbClr val="1F3A4E"/>
                          </a:solidFill>
                          <a:latin typeface="Arial Black" panose="020B0A04020102020204" pitchFamily="34" charset="0"/>
                        </a:rPr>
                      </a:br>
                      <a:r>
                        <a:rPr lang="en-US" sz="1900" b="1" spc="0" dirty="0">
                          <a:solidFill>
                            <a:srgbClr val="FF0000"/>
                          </a:solidFill>
                          <a:latin typeface="Trebuchet MS" pitchFamily="34" charset="0"/>
                        </a:rPr>
                        <a:t>(THIS SIDEBAR WILL APPEAR ON THE POSTER)</a:t>
                      </a:r>
                      <a:endParaRPr lang="en-US" sz="2300" b="1" spc="600" dirty="0">
                        <a:solidFill>
                          <a:schemeClr val="bg1"/>
                        </a:solidFill>
                        <a:latin typeface="Trebuchet MS" pitchFamily="34" charset="0"/>
                      </a:endParaRPr>
                    </a:p>
                  </a:txBody>
                  <a:tcPr marL="137160" marR="68580" marT="80010" marB="2667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15673">
                <a:tc>
                  <a:txBody>
                    <a:bodyPr/>
                    <a:lstStyle/>
                    <a:p>
                      <a:endParaRPr lang="en-US" sz="1200" u="none" dirty="0">
                        <a:solidFill>
                          <a:srgbClr val="FFC000"/>
                        </a:solidFill>
                      </a:endParaRPr>
                    </a:p>
                  </a:txBody>
                  <a:tcPr marL="137160" marR="68580" marT="80010" marB="26670">
                    <a:blipFill>
                      <a:blip r:embed="rId7"/>
                      <a:stretch>
                        <a:fillRect/>
                      </a:stretch>
                    </a:blipFill>
                  </a:tcPr>
                </a:tc>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Most templates offer several layout configurations, including options for four, three, two, or one column. To change the column configuration of your poster, go to the Home tab and select Layout. A drop-down menu will display all available layout options for the template.</a:t>
                      </a:r>
                      <a:endParaRPr lang="en-US" sz="1200" u="none" dirty="0">
                        <a:solidFill>
                          <a:srgbClr val="FFC000"/>
                        </a:solidFill>
                      </a:endParaRPr>
                    </a:p>
                  </a:txBody>
                  <a:tcPr marL="137160" marR="68580" marT="80010" marB="26670">
                    <a:solidFill>
                      <a:schemeClr val="tx1"/>
                    </a:solidFill>
                  </a:tcPr>
                </a:tc>
                <a:tc hMerge="1">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 to change the column layout configuration</a:t>
                      </a: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To manually adjust the column configuration, go to VIEW &gt; SLIDE MASTER. From there, you can delete, resize, or modify the columns to suit your layout. When finished, remember to exit the MASTER by clicking on VIEW &gt; NORMAL</a:t>
                      </a:r>
                    </a:p>
                    <a:p>
                      <a:pPr marL="0" marR="0" lvl="0" indent="0" algn="l" defTabSz="43889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endParaRPr>
                    </a:p>
                    <a:p>
                      <a:pPr marL="0" marR="0" lvl="0" indent="0" algn="l" defTabSz="4388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panose="020B0604020202020204" pitchFamily="34" charset="0"/>
                          <a:ea typeface="+mn-ea"/>
                          <a:cs typeface="Arial" panose="020B0604020202020204" pitchFamily="34" charset="0"/>
                        </a:rPr>
                        <a:t>For step-by-step guidance, refer to the tutorial here: </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https://</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www.posterpresentations.com</a:t>
                      </a:r>
                      <a:r>
                        <a:rPr kumimoji="0" lang="en-US" sz="2400" b="0" i="0" u="none" strike="noStrike" kern="120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rPr>
                        <a:t>/how-to-change-the-column-</a:t>
                      </a:r>
                      <a:r>
                        <a:rPr kumimoji="0" lang="en-US" sz="2400" b="0" i="0" u="none" strike="noStrike" kern="1200" cap="none" spc="0" normalizeH="0" baseline="0" noProof="0" dirty="0" err="1">
                          <a:ln>
                            <a:noFill/>
                          </a:ln>
                          <a:solidFill>
                            <a:srgbClr val="FFC000"/>
                          </a:solidFill>
                          <a:effectLst/>
                          <a:uLnTx/>
                          <a:uFillTx/>
                          <a:latin typeface="Arial" panose="020B0604020202020204" pitchFamily="34" charset="0"/>
                          <a:ea typeface="+mn-ea"/>
                          <a:cs typeface="Arial" panose="020B0604020202020204" pitchFamily="34" charset="0"/>
                        </a:rPr>
                        <a:t>configuration.html</a:t>
                      </a:r>
                      <a:endParaRPr kumimoji="0" lang="en-US" sz="2000" b="0" i="0" u="none" strike="noStrike" kern="1200" cap="none" spc="0" normalizeH="0" baseline="0" noProof="0" dirty="0">
                        <a:ln>
                          <a:noFill/>
                        </a:ln>
                        <a:solidFill>
                          <a:srgbClr val="FFC000"/>
                        </a:solidFill>
                        <a:effectLst/>
                        <a:uLnTx/>
                        <a:uFillTx/>
                        <a:latin typeface="+mn-lt"/>
                        <a:ea typeface="+mn-ea"/>
                        <a:cs typeface="+mn-cs"/>
                      </a:endParaRPr>
                    </a:p>
                  </a:txBody>
                  <a:tcPr marL="182880" marT="137160">
                    <a:solidFill>
                      <a:schemeClr val="tx1"/>
                    </a:solidFill>
                  </a:tcPr>
                </a:tc>
                <a:extLst>
                  <a:ext uri="{0D108BD9-81ED-4DB2-BD59-A6C34878D82A}">
                    <a16:rowId xmlns:a16="http://schemas.microsoft.com/office/drawing/2014/main" val="10004"/>
                  </a:ext>
                </a:extLst>
              </a:tr>
              <a:tr h="141399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1. Click on the View tab, and then click Slide Master</a:t>
                      </a:r>
                    </a:p>
                  </a:txBody>
                  <a:tcPr marL="137160" marR="68580" marT="80010" marB="26670">
                    <a:blipFill>
                      <a:blip r:embed="rId8"/>
                      <a:stretch>
                        <a:fillRect/>
                      </a:stretch>
                    </a:blipFill>
                  </a:tcPr>
                </a:tc>
                <a:tc rowSpan="3"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The Quick Start Guides are positioned outside the template's printable area, so they will not appear on the printed poster.</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If you save the file as a PDF using the Save As menu, the guides will also be excluded.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Alternatively, you can remove them directly from the Slide Master.</a:t>
                      </a:r>
                    </a:p>
                  </a:txBody>
                  <a:tcPr marL="137160" marR="68580" marT="80010" marB="26670">
                    <a:solidFill>
                      <a:srgbClr val="010101"/>
                    </a:solidFill>
                  </a:tcPr>
                </a:tc>
                <a:tc rowSpan="3"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delete the QUICK START GUIDE bars from the sides of this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the SAVES AS menu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Alternatively, you can delete them from the Slide Master. </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94304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panose="020B0604020202020204" pitchFamily="34" charset="0"/>
                        <a:cs typeface="Arial" panose="020B0604020202020204" pitchFamily="34" charset="0"/>
                      </a:endParaRPr>
                    </a:p>
                  </a:txBody>
                  <a:tcPr marL="137160" marR="68580" marT="80010" marB="26670">
                    <a:blipFill>
                      <a:blip r:embed="rId9"/>
                      <a:stretch>
                        <a:fillRect/>
                      </a:stretch>
                    </a:blip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a:blip r:embed="rId9"/>
                      <a:stretch>
                        <a:fillRect/>
                      </a:stretch>
                    </a:blipFill>
                  </a:tcPr>
                </a:tc>
                <a:tc hMerge="1" vMerge="1">
                  <a:txBody>
                    <a:bodyPr/>
                    <a:lstStyle/>
                    <a:p>
                      <a:endParaRPr lang="en-US"/>
                    </a:p>
                  </a:txBody>
                  <a:tcPr/>
                </a:tc>
                <a:extLst>
                  <a:ext uri="{0D108BD9-81ED-4DB2-BD59-A6C34878D82A}">
                    <a16:rowId xmlns:a16="http://schemas.microsoft.com/office/drawing/2014/main" val="3063495530"/>
                  </a:ext>
                </a:extLst>
              </a:tr>
              <a:tr h="1586036">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2. Select the Master you are working on.</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panose="020B0604020202020204" pitchFamily="34" charset="0"/>
                          <a:cs typeface="Arial" panose="020B0604020202020204" pitchFamily="34" charset="0"/>
                        </a:rPr>
                        <a:t>3. Click on the border of the Guide box and delete.</a:t>
                      </a:r>
                      <a:br>
                        <a:rPr lang="en-US" sz="1400" noProof="0" dirty="0">
                          <a:solidFill>
                            <a:srgbClr val="D9D9D9"/>
                          </a:solidFill>
                          <a:latin typeface="Arial" panose="020B0604020202020204" pitchFamily="34" charset="0"/>
                          <a:cs typeface="Arial" panose="020B0604020202020204" pitchFamily="34" charset="0"/>
                        </a:rPr>
                      </a:br>
                      <a:r>
                        <a:rPr lang="en-US" sz="1400" noProof="0" dirty="0">
                          <a:solidFill>
                            <a:srgbClr val="D9D9D9"/>
                          </a:solidFill>
                          <a:latin typeface="Arial" panose="020B0604020202020204" pitchFamily="34" charset="0"/>
                          <a:cs typeface="Arial" panose="020B0604020202020204" pitchFamily="34" charset="0"/>
                        </a:rPr>
                        <a:t>4. IMPORTANT: Do not forget to exit the Master when finished.</a:t>
                      </a:r>
                    </a:p>
                  </a:txBody>
                  <a:tcPr marL="137160" marR="68580" marT="80010" marB="2667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766341567"/>
                  </a:ext>
                </a:extLst>
              </a:tr>
              <a:tr h="2713885">
                <a:tc>
                  <a:txBody>
                    <a:bodyPr/>
                    <a:lstStyle/>
                    <a:p>
                      <a:r>
                        <a:rPr lang="en-US" sz="1600" b="1" dirty="0">
                          <a:solidFill>
                            <a:srgbClr val="FFC000"/>
                          </a:solidFill>
                          <a:latin typeface="Arial" panose="020B0604020202020204" pitchFamily="34" charset="0"/>
                          <a:cs typeface="Arial" panose="020B0604020202020204" pitchFamily="34" charset="0"/>
                        </a:rPr>
                        <a:t>How to</a:t>
                      </a:r>
                      <a:r>
                        <a:rPr lang="en-US" sz="1600" b="1" baseline="0" dirty="0">
                          <a:solidFill>
                            <a:srgbClr val="FFC000"/>
                          </a:solidFill>
                          <a:latin typeface="Arial" panose="020B0604020202020204" pitchFamily="34" charset="0"/>
                          <a:cs typeface="Arial" panose="020B0604020202020204" pitchFamily="34" charset="0"/>
                        </a:rPr>
                        <a:t> preview your poster prior to printing</a:t>
                      </a:r>
                      <a:endParaRPr lang="en-US" sz="1600" b="1" dirty="0">
                        <a:solidFill>
                          <a:srgbClr val="FFC000"/>
                        </a:solidFill>
                        <a:latin typeface="Arial" panose="020B0604020202020204" pitchFamily="34" charset="0"/>
                        <a:cs typeface="Arial" panose="020B0604020202020204" pitchFamily="34" charset="0"/>
                      </a:endParaRPr>
                    </a:p>
                    <a:p>
                      <a:r>
                        <a:rPr lang="en-US" sz="1400" dirty="0">
                          <a:solidFill>
                            <a:srgbClr val="D9D9D9"/>
                          </a:solidFill>
                          <a:latin typeface="Arial" panose="020B0604020202020204" pitchFamily="34" charset="0"/>
                          <a:cs typeface="Arial" panose="020B0604020202020204" pitchFamily="34" charset="0"/>
                        </a:rPr>
                        <a:t>You can preview your poster at any time by pressing the </a:t>
                      </a:r>
                      <a:r>
                        <a:rPr lang="en-US" sz="1400" b="1" dirty="0">
                          <a:solidFill>
                            <a:srgbClr val="FFC000"/>
                          </a:solidFill>
                          <a:latin typeface="Arial" panose="020B0604020202020204" pitchFamily="34" charset="0"/>
                          <a:cs typeface="Arial" panose="020B0604020202020204" pitchFamily="34" charset="0"/>
                        </a:rPr>
                        <a:t>F5 key </a:t>
                      </a:r>
                      <a:r>
                        <a:rPr lang="en-US" sz="1400" dirty="0">
                          <a:solidFill>
                            <a:srgbClr val="D9D9D9"/>
                          </a:solidFill>
                          <a:latin typeface="Arial" panose="020B0604020202020204" pitchFamily="34" charset="0"/>
                          <a:cs typeface="Arial" panose="020B0604020202020204" pitchFamily="34" charset="0"/>
                        </a:rPr>
                        <a:t>on your keyboard (Windows) or by clicking on the SLIDESHOW tab. This will display your poster on the screen, showing how it will appear when printed. To exit the preview, press the </a:t>
                      </a:r>
                      <a:r>
                        <a:rPr lang="en-US" sz="1400" b="1" dirty="0">
                          <a:solidFill>
                            <a:srgbClr val="FFC000"/>
                          </a:solidFill>
                          <a:latin typeface="Arial" panose="020B0604020202020204" pitchFamily="34" charset="0"/>
                          <a:cs typeface="Arial" panose="020B0604020202020204" pitchFamily="34" charset="0"/>
                        </a:rPr>
                        <a:t>ESC</a:t>
                      </a:r>
                      <a:r>
                        <a:rPr lang="en-US" sz="1400" dirty="0">
                          <a:solidFill>
                            <a:srgbClr val="D9D9D9"/>
                          </a:solidFill>
                          <a:latin typeface="Arial" panose="020B0604020202020204" pitchFamily="34" charset="0"/>
                          <a:cs typeface="Arial" panose="020B0604020202020204" pitchFamily="34" charset="0"/>
                        </a:rPr>
                        <a:t> key.</a:t>
                      </a:r>
                    </a:p>
                  </a:txBody>
                  <a:tcPr marL="137160" marR="68580" marT="80010" marB="26670">
                    <a:solidFill>
                      <a:srgbClr val="010101"/>
                    </a:solidFill>
                  </a:tcPr>
                </a:tc>
                <a:tc gridSpan="2">
                  <a:txBody>
                    <a:bodyPr/>
                    <a:lstStyle/>
                    <a:p>
                      <a:pPr algn="ctr"/>
                      <a:r>
                        <a:rPr lang="en-US" sz="6800" b="1" dirty="0">
                          <a:solidFill>
                            <a:srgbClr val="D9D9D9"/>
                          </a:solidFill>
                          <a:latin typeface="Arial" panose="020B0604020202020204" pitchFamily="34" charset="0"/>
                          <a:cs typeface="Arial" panose="020B0604020202020204" pitchFamily="34" charset="0"/>
                        </a:rPr>
                        <a:t>F5</a:t>
                      </a:r>
                      <a:br>
                        <a:rPr lang="en-US" sz="6800" b="1" dirty="0">
                          <a:solidFill>
                            <a:srgbClr val="D9D9D9"/>
                          </a:solidFill>
                          <a:latin typeface="Arial" panose="020B0604020202020204" pitchFamily="34" charset="0"/>
                          <a:cs typeface="Arial" panose="020B0604020202020204" pitchFamily="34" charset="0"/>
                        </a:rPr>
                      </a:br>
                      <a:r>
                        <a:rPr lang="en-US" sz="1600" b="1" dirty="0">
                          <a:solidFill>
                            <a:srgbClr val="D9D9D9"/>
                          </a:solidFill>
                          <a:latin typeface="Arial" panose="020B0604020202020204" pitchFamily="34" charset="0"/>
                          <a:cs typeface="Arial" panose="020B0604020202020204" pitchFamily="34" charset="0"/>
                        </a:rPr>
                        <a:t>(Windows)</a:t>
                      </a:r>
                      <a:br>
                        <a:rPr lang="en-US" sz="1600" b="1" dirty="0">
                          <a:solidFill>
                            <a:srgbClr val="D9D9D9"/>
                          </a:solidFill>
                          <a:latin typeface="Arial" panose="020B0604020202020204" pitchFamily="34" charset="0"/>
                          <a:cs typeface="Arial" panose="020B0604020202020204" pitchFamily="34" charset="0"/>
                        </a:rPr>
                      </a:br>
                      <a:r>
                        <a:rPr lang="en-US" sz="1600" b="1" dirty="0">
                          <a:solidFill>
                            <a:srgbClr val="D9D9D9"/>
                          </a:solidFill>
                          <a:latin typeface="Arial" panose="020B0604020202020204" pitchFamily="34" charset="0"/>
                          <a:cs typeface="Arial" panose="020B0604020202020204" pitchFamily="34" charset="0"/>
                        </a:rPr>
                        <a:t>Or click on the SLIDESHOW tab (Mac and Windows)</a:t>
                      </a:r>
                      <a:endParaRPr lang="en-US" sz="1400" dirty="0">
                        <a:solidFill>
                          <a:srgbClr val="D9D9D9"/>
                        </a:solidFill>
                        <a:latin typeface="Arial" panose="020B0604020202020204" pitchFamily="34" charset="0"/>
                        <a:cs typeface="Arial" panose="020B0604020202020204" pitchFamily="34" charset="0"/>
                      </a:endParaRPr>
                    </a:p>
                  </a:txBody>
                  <a:tcPr marL="137160" marR="68580" marT="80010" marB="26670" anchor="ctr">
                    <a:solidFill>
                      <a:schemeClr val="tx1">
                        <a:lumMod val="95000"/>
                        <a:lumOff val="5000"/>
                      </a:schemeClr>
                    </a:solidFill>
                  </a:tcPr>
                </a:tc>
                <a:tc hMerge="1">
                  <a:txBody>
                    <a:bodyPr/>
                    <a:lstStyle/>
                    <a:p>
                      <a:pPr algn="ctr"/>
                      <a:r>
                        <a:rPr lang="en-US" sz="11500" b="1" dirty="0">
                          <a:solidFill>
                            <a:srgbClr val="D9D9D9"/>
                          </a:solidFill>
                          <a:latin typeface="Arial" panose="020B0604020202020204" pitchFamily="34" charset="0"/>
                          <a:cs typeface="Arial" panose="020B0604020202020204" pitchFamily="34" charset="0"/>
                        </a:rPr>
                        <a:t>F5</a:t>
                      </a:r>
                      <a:br>
                        <a:rPr lang="en-US" sz="11500" b="1" dirty="0">
                          <a:solidFill>
                            <a:srgbClr val="D9D9D9"/>
                          </a:solidFill>
                          <a:latin typeface="Arial" panose="020B0604020202020204" pitchFamily="34" charset="0"/>
                          <a:cs typeface="Arial" panose="020B0604020202020204" pitchFamily="34" charset="0"/>
                        </a:rPr>
                      </a:br>
                      <a:r>
                        <a:rPr lang="en-US" sz="2800" b="1" dirty="0">
                          <a:solidFill>
                            <a:srgbClr val="D9D9D9"/>
                          </a:solidFill>
                          <a:latin typeface="Arial" panose="020B0604020202020204" pitchFamily="34" charset="0"/>
                          <a:cs typeface="Arial" panose="020B0604020202020204" pitchFamily="34" charset="0"/>
                        </a:rPr>
                        <a:t>or click on the SLIDESHOW tab</a:t>
                      </a:r>
                      <a:r>
                        <a:rPr lang="en-US" sz="5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2755472">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Printing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To print your poster, visit </a:t>
                      </a:r>
                      <a:r>
                        <a:rPr lang="en-US" sz="1400" noProof="0" dirty="0" err="1">
                          <a:solidFill>
                            <a:srgbClr val="FFC000"/>
                          </a:solidFill>
                          <a:latin typeface="Arial"/>
                          <a:cs typeface="Arial"/>
                        </a:rPr>
                        <a:t>PosterPresentations.com</a:t>
                      </a:r>
                      <a:r>
                        <a:rPr lang="en-US" sz="1400" noProof="0" dirty="0">
                          <a:solidFill>
                            <a:srgbClr val="FFC000"/>
                          </a:solidFill>
                          <a:latin typeface="Arial"/>
                          <a:cs typeface="Arial"/>
                        </a:rPr>
                        <a:t> </a:t>
                      </a:r>
                      <a:r>
                        <a:rPr lang="en-US" sz="1400" noProof="0" dirty="0">
                          <a:solidFill>
                            <a:srgbClr val="D9D9D9"/>
                          </a:solidFill>
                          <a:latin typeface="Arial"/>
                          <a:cs typeface="Arial"/>
                        </a:rPr>
                        <a:t>and click the "</a:t>
                      </a:r>
                      <a:r>
                        <a:rPr lang="en-US" sz="1400" noProof="0" dirty="0">
                          <a:solidFill>
                            <a:srgbClr val="FFC000"/>
                          </a:solidFill>
                          <a:latin typeface="Arial"/>
                          <a:cs typeface="Arial"/>
                        </a:rPr>
                        <a:t>PRINT</a:t>
                      </a:r>
                      <a:r>
                        <a:rPr lang="en-US" sz="1400" noProof="0" dirty="0">
                          <a:solidFill>
                            <a:srgbClr val="D9D9D9"/>
                          </a:solidFill>
                          <a:latin typeface="Arial"/>
                          <a:cs typeface="Arial"/>
                        </a:rPr>
                        <a:t>" button, or choose from the available poster types. Options include professional paper, fabric for convenient travel, trifold, and other printing materials.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Orders placed and paid for by noon (Pacific Time) from Monday to Friday are typically processed the same day. Shipping options include Next Business Day, Second Business Day, Third Business Day, or Free Ground Delivery.</a:t>
                      </a:r>
                      <a:br>
                        <a:rPr lang="en-US" sz="1400" noProof="0" dirty="0">
                          <a:solidFill>
                            <a:srgbClr val="D9D9D9"/>
                          </a:solidFill>
                          <a:latin typeface="Arial"/>
                          <a:cs typeface="Arial"/>
                        </a:rPr>
                      </a:br>
                      <a:br>
                        <a:rPr lang="en-US" sz="1400" noProof="0" dirty="0">
                          <a:solidFill>
                            <a:srgbClr val="D9D9D9"/>
                          </a:solidFill>
                          <a:latin typeface="Arial"/>
                          <a:cs typeface="Arial"/>
                        </a:rPr>
                      </a:br>
                      <a:r>
                        <a:rPr lang="en-US" sz="1400" noProof="0" dirty="0">
                          <a:solidFill>
                            <a:srgbClr val="D9D9D9"/>
                          </a:solidFill>
                          <a:latin typeface="Arial"/>
                          <a:cs typeface="Arial"/>
                        </a:rPr>
                        <a:t>Go to </a:t>
                      </a:r>
                      <a:r>
                        <a:rPr lang="en-US" sz="1400" noProof="0" dirty="0" err="1">
                          <a:solidFill>
                            <a:srgbClr val="FFC000"/>
                          </a:solidFill>
                          <a:latin typeface="Arial"/>
                          <a:cs typeface="Arial"/>
                        </a:rPr>
                        <a:t>PosterPresentations.com</a:t>
                      </a:r>
                      <a:r>
                        <a:rPr lang="en-US" sz="1400" noProof="0" dirty="0">
                          <a:solidFill>
                            <a:srgbClr val="D9D9D9"/>
                          </a:solidFill>
                          <a:latin typeface="Arial"/>
                          <a:cs typeface="Arial"/>
                        </a:rPr>
                        <a:t> for more information.</a:t>
                      </a:r>
                    </a:p>
                  </a:txBody>
                  <a:tcPr marL="137160" marR="68580" marT="80010" marB="2667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6736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Group printing discounts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We provide event coordinators and conference organizers with a seamless solution for attendees’ poster printing needs. Our service offers discounted, high-quality prints with quick turnaround times and flexible options, ensuring we cater to a wide range of requirements.</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D9D9D9"/>
                          </a:solidFill>
                          <a:latin typeface="Arial"/>
                          <a:cs typeface="Arial"/>
                        </a:rPr>
                        <a:t>For more information, visit this page: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400" noProof="0" dirty="0">
                          <a:solidFill>
                            <a:srgbClr val="FFC000"/>
                          </a:solidFill>
                          <a:latin typeface="Arial"/>
                          <a:cs typeface="Arial"/>
                        </a:rPr>
                        <a:t>https://</a:t>
                      </a:r>
                      <a:r>
                        <a:rPr lang="en-US" sz="1400" noProof="0" dirty="0" err="1">
                          <a:solidFill>
                            <a:srgbClr val="FFC000"/>
                          </a:solidFill>
                          <a:latin typeface="Arial"/>
                          <a:cs typeface="Arial"/>
                        </a:rPr>
                        <a:t>www.posterpresentations.com</a:t>
                      </a:r>
                      <a:r>
                        <a:rPr lang="en-US" sz="1400" noProof="0" dirty="0">
                          <a:solidFill>
                            <a:srgbClr val="FFC000"/>
                          </a:solidFill>
                          <a:latin typeface="Arial"/>
                          <a:cs typeface="Arial"/>
                        </a:rPr>
                        <a:t>/poster-presentation-services-for-conferences-and-</a:t>
                      </a:r>
                      <a:r>
                        <a:rPr lang="en-US" sz="1400" noProof="0" dirty="0" err="1">
                          <a:solidFill>
                            <a:srgbClr val="FFC000"/>
                          </a:solidFill>
                          <a:latin typeface="Arial"/>
                          <a:cs typeface="Arial"/>
                        </a:rPr>
                        <a:t>events.html</a:t>
                      </a:r>
                      <a:endParaRPr lang="en-US" sz="1400"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noProof="0" dirty="0">
                        <a:solidFill>
                          <a:srgbClr val="FFC000"/>
                        </a:solidFill>
                        <a:latin typeface="Arial"/>
                        <a:cs typeface="Arial"/>
                      </a:endParaRPr>
                    </a:p>
                  </a:txBody>
                  <a:tcPr marL="137160" marR="68580" marT="80010" marB="2667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83546655"/>
                  </a:ext>
                </a:extLst>
              </a:tr>
              <a:tr h="937191">
                <a:tc gridSpan="3">
                  <a:txBody>
                    <a:bodyPr/>
                    <a:lstStyle/>
                    <a:p>
                      <a:endParaRPr lang="en-US" sz="1400" dirty="0">
                        <a:solidFill>
                          <a:srgbClr val="1F3A4E"/>
                        </a:solidFill>
                      </a:endParaRPr>
                    </a:p>
                  </a:txBody>
                  <a:tcPr marL="137160" marR="68580" marT="80010" marB="26670">
                    <a:blipFill dpi="0" rotWithShape="1">
                      <a:blip r:embed="rId10"/>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463346">
                <a:tc gridSpan="2">
                  <a:txBody>
                    <a:bodyPr/>
                    <a:lstStyle/>
                    <a:p>
                      <a:pPr>
                        <a:lnSpc>
                          <a:spcPts val="2600"/>
                        </a:lnSpc>
                      </a:pPr>
                      <a:r>
                        <a:rPr lang="en-US" sz="1200" dirty="0">
                          <a:solidFill>
                            <a:schemeClr val="bg1">
                              <a:lumMod val="85000"/>
                            </a:schemeClr>
                          </a:solidFill>
                          <a:latin typeface="Arial"/>
                          <a:cs typeface="Arial"/>
                        </a:rPr>
                        <a:t>© 2025</a:t>
                      </a:r>
                      <a:r>
                        <a:rPr lang="en-US" sz="1200" baseline="0" dirty="0">
                          <a:solidFill>
                            <a:schemeClr val="bg1">
                              <a:lumMod val="85000"/>
                            </a:schemeClr>
                          </a:solidFill>
                          <a:latin typeface="Arial"/>
                          <a:cs typeface="Arial"/>
                        </a:rPr>
                        <a:t> </a:t>
                      </a:r>
                      <a:r>
                        <a:rPr lang="en-US" sz="1200" dirty="0" err="1">
                          <a:solidFill>
                            <a:schemeClr val="bg1">
                              <a:lumMod val="85000"/>
                            </a:schemeClr>
                          </a:solidFill>
                          <a:latin typeface="Arial"/>
                          <a:cs typeface="Arial"/>
                        </a:rPr>
                        <a:t>PosterPresentations.com</a:t>
                      </a:r>
                      <a:br>
                        <a:rPr lang="en-US" sz="1200" dirty="0">
                          <a:solidFill>
                            <a:schemeClr val="bg1">
                              <a:lumMod val="85000"/>
                            </a:schemeClr>
                          </a:solidFill>
                          <a:latin typeface="Arial"/>
                          <a:cs typeface="Arial"/>
                        </a:rPr>
                      </a:br>
                      <a:r>
                        <a:rPr lang="en-US" sz="1200" dirty="0">
                          <a:solidFill>
                            <a:schemeClr val="bg1">
                              <a:lumMod val="85000"/>
                            </a:schemeClr>
                          </a:solidFill>
                          <a:latin typeface="Arial"/>
                          <a:cs typeface="Arial"/>
                        </a:rPr>
                        <a:t>2117 Fourth Street ,</a:t>
                      </a:r>
                      <a:r>
                        <a:rPr lang="en-US" sz="1200" baseline="0" dirty="0">
                          <a:solidFill>
                            <a:schemeClr val="bg1">
                              <a:lumMod val="85000"/>
                            </a:schemeClr>
                          </a:solidFill>
                          <a:latin typeface="Arial"/>
                          <a:cs typeface="Arial"/>
                        </a:rPr>
                        <a:t> STE C        </a:t>
                      </a:r>
                    </a:p>
                    <a:p>
                      <a:pPr>
                        <a:lnSpc>
                          <a:spcPts val="2600"/>
                        </a:lnSpc>
                      </a:pPr>
                      <a:r>
                        <a:rPr lang="en-US" sz="1200" baseline="0" dirty="0">
                          <a:solidFill>
                            <a:schemeClr val="bg1">
                              <a:lumMod val="85000"/>
                            </a:schemeClr>
                          </a:solidFill>
                          <a:latin typeface="Arial"/>
                          <a:cs typeface="Arial"/>
                        </a:rPr>
                        <a:t>Berkeley CA 94710 USA</a:t>
                      </a:r>
                      <a:endParaRPr lang="en-US" sz="1200" dirty="0">
                        <a:solidFill>
                          <a:schemeClr val="bg1">
                            <a:lumMod val="85000"/>
                          </a:schemeClr>
                        </a:solidFill>
                        <a:latin typeface="Arial"/>
                        <a:cs typeface="Arial"/>
                      </a:endParaRPr>
                    </a:p>
                  </a:txBody>
                  <a:tcPr marL="137160" marR="68580" marT="80010" marB="26670">
                    <a:solidFill>
                      <a:srgbClr val="010101"/>
                    </a:solidFill>
                  </a:tcPr>
                </a:tc>
                <a:tc hMerge="1">
                  <a:txBody>
                    <a:bodyPr/>
                    <a:lstStyle/>
                    <a:p>
                      <a:pPr>
                        <a:lnSpc>
                          <a:spcPts val="2600"/>
                        </a:lnSpc>
                      </a:pPr>
                      <a:endParaRPr lang="en-US" sz="2000" dirty="0">
                        <a:solidFill>
                          <a:schemeClr val="bg1">
                            <a:lumMod val="85000"/>
                          </a:schemeClr>
                        </a:solidFill>
                        <a:latin typeface="Arial"/>
                        <a:cs typeface="Arial"/>
                      </a:endParaRPr>
                    </a:p>
                  </a:txBody>
                  <a:tcPr marL="182880" marT="137160">
                    <a:solidFill>
                      <a:srgbClr val="010101"/>
                    </a:solidFill>
                  </a:tcPr>
                </a:tc>
                <a:tc>
                  <a:txBody>
                    <a:bodyPr/>
                    <a:lstStyle/>
                    <a:p>
                      <a:r>
                        <a:rPr lang="en-US" sz="1100" dirty="0">
                          <a:solidFill>
                            <a:schemeClr val="bg1"/>
                          </a:solidFill>
                          <a:latin typeface="Arial"/>
                          <a:cs typeface="Arial"/>
                        </a:rPr>
                        <a:t>For additional help, visit our online tutorials at </a:t>
                      </a:r>
                      <a:r>
                        <a:rPr lang="en-US" sz="800" dirty="0">
                          <a:solidFill>
                            <a:schemeClr val="bg1"/>
                          </a:solidFill>
                          <a:latin typeface="Arial"/>
                          <a:cs typeface="Arial"/>
                        </a:rPr>
                        <a:t>https://</a:t>
                      </a:r>
                      <a:r>
                        <a:rPr lang="en-US" sz="800" dirty="0" err="1">
                          <a:solidFill>
                            <a:schemeClr val="bg1"/>
                          </a:solidFill>
                          <a:latin typeface="Arial"/>
                          <a:cs typeface="Arial"/>
                        </a:rPr>
                        <a:t>www.posterpresentations.com</a:t>
                      </a:r>
                      <a:r>
                        <a:rPr lang="en-US" sz="800" dirty="0">
                          <a:solidFill>
                            <a:schemeClr val="bg1"/>
                          </a:solidFill>
                          <a:latin typeface="Arial"/>
                          <a:cs typeface="Arial"/>
                        </a:rPr>
                        <a:t>/</a:t>
                      </a:r>
                      <a:r>
                        <a:rPr lang="en-US" sz="800" dirty="0" err="1">
                          <a:solidFill>
                            <a:schemeClr val="bg1"/>
                          </a:solidFill>
                          <a:latin typeface="Arial"/>
                          <a:cs typeface="Arial"/>
                        </a:rPr>
                        <a:t>helpdesk.html</a:t>
                      </a:r>
                      <a:endParaRPr lang="en-US" sz="5800" dirty="0"/>
                    </a:p>
                  </a:txBody>
                  <a:tcPr marL="137160" marR="68580" marT="80010" marB="26670">
                    <a:solidFill>
                      <a:srgbClr val="01010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358519303"/>
      </p:ext>
    </p:extLst>
  </p:cSld>
  <p:clrMap bg1="lt1" tx1="dk1" bg2="lt2" tx2="dk2" accent1="accent1" accent2="accent2" accent3="accent3" accent4="accent4" accent5="accent5" accent6="accent6" hlink="hlink" folHlink="folHlink"/>
  <p:sldLayoutIdLst>
    <p:sldLayoutId id="2147483660" r:id="rId1"/>
  </p:sldLayoutIdLst>
  <p:txStyles>
    <p:titleStyle>
      <a:lvl1pPr algn="ctr" defTabSz="3840404" rtl="0" eaLnBrk="1" latinLnBrk="0" hangingPunct="1">
        <a:spcBef>
          <a:spcPct val="0"/>
        </a:spcBef>
        <a:buNone/>
        <a:defRPr sz="7702" kern="1200">
          <a:solidFill>
            <a:schemeClr val="bg1"/>
          </a:solidFill>
          <a:latin typeface="Trebuchet MS" pitchFamily="34" charset="0"/>
          <a:ea typeface="+mj-ea"/>
          <a:cs typeface="+mj-cs"/>
        </a:defRPr>
      </a:lvl1pPr>
    </p:titleStyle>
    <p:bodyStyle>
      <a:lvl1pPr marL="1440152" indent="-1440152" algn="l" defTabSz="3840404" rtl="0" eaLnBrk="1" latinLnBrk="0" hangingPunct="1">
        <a:spcBef>
          <a:spcPct val="20000"/>
        </a:spcBef>
        <a:buFont typeface="Arial" pitchFamily="34" charset="0"/>
        <a:buChar char="•"/>
        <a:defRPr sz="13475" kern="1200">
          <a:solidFill>
            <a:schemeClr val="tx1"/>
          </a:solidFill>
          <a:latin typeface="+mn-lt"/>
          <a:ea typeface="+mn-ea"/>
          <a:cs typeface="+mn-cs"/>
        </a:defRPr>
      </a:lvl1pPr>
      <a:lvl2pPr marL="3120329" indent="-1200127" algn="l" defTabSz="3840404" rtl="0" eaLnBrk="1" latinLnBrk="0" hangingPunct="1">
        <a:spcBef>
          <a:spcPct val="20000"/>
        </a:spcBef>
        <a:buFont typeface="Arial" pitchFamily="34" charset="0"/>
        <a:buChar char="–"/>
        <a:defRPr sz="11812" kern="1200">
          <a:solidFill>
            <a:schemeClr val="tx1"/>
          </a:solidFill>
          <a:latin typeface="+mn-lt"/>
          <a:ea typeface="+mn-ea"/>
          <a:cs typeface="+mn-cs"/>
        </a:defRPr>
      </a:lvl2pPr>
      <a:lvl3pPr marL="4800508" indent="-960103" algn="l" defTabSz="3840404" rtl="0" eaLnBrk="1" latinLnBrk="0" hangingPunct="1">
        <a:spcBef>
          <a:spcPct val="20000"/>
        </a:spcBef>
        <a:buFont typeface="Arial" pitchFamily="34" charset="0"/>
        <a:buChar char="•"/>
        <a:defRPr sz="10151" kern="1200">
          <a:solidFill>
            <a:schemeClr val="tx1"/>
          </a:solidFill>
          <a:latin typeface="+mn-lt"/>
          <a:ea typeface="+mn-ea"/>
          <a:cs typeface="+mn-cs"/>
        </a:defRPr>
      </a:lvl3pPr>
      <a:lvl4pPr marL="6720710"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4pPr>
      <a:lvl5pPr marL="8640912"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5pPr>
      <a:lvl6pPr marL="10561115"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6pPr>
      <a:lvl7pPr marL="12481314"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7pPr>
      <a:lvl8pPr marL="14401518"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8pPr>
      <a:lvl9pPr marL="16321721" indent="-960103" algn="l" defTabSz="3840404" rtl="0" eaLnBrk="1" latinLnBrk="0" hangingPunct="1">
        <a:spcBef>
          <a:spcPct val="20000"/>
        </a:spcBef>
        <a:buFont typeface="Arial" pitchFamily="34" charset="0"/>
        <a:buChar char="•"/>
        <a:defRPr sz="8400" kern="1200">
          <a:solidFill>
            <a:schemeClr val="tx1"/>
          </a:solidFill>
          <a:latin typeface="+mn-lt"/>
          <a:ea typeface="+mn-ea"/>
          <a:cs typeface="+mn-cs"/>
        </a:defRPr>
      </a:lvl9pPr>
    </p:bodyStyle>
    <p:otherStyle>
      <a:defPPr>
        <a:defRPr lang="en-US"/>
      </a:defPPr>
      <a:lvl1pPr marL="0" algn="l" defTabSz="3840404" rtl="0" eaLnBrk="1" latinLnBrk="0" hangingPunct="1">
        <a:defRPr sz="7525" kern="1200">
          <a:solidFill>
            <a:schemeClr val="tx1"/>
          </a:solidFill>
          <a:latin typeface="+mn-lt"/>
          <a:ea typeface="+mn-ea"/>
          <a:cs typeface="+mn-cs"/>
        </a:defRPr>
      </a:lvl1pPr>
      <a:lvl2pPr marL="1920203" algn="l" defTabSz="3840404" rtl="0" eaLnBrk="1" latinLnBrk="0" hangingPunct="1">
        <a:defRPr sz="7525" kern="1200">
          <a:solidFill>
            <a:schemeClr val="tx1"/>
          </a:solidFill>
          <a:latin typeface="+mn-lt"/>
          <a:ea typeface="+mn-ea"/>
          <a:cs typeface="+mn-cs"/>
        </a:defRPr>
      </a:lvl2pPr>
      <a:lvl3pPr marL="3840404" algn="l" defTabSz="3840404" rtl="0" eaLnBrk="1" latinLnBrk="0" hangingPunct="1">
        <a:defRPr sz="7525" kern="1200">
          <a:solidFill>
            <a:schemeClr val="tx1"/>
          </a:solidFill>
          <a:latin typeface="+mn-lt"/>
          <a:ea typeface="+mn-ea"/>
          <a:cs typeface="+mn-cs"/>
        </a:defRPr>
      </a:lvl3pPr>
      <a:lvl4pPr marL="5760607" algn="l" defTabSz="3840404" rtl="0" eaLnBrk="1" latinLnBrk="0" hangingPunct="1">
        <a:defRPr sz="7525" kern="1200">
          <a:solidFill>
            <a:schemeClr val="tx1"/>
          </a:solidFill>
          <a:latin typeface="+mn-lt"/>
          <a:ea typeface="+mn-ea"/>
          <a:cs typeface="+mn-cs"/>
        </a:defRPr>
      </a:lvl4pPr>
      <a:lvl5pPr marL="7680810" algn="l" defTabSz="3840404" rtl="0" eaLnBrk="1" latinLnBrk="0" hangingPunct="1">
        <a:defRPr sz="7525" kern="1200">
          <a:solidFill>
            <a:schemeClr val="tx1"/>
          </a:solidFill>
          <a:latin typeface="+mn-lt"/>
          <a:ea typeface="+mn-ea"/>
          <a:cs typeface="+mn-cs"/>
        </a:defRPr>
      </a:lvl5pPr>
      <a:lvl6pPr marL="9601013" algn="l" defTabSz="3840404" rtl="0" eaLnBrk="1" latinLnBrk="0" hangingPunct="1">
        <a:defRPr sz="7525" kern="1200">
          <a:solidFill>
            <a:schemeClr val="tx1"/>
          </a:solidFill>
          <a:latin typeface="+mn-lt"/>
          <a:ea typeface="+mn-ea"/>
          <a:cs typeface="+mn-cs"/>
        </a:defRPr>
      </a:lvl6pPr>
      <a:lvl7pPr marL="11521216" algn="l" defTabSz="3840404" rtl="0" eaLnBrk="1" latinLnBrk="0" hangingPunct="1">
        <a:defRPr sz="7525" kern="1200">
          <a:solidFill>
            <a:schemeClr val="tx1"/>
          </a:solidFill>
          <a:latin typeface="+mn-lt"/>
          <a:ea typeface="+mn-ea"/>
          <a:cs typeface="+mn-cs"/>
        </a:defRPr>
      </a:lvl7pPr>
      <a:lvl8pPr marL="13441417" algn="l" defTabSz="3840404" rtl="0" eaLnBrk="1" latinLnBrk="0" hangingPunct="1">
        <a:defRPr sz="7525" kern="1200">
          <a:solidFill>
            <a:schemeClr val="tx1"/>
          </a:solidFill>
          <a:latin typeface="+mn-lt"/>
          <a:ea typeface="+mn-ea"/>
          <a:cs typeface="+mn-cs"/>
        </a:defRPr>
      </a:lvl8pPr>
      <a:lvl9pPr marL="15361621" algn="l" defTabSz="3840404" rtl="0" eaLnBrk="1" latinLnBrk="0" hangingPunct="1">
        <a:defRPr sz="752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6" userDrawn="1">
          <p15:clr>
            <a:srgbClr val="F26B43"/>
          </p15:clr>
        </p15:guide>
        <p15:guide id="2" userDrawn="1">
          <p15:clr>
            <a:srgbClr val="F26B43"/>
          </p15:clr>
        </p15:guide>
        <p15:guide id="3" pos="20736" userDrawn="1">
          <p15:clr>
            <a:srgbClr val="F26B43"/>
          </p15:clr>
        </p15:guide>
        <p15:guide id="4" orient="horz" pos="1178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5.tmp"/><Relationship Id="rId13" Type="http://schemas.openxmlformats.org/officeDocument/2006/relationships/image" Target="../media/image20.tmp"/><Relationship Id="rId18" Type="http://schemas.openxmlformats.org/officeDocument/2006/relationships/image" Target="../media/image25.tmp"/><Relationship Id="rId3" Type="http://schemas.openxmlformats.org/officeDocument/2006/relationships/image" Target="../media/image10.tmp"/><Relationship Id="rId21" Type="http://schemas.openxmlformats.org/officeDocument/2006/relationships/image" Target="../media/image28.tmp"/><Relationship Id="rId7" Type="http://schemas.openxmlformats.org/officeDocument/2006/relationships/image" Target="../media/image14.tmp"/><Relationship Id="rId12" Type="http://schemas.openxmlformats.org/officeDocument/2006/relationships/image" Target="../media/image19.tmp"/><Relationship Id="rId17" Type="http://schemas.openxmlformats.org/officeDocument/2006/relationships/image" Target="../media/image24.png"/><Relationship Id="rId2" Type="http://schemas.openxmlformats.org/officeDocument/2006/relationships/image" Target="../media/image9.tmp"/><Relationship Id="rId16" Type="http://schemas.openxmlformats.org/officeDocument/2006/relationships/image" Target="../media/image23.tmp"/><Relationship Id="rId20" Type="http://schemas.openxmlformats.org/officeDocument/2006/relationships/image" Target="../media/image27.tmp"/><Relationship Id="rId1" Type="http://schemas.openxmlformats.org/officeDocument/2006/relationships/slideLayout" Target="../slideLayouts/slideLayout1.xml"/><Relationship Id="rId6" Type="http://schemas.openxmlformats.org/officeDocument/2006/relationships/image" Target="../media/image13.tmp"/><Relationship Id="rId11" Type="http://schemas.openxmlformats.org/officeDocument/2006/relationships/image" Target="../media/image18.tmp"/><Relationship Id="rId24" Type="http://schemas.openxmlformats.org/officeDocument/2006/relationships/hyperlink" Target="https://heartpredict.fly.dev/docs" TargetMode="External"/><Relationship Id="rId5" Type="http://schemas.openxmlformats.org/officeDocument/2006/relationships/image" Target="../media/image12.tmp"/><Relationship Id="rId15" Type="http://schemas.openxmlformats.org/officeDocument/2006/relationships/image" Target="../media/image22.tmp"/><Relationship Id="rId23" Type="http://schemas.openxmlformats.org/officeDocument/2006/relationships/image" Target="../media/image30.png"/><Relationship Id="rId10" Type="http://schemas.openxmlformats.org/officeDocument/2006/relationships/image" Target="../media/image17.tmp"/><Relationship Id="rId19" Type="http://schemas.openxmlformats.org/officeDocument/2006/relationships/image" Target="../media/image26.tmp"/><Relationship Id="rId4" Type="http://schemas.openxmlformats.org/officeDocument/2006/relationships/image" Target="../media/image11.tmp"/><Relationship Id="rId9" Type="http://schemas.openxmlformats.org/officeDocument/2006/relationships/image" Target="../media/image16.tmp"/><Relationship Id="rId14" Type="http://schemas.openxmlformats.org/officeDocument/2006/relationships/image" Target="../media/image21.tmp"/><Relationship Id="rId22" Type="http://schemas.openxmlformats.org/officeDocument/2006/relationships/image" Target="../media/image29.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AC4E7AF-70E6-539E-9C0F-47D961CF5CAE}"/>
              </a:ext>
            </a:extLst>
          </p:cNvPr>
          <p:cNvSpPr>
            <a:spLocks noGrp="1"/>
          </p:cNvSpPr>
          <p:nvPr>
            <p:ph type="body" sz="quarter" idx="150"/>
          </p:nvPr>
        </p:nvSpPr>
        <p:spPr>
          <a:xfrm>
            <a:off x="4310752" y="1987996"/>
            <a:ext cx="24394873" cy="677108"/>
          </a:xfrm>
        </p:spPr>
        <p:txBody>
          <a:bodyPr/>
          <a:lstStyle/>
          <a:p>
            <a:r>
              <a:rPr lang="en-US" dirty="0"/>
              <a:t>University of Arkansas – Monticello: School of Mathematical and Natural Sciences</a:t>
            </a:r>
          </a:p>
          <a:p>
            <a:r>
              <a:rPr lang="en-US" b="1" dirty="0"/>
              <a:t>Special thanks to Alexey Grigorev, the </a:t>
            </a:r>
            <a:r>
              <a:rPr lang="en-US" b="1" dirty="0" err="1"/>
              <a:t>DataTalksClub</a:t>
            </a:r>
            <a:r>
              <a:rPr lang="en-US" b="1" dirty="0"/>
              <a:t> and Federico Soriano Palacios [1]</a:t>
            </a:r>
          </a:p>
        </p:txBody>
      </p:sp>
      <p:sp>
        <p:nvSpPr>
          <p:cNvPr id="17" name="Text Placeholder 16">
            <a:extLst>
              <a:ext uri="{FF2B5EF4-FFF2-40B4-BE49-F238E27FC236}">
                <a16:creationId xmlns:a16="http://schemas.microsoft.com/office/drawing/2014/main" id="{87441452-F719-6A5A-29B0-1C4E4E410DA1}"/>
              </a:ext>
            </a:extLst>
          </p:cNvPr>
          <p:cNvSpPr>
            <a:spLocks noGrp="1"/>
          </p:cNvSpPr>
          <p:nvPr>
            <p:ph type="body" sz="quarter" idx="151"/>
          </p:nvPr>
        </p:nvSpPr>
        <p:spPr/>
        <p:txBody>
          <a:bodyPr/>
          <a:lstStyle/>
          <a:p>
            <a:r>
              <a:rPr lang="en-US" dirty="0"/>
              <a:t>By Dr. Jared Gavin</a:t>
            </a:r>
          </a:p>
        </p:txBody>
      </p:sp>
      <p:sp>
        <p:nvSpPr>
          <p:cNvPr id="18" name="Text Placeholder 17">
            <a:extLst>
              <a:ext uri="{FF2B5EF4-FFF2-40B4-BE49-F238E27FC236}">
                <a16:creationId xmlns:a16="http://schemas.microsoft.com/office/drawing/2014/main" id="{470447CD-F6F4-12A2-9D2D-287D3A1228A6}"/>
              </a:ext>
            </a:extLst>
          </p:cNvPr>
          <p:cNvSpPr>
            <a:spLocks noGrp="1"/>
          </p:cNvSpPr>
          <p:nvPr>
            <p:ph type="body" sz="quarter" idx="153"/>
          </p:nvPr>
        </p:nvSpPr>
        <p:spPr/>
        <p:txBody>
          <a:bodyPr/>
          <a:lstStyle/>
          <a:p>
            <a:r>
              <a:rPr lang="en-US" dirty="0"/>
              <a:t>Machine Learning Model for Heart Disease Prediction as a Web Service On Cloud</a:t>
            </a:r>
          </a:p>
        </p:txBody>
      </p:sp>
      <p:pic>
        <p:nvPicPr>
          <p:cNvPr id="26" name="Picture 25" descr="A screenshot of a web page&#10;&#10;AI-generated content may be incorrect.">
            <a:extLst>
              <a:ext uri="{FF2B5EF4-FFF2-40B4-BE49-F238E27FC236}">
                <a16:creationId xmlns:a16="http://schemas.microsoft.com/office/drawing/2014/main" id="{95D9EC2A-941C-5E36-AF97-ACBA052C8B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588" y="3219352"/>
            <a:ext cx="7810795" cy="3164195"/>
          </a:xfrm>
          <a:prstGeom prst="rect">
            <a:avLst/>
          </a:prstGeom>
        </p:spPr>
      </p:pic>
      <p:pic>
        <p:nvPicPr>
          <p:cNvPr id="28" name="Picture 27" descr="A close-up of a computer code&#10;&#10;AI-generated content may be incorrect.">
            <a:extLst>
              <a:ext uri="{FF2B5EF4-FFF2-40B4-BE49-F238E27FC236}">
                <a16:creationId xmlns:a16="http://schemas.microsoft.com/office/drawing/2014/main" id="{CEE50A53-1E04-B561-B321-3F807ADEF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589" y="6383548"/>
            <a:ext cx="7810794" cy="2055992"/>
          </a:xfrm>
          <a:prstGeom prst="rect">
            <a:avLst/>
          </a:prstGeom>
        </p:spPr>
      </p:pic>
      <p:pic>
        <p:nvPicPr>
          <p:cNvPr id="38" name="Picture 37" descr="A close up of a sign&#10;&#10;AI-generated content may be incorrect.">
            <a:extLst>
              <a:ext uri="{FF2B5EF4-FFF2-40B4-BE49-F238E27FC236}">
                <a16:creationId xmlns:a16="http://schemas.microsoft.com/office/drawing/2014/main" id="{3F7B10DD-6D7A-1554-BE3A-67FBF8DF23B7}"/>
              </a:ext>
            </a:extLst>
          </p:cNvPr>
          <p:cNvPicPr>
            <a:picLocks noChangeAspect="1"/>
          </p:cNvPicPr>
          <p:nvPr/>
        </p:nvPicPr>
        <p:blipFill>
          <a:blip r:embed="rId4">
            <a:extLst>
              <a:ext uri="{28A0092B-C50C-407E-A947-70E740481C1C}">
                <a14:useLocalDpi xmlns:a14="http://schemas.microsoft.com/office/drawing/2010/main" val="0"/>
              </a:ext>
            </a:extLst>
          </a:blip>
          <a:srcRect t="-1" b="6775"/>
          <a:stretch>
            <a:fillRect/>
          </a:stretch>
        </p:blipFill>
        <p:spPr>
          <a:xfrm>
            <a:off x="224420" y="12453564"/>
            <a:ext cx="7810794" cy="994515"/>
          </a:xfrm>
          <a:prstGeom prst="rect">
            <a:avLst/>
          </a:prstGeom>
        </p:spPr>
      </p:pic>
      <p:grpSp>
        <p:nvGrpSpPr>
          <p:cNvPr id="55" name="Group 54">
            <a:extLst>
              <a:ext uri="{FF2B5EF4-FFF2-40B4-BE49-F238E27FC236}">
                <a16:creationId xmlns:a16="http://schemas.microsoft.com/office/drawing/2014/main" id="{D9D67B11-A74E-E068-CEB5-89A573942DA8}"/>
              </a:ext>
            </a:extLst>
          </p:cNvPr>
          <p:cNvGrpSpPr/>
          <p:nvPr/>
        </p:nvGrpSpPr>
        <p:grpSpPr>
          <a:xfrm>
            <a:off x="166587" y="8851350"/>
            <a:ext cx="7810796" cy="2920820"/>
            <a:chOff x="166587" y="8851350"/>
            <a:chExt cx="7810796" cy="2920820"/>
          </a:xfrm>
        </p:grpSpPr>
        <p:pic>
          <p:nvPicPr>
            <p:cNvPr id="42" name="Picture 41">
              <a:extLst>
                <a:ext uri="{FF2B5EF4-FFF2-40B4-BE49-F238E27FC236}">
                  <a16:creationId xmlns:a16="http://schemas.microsoft.com/office/drawing/2014/main" id="{C6852E11-7B0C-DA21-AF92-FF30DBBBB700}"/>
                </a:ext>
              </a:extLst>
            </p:cNvPr>
            <p:cNvPicPr>
              <a:picLocks noChangeAspect="1"/>
            </p:cNvPicPr>
            <p:nvPr/>
          </p:nvPicPr>
          <p:blipFill>
            <a:blip r:embed="rId5">
              <a:extLst>
                <a:ext uri="{28A0092B-C50C-407E-A947-70E740481C1C}">
                  <a14:useLocalDpi xmlns:a14="http://schemas.microsoft.com/office/drawing/2010/main" val="0"/>
                </a:ext>
              </a:extLst>
            </a:blip>
            <a:srcRect t="14570"/>
            <a:stretch>
              <a:fillRect/>
            </a:stretch>
          </p:blipFill>
          <p:spPr>
            <a:xfrm>
              <a:off x="166588" y="8851350"/>
              <a:ext cx="7810795" cy="337632"/>
            </a:xfrm>
            <a:prstGeom prst="rect">
              <a:avLst/>
            </a:prstGeom>
          </p:spPr>
        </p:pic>
        <p:sp>
          <p:nvSpPr>
            <p:cNvPr id="43" name="TextBox 42">
              <a:extLst>
                <a:ext uri="{FF2B5EF4-FFF2-40B4-BE49-F238E27FC236}">
                  <a16:creationId xmlns:a16="http://schemas.microsoft.com/office/drawing/2014/main" id="{4B217A46-7114-0259-B6F7-221BEF40440C}"/>
                </a:ext>
              </a:extLst>
            </p:cNvPr>
            <p:cNvSpPr txBox="1"/>
            <p:nvPr/>
          </p:nvSpPr>
          <p:spPr>
            <a:xfrm>
              <a:off x="166587" y="9217625"/>
              <a:ext cx="7810794" cy="2554545"/>
            </a:xfrm>
            <a:prstGeom prst="rect">
              <a:avLst/>
            </a:prstGeom>
            <a:noFill/>
          </p:spPr>
          <p:txBody>
            <a:bodyPr wrap="square" rtlCol="0">
              <a:spAutoFit/>
            </a:bodyPr>
            <a:lstStyle/>
            <a:p>
              <a:pPr algn="just"/>
              <a:r>
                <a:rPr lang="en-US" sz="1600" dirty="0"/>
                <a:t>“Cardiovascular diseases (CVDs) are the number 1 cause of death globally, taking an estimated 17.9 million lives each year, which accounts for 31% of all deaths worldwide. Four out of 5 CVD deaths are due to heart attacks and strokes, and one-third of these deaths occur prematurely in people under 70 years of age. Heart failure is a common event caused by CVDs, and this dataset contains 11 features that can be used to predict possible heart disease.</a:t>
              </a:r>
            </a:p>
            <a:p>
              <a:pPr algn="just"/>
              <a:r>
                <a:rPr lang="en-US" sz="1600" dirty="0"/>
                <a:t>People with cardiovascular disease or who are at high cardiovascular risk (due to the presence of one or more risk factors such as hypertension, diabetes, hyperlipidemia or already established disease) need early detection and management, wherein a machine learning model can be of great help.”  [1]</a:t>
              </a:r>
            </a:p>
          </p:txBody>
        </p:sp>
      </p:grpSp>
      <p:pic>
        <p:nvPicPr>
          <p:cNvPr id="48" name="Picture 47" descr="A screenshot of a web page&#10;&#10;AI-generated content may be incorrect.">
            <a:extLst>
              <a:ext uri="{FF2B5EF4-FFF2-40B4-BE49-F238E27FC236}">
                <a16:creationId xmlns:a16="http://schemas.microsoft.com/office/drawing/2014/main" id="{65C3D528-37A1-265F-5B29-9857CFB9EEAE}"/>
              </a:ext>
            </a:extLst>
          </p:cNvPr>
          <p:cNvPicPr>
            <a:picLocks noChangeAspect="1"/>
          </p:cNvPicPr>
          <p:nvPr/>
        </p:nvPicPr>
        <p:blipFill>
          <a:blip r:embed="rId2">
            <a:extLst>
              <a:ext uri="{28A0092B-C50C-407E-A947-70E740481C1C}">
                <a14:useLocalDpi xmlns:a14="http://schemas.microsoft.com/office/drawing/2010/main" val="0"/>
              </a:ext>
            </a:extLst>
          </a:blip>
          <a:srcRect t="37467" r="2066" b="52806"/>
          <a:stretch>
            <a:fillRect/>
          </a:stretch>
        </p:blipFill>
        <p:spPr>
          <a:xfrm>
            <a:off x="85964" y="11994416"/>
            <a:ext cx="7847994" cy="307777"/>
          </a:xfrm>
          <a:prstGeom prst="rect">
            <a:avLst/>
          </a:prstGeom>
        </p:spPr>
      </p:pic>
      <p:grpSp>
        <p:nvGrpSpPr>
          <p:cNvPr id="52" name="Group 51">
            <a:extLst>
              <a:ext uri="{FF2B5EF4-FFF2-40B4-BE49-F238E27FC236}">
                <a16:creationId xmlns:a16="http://schemas.microsoft.com/office/drawing/2014/main" id="{A559A9C5-4A0F-A547-FC6D-A4C7A51536EF}"/>
              </a:ext>
            </a:extLst>
          </p:cNvPr>
          <p:cNvGrpSpPr/>
          <p:nvPr/>
        </p:nvGrpSpPr>
        <p:grpSpPr>
          <a:xfrm>
            <a:off x="104564" y="13932122"/>
            <a:ext cx="7910019" cy="4297942"/>
            <a:chOff x="166589" y="13002811"/>
            <a:chExt cx="7910019" cy="4297942"/>
          </a:xfrm>
        </p:grpSpPr>
        <p:pic>
          <p:nvPicPr>
            <p:cNvPr id="45" name="Picture 44">
              <a:extLst>
                <a:ext uri="{FF2B5EF4-FFF2-40B4-BE49-F238E27FC236}">
                  <a16:creationId xmlns:a16="http://schemas.microsoft.com/office/drawing/2014/main" id="{8F8C3893-A2C8-2157-AD0F-E7613A49566B}"/>
                </a:ext>
              </a:extLst>
            </p:cNvPr>
            <p:cNvPicPr>
              <a:picLocks noChangeAspect="1"/>
            </p:cNvPicPr>
            <p:nvPr/>
          </p:nvPicPr>
          <p:blipFill>
            <a:blip r:embed="rId6" cstate="print">
              <a:extLst>
                <a:ext uri="{28A0092B-C50C-407E-A947-70E740481C1C}">
                  <a14:useLocalDpi xmlns:a14="http://schemas.microsoft.com/office/drawing/2010/main" val="0"/>
                </a:ext>
              </a:extLst>
            </a:blip>
            <a:srcRect b="40857"/>
            <a:stretch>
              <a:fillRect/>
            </a:stretch>
          </p:blipFill>
          <p:spPr>
            <a:xfrm>
              <a:off x="166589" y="13002811"/>
              <a:ext cx="7810794" cy="362315"/>
            </a:xfrm>
            <a:prstGeom prst="rect">
              <a:avLst/>
            </a:prstGeom>
          </p:spPr>
        </p:pic>
        <p:sp>
          <p:nvSpPr>
            <p:cNvPr id="51" name="TextBox 50">
              <a:extLst>
                <a:ext uri="{FF2B5EF4-FFF2-40B4-BE49-F238E27FC236}">
                  <a16:creationId xmlns:a16="http://schemas.microsoft.com/office/drawing/2014/main" id="{8BDF382E-8B44-A8A8-81FC-4A5B97F15A0B}"/>
                </a:ext>
              </a:extLst>
            </p:cNvPr>
            <p:cNvSpPr txBox="1"/>
            <p:nvPr/>
          </p:nvSpPr>
          <p:spPr>
            <a:xfrm>
              <a:off x="265814" y="13545879"/>
              <a:ext cx="7810794" cy="3754874"/>
            </a:xfrm>
            <a:prstGeom prst="rect">
              <a:avLst/>
            </a:prstGeom>
            <a:noFill/>
          </p:spPr>
          <p:txBody>
            <a:bodyPr wrap="square" rtlCol="0">
              <a:spAutoFit/>
            </a:bodyPr>
            <a:lstStyle/>
            <a:p>
              <a:r>
                <a:rPr lang="en-US" sz="1400" b="1" dirty="0"/>
                <a:t>Features</a:t>
              </a:r>
              <a:r>
                <a:rPr lang="en-US" sz="1400" dirty="0"/>
                <a:t> description - Categorical or Numerical [</a:t>
              </a:r>
              <a:r>
                <a:rPr lang="en-US" sz="1400" i="1" dirty="0"/>
                <a:t>units or classification</a:t>
              </a:r>
              <a:r>
                <a:rPr lang="en-US" sz="1400" dirty="0"/>
                <a:t>]</a:t>
              </a:r>
              <a:endParaRPr lang="en-US" sz="1400" i="1" dirty="0"/>
            </a:p>
            <a:p>
              <a:r>
                <a:rPr lang="en-US" sz="1400" b="1" dirty="0"/>
                <a:t>Age</a:t>
              </a:r>
              <a:r>
                <a:rPr lang="en-US" sz="1400" dirty="0"/>
                <a:t> </a:t>
              </a:r>
              <a:r>
                <a:rPr lang="en-US" sz="1400" dirty="0" err="1"/>
                <a:t>Age</a:t>
              </a:r>
              <a:r>
                <a:rPr lang="en-US" sz="1400" dirty="0"/>
                <a:t> of the patient - Numerical [</a:t>
              </a:r>
              <a:r>
                <a:rPr lang="en-US" sz="1400" i="1" dirty="0"/>
                <a:t>years</a:t>
              </a:r>
              <a:r>
                <a:rPr lang="en-US" sz="1400" dirty="0"/>
                <a:t>] </a:t>
              </a:r>
            </a:p>
            <a:p>
              <a:r>
                <a:rPr lang="en-US" sz="1400" b="1" dirty="0"/>
                <a:t>Sex</a:t>
              </a:r>
              <a:r>
                <a:rPr lang="en-US" sz="1400" dirty="0"/>
                <a:t> </a:t>
              </a:r>
              <a:r>
                <a:rPr lang="en-US" sz="1400" dirty="0" err="1"/>
                <a:t>Sex</a:t>
              </a:r>
              <a:r>
                <a:rPr lang="en-US" sz="1400" dirty="0"/>
                <a:t> of the patient - Categorical [</a:t>
              </a:r>
              <a:r>
                <a:rPr lang="en-US" sz="1400" i="1" dirty="0"/>
                <a:t>M: Male, F: Female</a:t>
              </a:r>
              <a:r>
                <a:rPr lang="en-US" sz="1400" dirty="0"/>
                <a:t>] </a:t>
              </a:r>
            </a:p>
            <a:p>
              <a:r>
                <a:rPr lang="en-US" sz="1400" b="1" dirty="0" err="1"/>
                <a:t>ChestPainType</a:t>
              </a:r>
              <a:r>
                <a:rPr lang="en-US" sz="1400" dirty="0"/>
                <a:t> Chest pain type -</a:t>
              </a:r>
            </a:p>
            <a:p>
              <a:r>
                <a:rPr lang="en-US" sz="1400" dirty="0"/>
                <a:t>Categorical [</a:t>
              </a:r>
              <a:r>
                <a:rPr lang="en-US" sz="1400" i="1" dirty="0"/>
                <a:t>TA: Typical Angina, ATA: Atypical Angina, NAP: Non-Anginal Pain, ASY: Asymptomatic</a:t>
              </a:r>
              <a:r>
                <a:rPr lang="en-US" sz="1400" dirty="0"/>
                <a:t>] </a:t>
              </a:r>
            </a:p>
            <a:p>
              <a:r>
                <a:rPr lang="en-US" sz="1400" b="1" dirty="0" err="1"/>
                <a:t>RestingBP</a:t>
              </a:r>
              <a:r>
                <a:rPr lang="en-US" sz="1400" dirty="0"/>
                <a:t> Resting blood pressure - Numerical [</a:t>
              </a:r>
              <a:r>
                <a:rPr lang="en-US" sz="1400" i="1" dirty="0"/>
                <a:t>mm Hg</a:t>
              </a:r>
              <a:r>
                <a:rPr lang="en-US" sz="1400" dirty="0"/>
                <a:t>] </a:t>
              </a:r>
            </a:p>
            <a:p>
              <a:r>
                <a:rPr lang="en-US" sz="1400" b="1" dirty="0"/>
                <a:t>Cholesterol</a:t>
              </a:r>
              <a:r>
                <a:rPr lang="en-US" sz="1400" dirty="0"/>
                <a:t> Serum cholesterol - Numerical [</a:t>
              </a:r>
              <a:r>
                <a:rPr lang="en-US" sz="1400" i="1" dirty="0"/>
                <a:t>mm/dl</a:t>
              </a:r>
              <a:r>
                <a:rPr lang="en-US" sz="1400" dirty="0"/>
                <a:t>] </a:t>
              </a:r>
            </a:p>
            <a:p>
              <a:r>
                <a:rPr lang="en-US" sz="1400" b="1" dirty="0" err="1"/>
                <a:t>FastingBS</a:t>
              </a:r>
              <a:r>
                <a:rPr lang="en-US" sz="1400" dirty="0"/>
                <a:t> Fasting blood sugar - Binary [</a:t>
              </a:r>
              <a:r>
                <a:rPr lang="en-US" sz="1400" i="1" dirty="0"/>
                <a:t>1: if &gt; 120 mg/dl, 0: otherwise</a:t>
              </a:r>
              <a:r>
                <a:rPr lang="en-US" sz="1400" dirty="0"/>
                <a:t>] </a:t>
              </a:r>
            </a:p>
            <a:p>
              <a:r>
                <a:rPr lang="en-US" sz="1400" b="1" dirty="0" err="1"/>
                <a:t>RestingECG</a:t>
              </a:r>
              <a:r>
                <a:rPr lang="en-US" sz="1400" dirty="0"/>
                <a:t> Resting electrocardiogram results -</a:t>
              </a:r>
            </a:p>
            <a:p>
              <a:r>
                <a:rPr lang="en-US" sz="1400" dirty="0"/>
                <a:t>Categorical [</a:t>
              </a:r>
              <a:r>
                <a:rPr lang="en-US" sz="1400" i="1" dirty="0"/>
                <a:t>Normal, ST: ST-T wave abnormality, LVH: left ventricular hypertrophy</a:t>
              </a:r>
              <a:r>
                <a:rPr lang="en-US" sz="1400" dirty="0"/>
                <a:t>] </a:t>
              </a:r>
            </a:p>
            <a:p>
              <a:r>
                <a:rPr lang="en-US" sz="1400" b="1" dirty="0" err="1"/>
                <a:t>MaxHR</a:t>
              </a:r>
              <a:r>
                <a:rPr lang="en-US" sz="1400" dirty="0"/>
                <a:t> Maximum heart rate achieved - Numerical [</a:t>
              </a:r>
              <a:r>
                <a:rPr lang="en-US" sz="1400" i="1" dirty="0"/>
                <a:t>60-202</a:t>
              </a:r>
              <a:r>
                <a:rPr lang="en-US" sz="1400" dirty="0"/>
                <a:t>] </a:t>
              </a:r>
            </a:p>
            <a:p>
              <a:r>
                <a:rPr lang="en-US" sz="1400" b="1" dirty="0" err="1"/>
                <a:t>ExerciseAngina</a:t>
              </a:r>
              <a:r>
                <a:rPr lang="en-US" sz="1400" dirty="0"/>
                <a:t> Exercise-induced angina - Binary [</a:t>
              </a:r>
              <a:r>
                <a:rPr lang="en-US" sz="1400" i="1" dirty="0"/>
                <a:t>Y: Yes, N: No</a:t>
              </a:r>
              <a:r>
                <a:rPr lang="en-US" sz="1400" dirty="0"/>
                <a:t>] </a:t>
              </a:r>
            </a:p>
            <a:p>
              <a:r>
                <a:rPr lang="en-US" sz="1400" b="1" dirty="0" err="1"/>
                <a:t>Oldpeak</a:t>
              </a:r>
              <a:r>
                <a:rPr lang="en-US" sz="1400" b="1" dirty="0"/>
                <a:t> ST </a:t>
              </a:r>
              <a:r>
                <a:rPr lang="en-US" sz="1400" dirty="0"/>
                <a:t>depression - Numerical [measured in depression] </a:t>
              </a:r>
            </a:p>
            <a:p>
              <a:r>
                <a:rPr lang="en-US" sz="1400" b="1" dirty="0" err="1"/>
                <a:t>ST_Slope</a:t>
              </a:r>
              <a:r>
                <a:rPr lang="en-US" sz="1400" b="1" dirty="0"/>
                <a:t> </a:t>
              </a:r>
              <a:r>
                <a:rPr lang="en-US" sz="1400" dirty="0"/>
                <a:t>Slope of peak exercise ST segment - Categorical [</a:t>
              </a:r>
              <a:r>
                <a:rPr lang="en-US" sz="1400" i="1" dirty="0"/>
                <a:t>Up: upsloping, Flat: flat, Down: </a:t>
              </a:r>
              <a:r>
                <a:rPr lang="en-US" sz="1400" i="1" dirty="0" err="1"/>
                <a:t>downsloping</a:t>
              </a:r>
              <a:r>
                <a:rPr lang="en-US" sz="1400" dirty="0"/>
                <a:t>]</a:t>
              </a:r>
            </a:p>
            <a:p>
              <a:endParaRPr lang="en-US" sz="1400" dirty="0"/>
            </a:p>
            <a:p>
              <a:r>
                <a:rPr lang="en-US" sz="1400" b="1" dirty="0"/>
                <a:t>Target</a:t>
              </a:r>
            </a:p>
            <a:p>
              <a:r>
                <a:rPr lang="en-US" sz="1400" b="1" dirty="0" err="1"/>
                <a:t>HeartDisease</a:t>
              </a:r>
              <a:r>
                <a:rPr lang="en-US" sz="1400" dirty="0"/>
                <a:t> Binary [</a:t>
              </a:r>
              <a:r>
                <a:rPr lang="en-US" sz="1400" i="1" dirty="0"/>
                <a:t>1: heart disease, 0: Normal</a:t>
              </a:r>
              <a:r>
                <a:rPr lang="en-US" sz="1400" dirty="0"/>
                <a:t>]</a:t>
              </a:r>
              <a:endParaRPr lang="en-US" sz="1000" dirty="0">
                <a:latin typeface="Times New Roman" panose="02020603050405020304" pitchFamily="18" charset="0"/>
                <a:cs typeface="Times New Roman" panose="02020603050405020304" pitchFamily="18" charset="0"/>
              </a:endParaRPr>
            </a:p>
          </p:txBody>
        </p:sp>
      </p:grpSp>
      <p:pic>
        <p:nvPicPr>
          <p:cNvPr id="54" name="Picture 53" descr="A screenshot of a web page&#10;&#10;AI-generated content may be incorrect.">
            <a:extLst>
              <a:ext uri="{FF2B5EF4-FFF2-40B4-BE49-F238E27FC236}">
                <a16:creationId xmlns:a16="http://schemas.microsoft.com/office/drawing/2014/main" id="{DC44E613-8459-C4C7-197B-97623BB9F84F}"/>
              </a:ext>
            </a:extLst>
          </p:cNvPr>
          <p:cNvPicPr>
            <a:picLocks noChangeAspect="1"/>
          </p:cNvPicPr>
          <p:nvPr/>
        </p:nvPicPr>
        <p:blipFill>
          <a:blip r:embed="rId2">
            <a:extLst>
              <a:ext uri="{28A0092B-C50C-407E-A947-70E740481C1C}">
                <a14:useLocalDpi xmlns:a14="http://schemas.microsoft.com/office/drawing/2010/main" val="0"/>
              </a:ext>
            </a:extLst>
          </a:blip>
          <a:srcRect t="37467" r="2066" b="52806"/>
          <a:stretch>
            <a:fillRect/>
          </a:stretch>
        </p:blipFill>
        <p:spPr>
          <a:xfrm>
            <a:off x="104564" y="13687857"/>
            <a:ext cx="7847994" cy="307777"/>
          </a:xfrm>
          <a:prstGeom prst="rect">
            <a:avLst/>
          </a:prstGeom>
        </p:spPr>
      </p:pic>
      <p:pic>
        <p:nvPicPr>
          <p:cNvPr id="56" name="Picture 55" descr="A screenshot of a web page&#10;&#10;AI-generated content may be incorrect.">
            <a:extLst>
              <a:ext uri="{FF2B5EF4-FFF2-40B4-BE49-F238E27FC236}">
                <a16:creationId xmlns:a16="http://schemas.microsoft.com/office/drawing/2014/main" id="{90C2F12A-43E6-E46D-81DE-A2D9C46A1ED4}"/>
              </a:ext>
            </a:extLst>
          </p:cNvPr>
          <p:cNvPicPr>
            <a:picLocks noChangeAspect="1"/>
          </p:cNvPicPr>
          <p:nvPr/>
        </p:nvPicPr>
        <p:blipFill>
          <a:blip r:embed="rId2">
            <a:extLst>
              <a:ext uri="{28A0092B-C50C-407E-A947-70E740481C1C}">
                <a14:useLocalDpi xmlns:a14="http://schemas.microsoft.com/office/drawing/2010/main" val="0"/>
              </a:ext>
            </a:extLst>
          </a:blip>
          <a:srcRect t="37467" r="2066" b="52806"/>
          <a:stretch>
            <a:fillRect/>
          </a:stretch>
        </p:blipFill>
        <p:spPr>
          <a:xfrm>
            <a:off x="85964" y="8479525"/>
            <a:ext cx="7847994" cy="307777"/>
          </a:xfrm>
          <a:prstGeom prst="rect">
            <a:avLst/>
          </a:prstGeom>
        </p:spPr>
      </p:pic>
      <p:sp>
        <p:nvSpPr>
          <p:cNvPr id="57" name="TextBox 56">
            <a:extLst>
              <a:ext uri="{FF2B5EF4-FFF2-40B4-BE49-F238E27FC236}">
                <a16:creationId xmlns:a16="http://schemas.microsoft.com/office/drawing/2014/main" id="{46172226-E3AD-E803-BB22-A9DB663D3250}"/>
              </a:ext>
            </a:extLst>
          </p:cNvPr>
          <p:cNvSpPr txBox="1"/>
          <p:nvPr/>
        </p:nvSpPr>
        <p:spPr>
          <a:xfrm>
            <a:off x="8494210" y="2943172"/>
            <a:ext cx="7604217" cy="1184940"/>
          </a:xfrm>
          <a:prstGeom prst="rect">
            <a:avLst/>
          </a:prstGeom>
          <a:noFill/>
        </p:spPr>
        <p:txBody>
          <a:bodyPr wrap="square" rtlCol="0">
            <a:spAutoFit/>
          </a:bodyPr>
          <a:lstStyle/>
          <a:p>
            <a:r>
              <a:rPr lang="en-US" sz="2400" b="1" dirty="0"/>
              <a:t>📓</a:t>
            </a:r>
            <a:r>
              <a:rPr lang="en-US" b="1" dirty="0"/>
              <a:t> </a:t>
            </a:r>
            <a:r>
              <a:rPr lang="en-US" sz="2800" b="1" dirty="0" err="1"/>
              <a:t>Jupyter</a:t>
            </a:r>
            <a:r>
              <a:rPr lang="en-US" sz="2800" b="1" dirty="0"/>
              <a:t> Notebook Summary:</a:t>
            </a:r>
          </a:p>
          <a:p>
            <a:r>
              <a:rPr lang="en-US" sz="2800" b="1" dirty="0"/>
              <a:t>       EDA, Train/Test Split and Dictionary Vectorizer</a:t>
            </a:r>
          </a:p>
        </p:txBody>
      </p:sp>
      <p:pic>
        <p:nvPicPr>
          <p:cNvPr id="59" name="Picture 58" descr="A screenshot of a computer program&#10;&#10;AI-generated content may be incorrect.">
            <a:extLst>
              <a:ext uri="{FF2B5EF4-FFF2-40B4-BE49-F238E27FC236}">
                <a16:creationId xmlns:a16="http://schemas.microsoft.com/office/drawing/2014/main" id="{DE9476F0-0C28-4A89-79EB-C0597D078487}"/>
              </a:ext>
            </a:extLst>
          </p:cNvPr>
          <p:cNvPicPr>
            <a:picLocks noChangeAspect="1"/>
          </p:cNvPicPr>
          <p:nvPr/>
        </p:nvPicPr>
        <p:blipFill>
          <a:blip r:embed="rId7">
            <a:extLst>
              <a:ext uri="{28A0092B-C50C-407E-A947-70E740481C1C}">
                <a14:useLocalDpi xmlns:a14="http://schemas.microsoft.com/office/drawing/2010/main" val="0"/>
              </a:ext>
            </a:extLst>
          </a:blip>
          <a:srcRect b="36817"/>
          <a:stretch>
            <a:fillRect/>
          </a:stretch>
        </p:blipFill>
        <p:spPr>
          <a:xfrm>
            <a:off x="8508401" y="4257657"/>
            <a:ext cx="7699185" cy="2171622"/>
          </a:xfrm>
          <a:prstGeom prst="rect">
            <a:avLst/>
          </a:prstGeom>
        </p:spPr>
      </p:pic>
      <p:pic>
        <p:nvPicPr>
          <p:cNvPr id="61" name="Picture 60" descr="A screenshot of a computer code&#10;&#10;AI-generated content may be incorrect.">
            <a:extLst>
              <a:ext uri="{FF2B5EF4-FFF2-40B4-BE49-F238E27FC236}">
                <a16:creationId xmlns:a16="http://schemas.microsoft.com/office/drawing/2014/main" id="{D61D942D-DEA3-DCE8-ABEF-58C704A2280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68331" y="13643189"/>
            <a:ext cx="7604217" cy="1526453"/>
          </a:xfrm>
          <a:prstGeom prst="rect">
            <a:avLst/>
          </a:prstGeom>
        </p:spPr>
      </p:pic>
      <p:pic>
        <p:nvPicPr>
          <p:cNvPr id="65" name="Picture 64" descr="A screenshot of a calculator&#10;&#10;AI-generated content may be incorrect.">
            <a:extLst>
              <a:ext uri="{FF2B5EF4-FFF2-40B4-BE49-F238E27FC236}">
                <a16:creationId xmlns:a16="http://schemas.microsoft.com/office/drawing/2014/main" id="{B59FB687-C955-ECCE-69AC-E40EA0A6F12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94211" y="6476564"/>
            <a:ext cx="2440489" cy="3157713"/>
          </a:xfrm>
          <a:prstGeom prst="rect">
            <a:avLst/>
          </a:prstGeom>
        </p:spPr>
      </p:pic>
      <p:pic>
        <p:nvPicPr>
          <p:cNvPr id="67" name="Picture 66" descr="A screenshot of a computer&#10;&#10;AI-generated content may be incorrect.">
            <a:extLst>
              <a:ext uri="{FF2B5EF4-FFF2-40B4-BE49-F238E27FC236}">
                <a16:creationId xmlns:a16="http://schemas.microsoft.com/office/drawing/2014/main" id="{2BAA2E93-BEA9-A388-4243-6AEC8FD5DCD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080065" y="6383549"/>
            <a:ext cx="5224939" cy="3124636"/>
          </a:xfrm>
          <a:prstGeom prst="rect">
            <a:avLst/>
          </a:prstGeom>
        </p:spPr>
      </p:pic>
      <p:pic>
        <p:nvPicPr>
          <p:cNvPr id="69" name="Picture 68" descr="A screenshot of a computer&#10;&#10;AI-generated content may be incorrect.">
            <a:extLst>
              <a:ext uri="{FF2B5EF4-FFF2-40B4-BE49-F238E27FC236}">
                <a16:creationId xmlns:a16="http://schemas.microsoft.com/office/drawing/2014/main" id="{2A9978D3-576D-2688-A2F8-2FE4FE5D3B8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494211" y="10946997"/>
            <a:ext cx="2440489" cy="2514304"/>
          </a:xfrm>
          <a:prstGeom prst="rect">
            <a:avLst/>
          </a:prstGeom>
        </p:spPr>
      </p:pic>
      <p:sp>
        <p:nvSpPr>
          <p:cNvPr id="72" name="TextBox 71">
            <a:extLst>
              <a:ext uri="{FF2B5EF4-FFF2-40B4-BE49-F238E27FC236}">
                <a16:creationId xmlns:a16="http://schemas.microsoft.com/office/drawing/2014/main" id="{68C1EC0F-B9FE-92E9-81C5-7F774C4B5A2A}"/>
              </a:ext>
            </a:extLst>
          </p:cNvPr>
          <p:cNvSpPr txBox="1"/>
          <p:nvPr/>
        </p:nvSpPr>
        <p:spPr>
          <a:xfrm>
            <a:off x="10968457" y="10933256"/>
            <a:ext cx="5204092" cy="2651760"/>
          </a:xfrm>
          <a:prstGeom prst="rect">
            <a:avLst/>
          </a:prstGeom>
          <a:noFill/>
          <a:ln>
            <a:solidFill>
              <a:schemeClr val="accent2"/>
            </a:solidFill>
          </a:ln>
        </p:spPr>
        <p:txBody>
          <a:bodyPr wrap="square" rtlCol="0">
            <a:spAutoFit/>
          </a:bodyPr>
          <a:lstStyle/>
          <a:p>
            <a:pPr algn="just"/>
            <a:r>
              <a:rPr lang="en-US" sz="1500" dirty="0">
                <a:cs typeface="Times New Roman" panose="02020603050405020304" pitchFamily="18" charset="0"/>
              </a:rPr>
              <a:t>Shown above are the correlation, risk, mean values of heart disease groups and mutual information scores for the features calculated during the exploratory data analysis of the project. </a:t>
            </a:r>
            <a:r>
              <a:rPr lang="en-US" sz="1500" b="1" dirty="0"/>
              <a:t>Top Left: </a:t>
            </a:r>
            <a:r>
              <a:rPr lang="en-US" sz="1500" dirty="0"/>
              <a:t>Age, old peak and resting blood pressure have high positive correlation with heart disease.  </a:t>
            </a:r>
            <a:r>
              <a:rPr lang="en-US" sz="1500" b="1" dirty="0"/>
              <a:t>Top Right: </a:t>
            </a:r>
            <a:r>
              <a:rPr lang="en-US" sz="1500" dirty="0"/>
              <a:t>Shows a high risk value for flat and down slopes. ST slope indicates how the ST segment depresses for every beat per minute increase in heart rate during a stress test.  </a:t>
            </a:r>
            <a:r>
              <a:rPr lang="en-US" sz="1500" b="1" dirty="0"/>
              <a:t>Middle</a:t>
            </a:r>
            <a:r>
              <a:rPr lang="en-US" sz="1500" dirty="0"/>
              <a:t>: Mean values for numerical features of patients that indicate heart disease and patients that don’t. </a:t>
            </a:r>
            <a:r>
              <a:rPr lang="en-US" sz="1500" b="1" dirty="0">
                <a:cs typeface="Times New Roman" panose="02020603050405020304" pitchFamily="18" charset="0"/>
              </a:rPr>
              <a:t>Left: </a:t>
            </a:r>
            <a:r>
              <a:rPr lang="en-US" sz="1500" dirty="0"/>
              <a:t>ST slope, chest pain type, and exercise angina have the highest mutual information scores. </a:t>
            </a:r>
          </a:p>
          <a:p>
            <a:pPr algn="just"/>
            <a:endParaRPr lang="en-US" sz="1800" dirty="0">
              <a:cs typeface="Times New Roman" panose="02020603050405020304" pitchFamily="18" charset="0"/>
            </a:endParaRPr>
          </a:p>
        </p:txBody>
      </p:sp>
      <p:grpSp>
        <p:nvGrpSpPr>
          <p:cNvPr id="74" name="Group 73">
            <a:extLst>
              <a:ext uri="{FF2B5EF4-FFF2-40B4-BE49-F238E27FC236}">
                <a16:creationId xmlns:a16="http://schemas.microsoft.com/office/drawing/2014/main" id="{C81D21F4-E6A2-F82C-C7DF-543CC078C1E5}"/>
              </a:ext>
            </a:extLst>
          </p:cNvPr>
          <p:cNvGrpSpPr/>
          <p:nvPr/>
        </p:nvGrpSpPr>
        <p:grpSpPr>
          <a:xfrm>
            <a:off x="8494211" y="9675816"/>
            <a:ext cx="7810794" cy="1199267"/>
            <a:chOff x="8494211" y="9675816"/>
            <a:chExt cx="7810794" cy="1199267"/>
          </a:xfrm>
        </p:grpSpPr>
        <p:pic>
          <p:nvPicPr>
            <p:cNvPr id="71" name="Picture 70" descr="A screenshot of a computer&#10;&#10;AI-generated content may be incorrect.">
              <a:extLst>
                <a:ext uri="{FF2B5EF4-FFF2-40B4-BE49-F238E27FC236}">
                  <a16:creationId xmlns:a16="http://schemas.microsoft.com/office/drawing/2014/main" id="{35E42E02-7815-DCF8-33E9-135972DB85FA}"/>
                </a:ext>
              </a:extLst>
            </p:cNvPr>
            <p:cNvPicPr>
              <a:picLocks noChangeAspect="1"/>
            </p:cNvPicPr>
            <p:nvPr/>
          </p:nvPicPr>
          <p:blipFill>
            <a:blip r:embed="rId12">
              <a:extLst>
                <a:ext uri="{28A0092B-C50C-407E-A947-70E740481C1C}">
                  <a14:useLocalDpi xmlns:a14="http://schemas.microsoft.com/office/drawing/2010/main" val="0"/>
                </a:ext>
              </a:extLst>
            </a:blip>
            <a:srcRect t="25250"/>
            <a:stretch>
              <a:fillRect/>
            </a:stretch>
          </p:blipFill>
          <p:spPr>
            <a:xfrm>
              <a:off x="8494211" y="9675816"/>
              <a:ext cx="7810794" cy="1199267"/>
            </a:xfrm>
            <a:prstGeom prst="rect">
              <a:avLst/>
            </a:prstGeom>
          </p:spPr>
        </p:pic>
        <p:pic>
          <p:nvPicPr>
            <p:cNvPr id="73" name="Picture 72" descr="A screenshot of a computer&#10;&#10;AI-generated content may be incorrect.">
              <a:extLst>
                <a:ext uri="{FF2B5EF4-FFF2-40B4-BE49-F238E27FC236}">
                  <a16:creationId xmlns:a16="http://schemas.microsoft.com/office/drawing/2014/main" id="{B4AA1D25-3C82-AAD5-15E0-FE726DE8D3A9}"/>
                </a:ext>
              </a:extLst>
            </p:cNvPr>
            <p:cNvPicPr>
              <a:picLocks noChangeAspect="1"/>
            </p:cNvPicPr>
            <p:nvPr/>
          </p:nvPicPr>
          <p:blipFill>
            <a:blip r:embed="rId12">
              <a:extLst>
                <a:ext uri="{28A0092B-C50C-407E-A947-70E740481C1C}">
                  <a14:useLocalDpi xmlns:a14="http://schemas.microsoft.com/office/drawing/2010/main" val="0"/>
                </a:ext>
              </a:extLst>
            </a:blip>
            <a:srcRect l="22158" b="80816"/>
            <a:stretch>
              <a:fillRect/>
            </a:stretch>
          </p:blipFill>
          <p:spPr>
            <a:xfrm>
              <a:off x="10224975" y="9703049"/>
              <a:ext cx="6080028" cy="307777"/>
            </a:xfrm>
            <a:prstGeom prst="rect">
              <a:avLst/>
            </a:prstGeom>
          </p:spPr>
        </p:pic>
      </p:grpSp>
      <p:pic>
        <p:nvPicPr>
          <p:cNvPr id="76" name="Picture 75" descr="A screenshot of a computer&#10;&#10;AI-generated content may be incorrect.">
            <a:extLst>
              <a:ext uri="{FF2B5EF4-FFF2-40B4-BE49-F238E27FC236}">
                <a16:creationId xmlns:a16="http://schemas.microsoft.com/office/drawing/2014/main" id="{45D7082F-DBA3-6395-219D-FBA8E7C5337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568331" y="15152269"/>
            <a:ext cx="7639255" cy="1469087"/>
          </a:xfrm>
          <a:prstGeom prst="rect">
            <a:avLst/>
          </a:prstGeom>
        </p:spPr>
      </p:pic>
      <p:pic>
        <p:nvPicPr>
          <p:cNvPr id="78" name="Picture 77">
            <a:extLst>
              <a:ext uri="{FF2B5EF4-FFF2-40B4-BE49-F238E27FC236}">
                <a16:creationId xmlns:a16="http://schemas.microsoft.com/office/drawing/2014/main" id="{810F0786-209E-A4CA-749E-860F95A065B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550811" y="16655194"/>
            <a:ext cx="7639255" cy="857369"/>
          </a:xfrm>
          <a:prstGeom prst="rect">
            <a:avLst/>
          </a:prstGeom>
        </p:spPr>
      </p:pic>
      <p:pic>
        <p:nvPicPr>
          <p:cNvPr id="80" name="Picture 79">
            <a:extLst>
              <a:ext uri="{FF2B5EF4-FFF2-40B4-BE49-F238E27FC236}">
                <a16:creationId xmlns:a16="http://schemas.microsoft.com/office/drawing/2014/main" id="{6078E026-41D0-27B8-C8BF-A74AA557FB3C}"/>
              </a:ext>
            </a:extLst>
          </p:cNvPr>
          <p:cNvPicPr>
            <a:picLocks noChangeAspect="1"/>
          </p:cNvPicPr>
          <p:nvPr/>
        </p:nvPicPr>
        <p:blipFill>
          <a:blip r:embed="rId15">
            <a:extLst>
              <a:ext uri="{28A0092B-C50C-407E-A947-70E740481C1C}">
                <a14:useLocalDpi xmlns:a14="http://schemas.microsoft.com/office/drawing/2010/main" val="0"/>
              </a:ext>
            </a:extLst>
          </a:blip>
          <a:srcRect t="5967"/>
          <a:stretch>
            <a:fillRect/>
          </a:stretch>
        </p:blipFill>
        <p:spPr>
          <a:xfrm>
            <a:off x="8508401" y="17546401"/>
            <a:ext cx="7699185" cy="703804"/>
          </a:xfrm>
          <a:prstGeom prst="rect">
            <a:avLst/>
          </a:prstGeom>
        </p:spPr>
      </p:pic>
      <p:pic>
        <p:nvPicPr>
          <p:cNvPr id="83" name="Picture 82">
            <a:extLst>
              <a:ext uri="{FF2B5EF4-FFF2-40B4-BE49-F238E27FC236}">
                <a16:creationId xmlns:a16="http://schemas.microsoft.com/office/drawing/2014/main" id="{BDCD9103-8AEC-5418-EB73-5B40AF25E144}"/>
              </a:ext>
            </a:extLst>
          </p:cNvPr>
          <p:cNvPicPr>
            <a:picLocks noChangeAspect="1"/>
          </p:cNvPicPr>
          <p:nvPr/>
        </p:nvPicPr>
        <p:blipFill>
          <a:blip r:embed="rId16">
            <a:extLst>
              <a:ext uri="{28A0092B-C50C-407E-A947-70E740481C1C}">
                <a14:useLocalDpi xmlns:a14="http://schemas.microsoft.com/office/drawing/2010/main" val="0"/>
              </a:ext>
            </a:extLst>
          </a:blip>
          <a:srcRect r="14059" b="9475"/>
          <a:stretch>
            <a:fillRect/>
          </a:stretch>
        </p:blipFill>
        <p:spPr>
          <a:xfrm>
            <a:off x="16774037" y="3184572"/>
            <a:ext cx="7730728" cy="391912"/>
          </a:xfrm>
          <a:prstGeom prst="rect">
            <a:avLst/>
          </a:prstGeom>
        </p:spPr>
      </p:pic>
      <p:sp>
        <p:nvSpPr>
          <p:cNvPr id="84" name="TextBox 83">
            <a:extLst>
              <a:ext uri="{FF2B5EF4-FFF2-40B4-BE49-F238E27FC236}">
                <a16:creationId xmlns:a16="http://schemas.microsoft.com/office/drawing/2014/main" id="{560A43FF-0B1C-9058-6365-8A165009020A}"/>
              </a:ext>
            </a:extLst>
          </p:cNvPr>
          <p:cNvSpPr txBox="1"/>
          <p:nvPr/>
        </p:nvSpPr>
        <p:spPr>
          <a:xfrm>
            <a:off x="16707624" y="3787336"/>
            <a:ext cx="7690018" cy="1938992"/>
          </a:xfrm>
          <a:prstGeom prst="rect">
            <a:avLst/>
          </a:prstGeom>
          <a:noFill/>
        </p:spPr>
        <p:txBody>
          <a:bodyPr wrap="square" rtlCol="0">
            <a:spAutoFit/>
          </a:bodyPr>
          <a:lstStyle/>
          <a:p>
            <a:pPr algn="just"/>
            <a:r>
              <a:rPr lang="en-US" sz="2000" dirty="0">
                <a:cs typeface="Times New Roman" panose="02020603050405020304" pitchFamily="18" charset="0"/>
              </a:rPr>
              <a:t>Logistic Regression, Random Forrest Regression and </a:t>
            </a:r>
            <a:r>
              <a:rPr lang="en-US" sz="2000" dirty="0" err="1">
                <a:cs typeface="Times New Roman" panose="02020603050405020304" pitchFamily="18" charset="0"/>
              </a:rPr>
              <a:t>XGBoost</a:t>
            </a:r>
            <a:r>
              <a:rPr lang="en-US" sz="2000" dirty="0">
                <a:cs typeface="Times New Roman" panose="02020603050405020304" pitchFamily="18" charset="0"/>
              </a:rPr>
              <a:t> models where trained and compared using </a:t>
            </a:r>
            <a:r>
              <a:rPr lang="en-US" sz="2000" dirty="0" err="1">
                <a:cs typeface="Times New Roman" panose="02020603050405020304" pitchFamily="18" charset="0"/>
              </a:rPr>
              <a:t>accuracy_score</a:t>
            </a:r>
            <a:r>
              <a:rPr lang="en-US" sz="2000" dirty="0">
                <a:cs typeface="Times New Roman" panose="02020603050405020304" pitchFamily="18" charset="0"/>
              </a:rPr>
              <a:t> and </a:t>
            </a:r>
            <a:r>
              <a:rPr lang="en-US" sz="2000" dirty="0" err="1">
                <a:cs typeface="Times New Roman" panose="02020603050405020304" pitchFamily="18" charset="0"/>
              </a:rPr>
              <a:t>roc_auc_score</a:t>
            </a:r>
            <a:r>
              <a:rPr lang="en-US" sz="2000" dirty="0">
                <a:cs typeface="Times New Roman" panose="02020603050405020304" pitchFamily="18" charset="0"/>
              </a:rPr>
              <a:t> from scikit-learn.  </a:t>
            </a:r>
            <a:r>
              <a:rPr lang="en-US" sz="2000" dirty="0" err="1">
                <a:cs typeface="Times New Roman" panose="02020603050405020304" pitchFamily="18" charset="0"/>
              </a:rPr>
              <a:t>XGBoost</a:t>
            </a:r>
            <a:r>
              <a:rPr lang="en-US" sz="2000" dirty="0">
                <a:cs typeface="Times New Roman" panose="02020603050405020304" pitchFamily="18" charset="0"/>
              </a:rPr>
              <a:t> is an open-source, highly optimized machine learning library that uses gradient boosting to solve classification and regression problems.  The </a:t>
            </a:r>
            <a:r>
              <a:rPr lang="en-US" sz="2000" dirty="0" err="1">
                <a:cs typeface="Times New Roman" panose="02020603050405020304" pitchFamily="18" charset="0"/>
              </a:rPr>
              <a:t>XGBoost</a:t>
            </a:r>
            <a:r>
              <a:rPr lang="en-US" sz="2000" dirty="0">
                <a:cs typeface="Times New Roman" panose="02020603050405020304" pitchFamily="18" charset="0"/>
              </a:rPr>
              <a:t> model produced an </a:t>
            </a:r>
            <a:r>
              <a:rPr lang="en-US" sz="2000" dirty="0" err="1">
                <a:cs typeface="Times New Roman" panose="02020603050405020304" pitchFamily="18" charset="0"/>
              </a:rPr>
              <a:t>roc_auc_score</a:t>
            </a:r>
            <a:r>
              <a:rPr lang="en-US" sz="2000" dirty="0">
                <a:cs typeface="Times New Roman" panose="02020603050405020304" pitchFamily="18" charset="0"/>
              </a:rPr>
              <a:t> of 0.925 using the full train and test data sets.  </a:t>
            </a:r>
          </a:p>
        </p:txBody>
      </p:sp>
      <p:pic>
        <p:nvPicPr>
          <p:cNvPr id="88" name="Picture 87" descr="A graph of a positive curve&#10;&#10;AI-generated content may be incorrect.">
            <a:extLst>
              <a:ext uri="{FF2B5EF4-FFF2-40B4-BE49-F238E27FC236}">
                <a16:creationId xmlns:a16="http://schemas.microsoft.com/office/drawing/2014/main" id="{389DE47E-DD88-A591-B9FD-93C5CA9F4063}"/>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6581717" y="5726328"/>
            <a:ext cx="4943603" cy="4781251"/>
          </a:xfrm>
          <a:prstGeom prst="rect">
            <a:avLst/>
          </a:prstGeom>
        </p:spPr>
      </p:pic>
      <p:sp>
        <p:nvSpPr>
          <p:cNvPr id="89" name="TextBox 88">
            <a:extLst>
              <a:ext uri="{FF2B5EF4-FFF2-40B4-BE49-F238E27FC236}">
                <a16:creationId xmlns:a16="http://schemas.microsoft.com/office/drawing/2014/main" id="{28EE27AF-4C32-BC0E-CDCF-143462438E24}"/>
              </a:ext>
            </a:extLst>
          </p:cNvPr>
          <p:cNvSpPr txBox="1"/>
          <p:nvPr/>
        </p:nvSpPr>
        <p:spPr>
          <a:xfrm>
            <a:off x="21525320" y="5726328"/>
            <a:ext cx="2852934" cy="4708981"/>
          </a:xfrm>
          <a:prstGeom prst="rect">
            <a:avLst/>
          </a:prstGeom>
          <a:noFill/>
        </p:spPr>
        <p:txBody>
          <a:bodyPr wrap="square" rtlCol="0">
            <a:spAutoFit/>
          </a:bodyPr>
          <a:lstStyle/>
          <a:p>
            <a:r>
              <a:rPr lang="en-US" sz="2000" b="1" dirty="0"/>
              <a:t>Receiver Operating Characteristic:</a:t>
            </a:r>
          </a:p>
          <a:p>
            <a:pPr algn="just"/>
            <a:r>
              <a:rPr lang="en-US" sz="2000" dirty="0"/>
              <a:t>A </a:t>
            </a:r>
            <a:r>
              <a:rPr lang="en-US" sz="2000" b="1" dirty="0"/>
              <a:t>ROC </a:t>
            </a:r>
            <a:r>
              <a:rPr lang="en-US" sz="2000" dirty="0"/>
              <a:t>curve is a graphical tool used to evaluate the performance of binary classification models across all possible classification thresholds. It visualizes the trade-off between correctly identifying positive cases and incorrectly classifying negative cases as positive.</a:t>
            </a:r>
            <a:endParaRPr lang="en-US" sz="2000" dirty="0">
              <a:latin typeface="Times New Roman" panose="02020603050405020304" pitchFamily="18" charset="0"/>
              <a:cs typeface="Times New Roman" panose="02020603050405020304" pitchFamily="18" charset="0"/>
            </a:endParaRPr>
          </a:p>
        </p:txBody>
      </p:sp>
      <p:pic>
        <p:nvPicPr>
          <p:cNvPr id="91" name="Picture 90" descr="A screenshot of a computer&#10;&#10;AI-generated content may be incorrect.">
            <a:extLst>
              <a:ext uri="{FF2B5EF4-FFF2-40B4-BE49-F238E27FC236}">
                <a16:creationId xmlns:a16="http://schemas.microsoft.com/office/drawing/2014/main" id="{AA9A0A85-DEB0-E5A9-1249-E9C31D36D2F0}"/>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6631546" y="10655989"/>
            <a:ext cx="7802690" cy="1174119"/>
          </a:xfrm>
          <a:prstGeom prst="rect">
            <a:avLst/>
          </a:prstGeom>
        </p:spPr>
      </p:pic>
      <p:pic>
        <p:nvPicPr>
          <p:cNvPr id="95" name="Picture 94" descr="A screenshot of a computer&#10;&#10;AI-generated content may be incorrect.">
            <a:extLst>
              <a:ext uri="{FF2B5EF4-FFF2-40B4-BE49-F238E27FC236}">
                <a16:creationId xmlns:a16="http://schemas.microsoft.com/office/drawing/2014/main" id="{30AA7781-B860-C967-BA67-BB338B229EDF}"/>
              </a:ext>
            </a:extLst>
          </p:cNvPr>
          <p:cNvPicPr>
            <a:picLocks noChangeAspect="1"/>
          </p:cNvPicPr>
          <p:nvPr/>
        </p:nvPicPr>
        <p:blipFill>
          <a:blip r:embed="rId19">
            <a:extLst>
              <a:ext uri="{28A0092B-C50C-407E-A947-70E740481C1C}">
                <a14:useLocalDpi xmlns:a14="http://schemas.microsoft.com/office/drawing/2010/main" val="0"/>
              </a:ext>
            </a:extLst>
          </a:blip>
          <a:srcRect r="51111"/>
          <a:stretch>
            <a:fillRect/>
          </a:stretch>
        </p:blipFill>
        <p:spPr>
          <a:xfrm>
            <a:off x="16631545" y="11818195"/>
            <a:ext cx="3865285" cy="3087401"/>
          </a:xfrm>
          <a:prstGeom prst="rect">
            <a:avLst/>
          </a:prstGeom>
        </p:spPr>
      </p:pic>
      <p:sp>
        <p:nvSpPr>
          <p:cNvPr id="96" name="TextBox 95">
            <a:extLst>
              <a:ext uri="{FF2B5EF4-FFF2-40B4-BE49-F238E27FC236}">
                <a16:creationId xmlns:a16="http://schemas.microsoft.com/office/drawing/2014/main" id="{FB4A7F1D-A322-7767-396E-B87798E82120}"/>
              </a:ext>
            </a:extLst>
          </p:cNvPr>
          <p:cNvSpPr txBox="1"/>
          <p:nvPr/>
        </p:nvSpPr>
        <p:spPr>
          <a:xfrm>
            <a:off x="20576145" y="11913570"/>
            <a:ext cx="3865285" cy="2862322"/>
          </a:xfrm>
          <a:prstGeom prst="rect">
            <a:avLst/>
          </a:prstGeom>
          <a:noFill/>
        </p:spPr>
        <p:txBody>
          <a:bodyPr wrap="square" rtlCol="0">
            <a:spAutoFit/>
          </a:bodyPr>
          <a:lstStyle/>
          <a:p>
            <a:pPr algn="just"/>
            <a:r>
              <a:rPr lang="en-US" sz="2000" dirty="0">
                <a:cs typeface="Times New Roman" panose="02020603050405020304" pitchFamily="18" charset="0"/>
              </a:rPr>
              <a:t>The </a:t>
            </a:r>
            <a:r>
              <a:rPr lang="en-US" sz="2000" dirty="0" err="1">
                <a:cs typeface="Times New Roman" panose="02020603050405020304" pitchFamily="18" charset="0"/>
              </a:rPr>
              <a:t>XGBoost</a:t>
            </a:r>
            <a:r>
              <a:rPr lang="en-US" sz="2000" dirty="0">
                <a:cs typeface="Times New Roman" panose="02020603050405020304" pitchFamily="18" charset="0"/>
              </a:rPr>
              <a:t> model was tuned by finding the highest </a:t>
            </a:r>
            <a:r>
              <a:rPr lang="en-US" sz="2000" dirty="0" err="1">
                <a:cs typeface="Times New Roman" panose="02020603050405020304" pitchFamily="18" charset="0"/>
              </a:rPr>
              <a:t>roc_auc</a:t>
            </a:r>
            <a:r>
              <a:rPr lang="en-US" sz="2000" dirty="0">
                <a:cs typeface="Times New Roman" panose="02020603050405020304" pitchFamily="18" charset="0"/>
              </a:rPr>
              <a:t> score while adjusting learning rate, max tree depth, and the minimum child weight.  The parameters to the left were chosen as the optimal model.  Following parameter tuning, k-fold cross validation was performed using 10 splits.</a:t>
            </a:r>
          </a:p>
        </p:txBody>
      </p:sp>
      <p:pic>
        <p:nvPicPr>
          <p:cNvPr id="98" name="Picture 97" descr="A screenshot of a computer code&#10;&#10;AI-generated content may be incorrect.">
            <a:extLst>
              <a:ext uri="{FF2B5EF4-FFF2-40B4-BE49-F238E27FC236}">
                <a16:creationId xmlns:a16="http://schemas.microsoft.com/office/drawing/2014/main" id="{975AF7E2-E726-EEEE-D8FF-8949279AEC45}"/>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6658742" y="15886812"/>
            <a:ext cx="7746708" cy="2206694"/>
          </a:xfrm>
          <a:prstGeom prst="rect">
            <a:avLst/>
          </a:prstGeom>
        </p:spPr>
      </p:pic>
      <p:pic>
        <p:nvPicPr>
          <p:cNvPr id="101" name="Picture 100" descr="A screenshot of a web page&#10;&#10;AI-generated content may be incorrect.">
            <a:extLst>
              <a:ext uri="{FF2B5EF4-FFF2-40B4-BE49-F238E27FC236}">
                <a16:creationId xmlns:a16="http://schemas.microsoft.com/office/drawing/2014/main" id="{BE490894-E194-075E-1B17-FAC7FC3CF4B9}"/>
              </a:ext>
            </a:extLst>
          </p:cNvPr>
          <p:cNvPicPr>
            <a:picLocks noChangeAspect="1"/>
          </p:cNvPicPr>
          <p:nvPr/>
        </p:nvPicPr>
        <p:blipFill>
          <a:blip r:embed="rId2">
            <a:extLst>
              <a:ext uri="{28A0092B-C50C-407E-A947-70E740481C1C}">
                <a14:useLocalDpi xmlns:a14="http://schemas.microsoft.com/office/drawing/2010/main" val="0"/>
              </a:ext>
            </a:extLst>
          </a:blip>
          <a:srcRect t="37467" r="2066" b="52806"/>
          <a:stretch>
            <a:fillRect/>
          </a:stretch>
        </p:blipFill>
        <p:spPr>
          <a:xfrm>
            <a:off x="16540793" y="3595328"/>
            <a:ext cx="7847994" cy="307777"/>
          </a:xfrm>
          <a:prstGeom prst="rect">
            <a:avLst/>
          </a:prstGeom>
        </p:spPr>
      </p:pic>
      <p:sp>
        <p:nvSpPr>
          <p:cNvPr id="99" name="TextBox 98">
            <a:extLst>
              <a:ext uri="{FF2B5EF4-FFF2-40B4-BE49-F238E27FC236}">
                <a16:creationId xmlns:a16="http://schemas.microsoft.com/office/drawing/2014/main" id="{5A0DAD14-3D9E-739A-C1EB-675A5CDF5AC8}"/>
              </a:ext>
            </a:extLst>
          </p:cNvPr>
          <p:cNvSpPr txBox="1"/>
          <p:nvPr/>
        </p:nvSpPr>
        <p:spPr>
          <a:xfrm>
            <a:off x="16581717" y="14871149"/>
            <a:ext cx="7859713" cy="1015663"/>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Model Scores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Below are the final </a:t>
            </a:r>
            <a:r>
              <a:rPr lang="en-US" sz="2000" dirty="0" err="1">
                <a:latin typeface="Times New Roman" panose="02020603050405020304" pitchFamily="18" charset="0"/>
                <a:cs typeface="Times New Roman" panose="02020603050405020304" pitchFamily="18" charset="0"/>
              </a:rPr>
              <a:t>roc_auc</a:t>
            </a:r>
            <a:r>
              <a:rPr lang="en-US" sz="2000" dirty="0">
                <a:latin typeface="Times New Roman" panose="02020603050405020304" pitchFamily="18" charset="0"/>
                <a:cs typeface="Times New Roman" panose="02020603050405020304" pitchFamily="18" charset="0"/>
              </a:rPr>
              <a:t> scores for all 3 models ran using the full training and test data set.</a:t>
            </a:r>
          </a:p>
        </p:txBody>
      </p:sp>
      <p:pic>
        <p:nvPicPr>
          <p:cNvPr id="100" name="Picture 99" descr="A screenshot of a web page&#10;&#10;AI-generated content may be incorrect.">
            <a:extLst>
              <a:ext uri="{FF2B5EF4-FFF2-40B4-BE49-F238E27FC236}">
                <a16:creationId xmlns:a16="http://schemas.microsoft.com/office/drawing/2014/main" id="{69CDB0DC-0B8E-823A-3707-3C0C8A281392}"/>
              </a:ext>
            </a:extLst>
          </p:cNvPr>
          <p:cNvPicPr>
            <a:picLocks noChangeAspect="1"/>
          </p:cNvPicPr>
          <p:nvPr/>
        </p:nvPicPr>
        <p:blipFill>
          <a:blip r:embed="rId2">
            <a:extLst>
              <a:ext uri="{28A0092B-C50C-407E-A947-70E740481C1C}">
                <a14:useLocalDpi xmlns:a14="http://schemas.microsoft.com/office/drawing/2010/main" val="0"/>
              </a:ext>
            </a:extLst>
          </a:blip>
          <a:srcRect t="37467" r="2066" b="52806"/>
          <a:stretch>
            <a:fillRect/>
          </a:stretch>
        </p:blipFill>
        <p:spPr>
          <a:xfrm>
            <a:off x="8433996" y="4037819"/>
            <a:ext cx="7847994" cy="307777"/>
          </a:xfrm>
          <a:prstGeom prst="rect">
            <a:avLst/>
          </a:prstGeom>
        </p:spPr>
      </p:pic>
      <p:pic>
        <p:nvPicPr>
          <p:cNvPr id="103" name="Picture 102">
            <a:extLst>
              <a:ext uri="{FF2B5EF4-FFF2-40B4-BE49-F238E27FC236}">
                <a16:creationId xmlns:a16="http://schemas.microsoft.com/office/drawing/2014/main" id="{65394AB6-F70A-D9FE-37E2-ADE286D8EAB9}"/>
              </a:ext>
            </a:extLst>
          </p:cNvPr>
          <p:cNvPicPr>
            <a:picLocks noChangeAspect="1"/>
          </p:cNvPicPr>
          <p:nvPr/>
        </p:nvPicPr>
        <p:blipFill>
          <a:blip r:embed="rId21">
            <a:extLst>
              <a:ext uri="{28A0092B-C50C-407E-A947-70E740481C1C}">
                <a14:useLocalDpi xmlns:a14="http://schemas.microsoft.com/office/drawing/2010/main" val="0"/>
              </a:ext>
            </a:extLst>
          </a:blip>
          <a:srcRect r="13827"/>
          <a:stretch>
            <a:fillRect/>
          </a:stretch>
        </p:blipFill>
        <p:spPr>
          <a:xfrm>
            <a:off x="24622032" y="3169932"/>
            <a:ext cx="7604218" cy="425395"/>
          </a:xfrm>
          <a:prstGeom prst="rect">
            <a:avLst/>
          </a:prstGeom>
        </p:spPr>
      </p:pic>
      <p:pic>
        <p:nvPicPr>
          <p:cNvPr id="104" name="Picture 103" descr="A screenshot of a web page&#10;&#10;AI-generated content may be incorrect.">
            <a:extLst>
              <a:ext uri="{FF2B5EF4-FFF2-40B4-BE49-F238E27FC236}">
                <a16:creationId xmlns:a16="http://schemas.microsoft.com/office/drawing/2014/main" id="{9A922EA7-1435-0458-EF64-1EE14E4A1F6C}"/>
              </a:ext>
            </a:extLst>
          </p:cNvPr>
          <p:cNvPicPr>
            <a:picLocks noChangeAspect="1"/>
          </p:cNvPicPr>
          <p:nvPr/>
        </p:nvPicPr>
        <p:blipFill>
          <a:blip r:embed="rId2">
            <a:extLst>
              <a:ext uri="{28A0092B-C50C-407E-A947-70E740481C1C}">
                <a14:useLocalDpi xmlns:a14="http://schemas.microsoft.com/office/drawing/2010/main" val="0"/>
              </a:ext>
            </a:extLst>
          </a:blip>
          <a:srcRect t="37467" r="2066" b="52806"/>
          <a:stretch>
            <a:fillRect/>
          </a:stretch>
        </p:blipFill>
        <p:spPr>
          <a:xfrm>
            <a:off x="24673439" y="3587889"/>
            <a:ext cx="7847994" cy="307777"/>
          </a:xfrm>
          <a:prstGeom prst="rect">
            <a:avLst/>
          </a:prstGeom>
        </p:spPr>
      </p:pic>
      <p:pic>
        <p:nvPicPr>
          <p:cNvPr id="108" name="Picture 107" descr="A diagram of a process&#10;&#10;AI-generated content may be incorrect.">
            <a:extLst>
              <a:ext uri="{FF2B5EF4-FFF2-40B4-BE49-F238E27FC236}">
                <a16:creationId xmlns:a16="http://schemas.microsoft.com/office/drawing/2014/main" id="{A8FF1087-4C5E-6BCF-E9CE-05F894448FF1}"/>
              </a:ext>
            </a:extLst>
          </p:cNvPr>
          <p:cNvPicPr>
            <a:picLocks noChangeAspect="1"/>
          </p:cNvPicPr>
          <p:nvPr/>
        </p:nvPicPr>
        <p:blipFill>
          <a:blip r:embed="rId22">
            <a:extLst>
              <a:ext uri="{28A0092B-C50C-407E-A947-70E740481C1C}">
                <a14:useLocalDpi xmlns:a14="http://schemas.microsoft.com/office/drawing/2010/main" val="0"/>
              </a:ext>
            </a:extLst>
          </a:blip>
          <a:srcRect t="2340"/>
          <a:stretch>
            <a:fillRect/>
          </a:stretch>
        </p:blipFill>
        <p:spPr>
          <a:xfrm>
            <a:off x="25752154" y="3903105"/>
            <a:ext cx="5690563" cy="10452656"/>
          </a:xfrm>
          <a:prstGeom prst="rect">
            <a:avLst/>
          </a:prstGeom>
        </p:spPr>
      </p:pic>
      <p:pic>
        <p:nvPicPr>
          <p:cNvPr id="110" name="Picture 109">
            <a:extLst>
              <a:ext uri="{FF2B5EF4-FFF2-40B4-BE49-F238E27FC236}">
                <a16:creationId xmlns:a16="http://schemas.microsoft.com/office/drawing/2014/main" id="{0FEEE11E-EEDD-11D5-AA9F-F3B4658B9D3F}"/>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24900426" y="14593054"/>
            <a:ext cx="7325824" cy="365675"/>
          </a:xfrm>
          <a:prstGeom prst="rect">
            <a:avLst/>
          </a:prstGeom>
        </p:spPr>
      </p:pic>
      <p:pic>
        <p:nvPicPr>
          <p:cNvPr id="111" name="Picture 110" descr="A screenshot of a web page&#10;&#10;AI-generated content may be incorrect.">
            <a:extLst>
              <a:ext uri="{FF2B5EF4-FFF2-40B4-BE49-F238E27FC236}">
                <a16:creationId xmlns:a16="http://schemas.microsoft.com/office/drawing/2014/main" id="{BCB551C1-D991-CB63-1805-CC5D1060D1D6}"/>
              </a:ext>
            </a:extLst>
          </p:cNvPr>
          <p:cNvPicPr>
            <a:picLocks noChangeAspect="1"/>
          </p:cNvPicPr>
          <p:nvPr/>
        </p:nvPicPr>
        <p:blipFill>
          <a:blip r:embed="rId2">
            <a:extLst>
              <a:ext uri="{28A0092B-C50C-407E-A947-70E740481C1C}">
                <a14:useLocalDpi xmlns:a14="http://schemas.microsoft.com/office/drawing/2010/main" val="0"/>
              </a:ext>
            </a:extLst>
          </a:blip>
          <a:srcRect t="37467" r="2066" b="52806"/>
          <a:stretch>
            <a:fillRect/>
          </a:stretch>
        </p:blipFill>
        <p:spPr>
          <a:xfrm>
            <a:off x="24850599" y="14915476"/>
            <a:ext cx="7847994" cy="307777"/>
          </a:xfrm>
          <a:prstGeom prst="rect">
            <a:avLst/>
          </a:prstGeom>
        </p:spPr>
      </p:pic>
      <p:sp>
        <p:nvSpPr>
          <p:cNvPr id="112" name="TextBox 111">
            <a:extLst>
              <a:ext uri="{FF2B5EF4-FFF2-40B4-BE49-F238E27FC236}">
                <a16:creationId xmlns:a16="http://schemas.microsoft.com/office/drawing/2014/main" id="{C2CCE359-1429-53D5-68EC-2EE7A9B4A221}"/>
              </a:ext>
            </a:extLst>
          </p:cNvPr>
          <p:cNvSpPr txBox="1"/>
          <p:nvPr/>
        </p:nvSpPr>
        <p:spPr>
          <a:xfrm>
            <a:off x="24850599" y="15223253"/>
            <a:ext cx="7847994" cy="2862322"/>
          </a:xfrm>
          <a:prstGeom prst="rect">
            <a:avLst/>
          </a:prstGeom>
          <a:noFill/>
        </p:spPr>
        <p:txBody>
          <a:bodyPr wrap="square" rtlCol="0">
            <a:spAutoFit/>
          </a:bodyPr>
          <a:lstStyle/>
          <a:p>
            <a:r>
              <a:rPr lang="en-US" sz="2000" dirty="0">
                <a:cs typeface="Times New Roman" panose="02020603050405020304" pitchFamily="18" charset="0"/>
              </a:rPr>
              <a:t>The </a:t>
            </a:r>
            <a:r>
              <a:rPr lang="en-US" sz="2000" dirty="0" err="1">
                <a:cs typeface="Times New Roman" panose="02020603050405020304" pitchFamily="18" charset="0"/>
              </a:rPr>
              <a:t>heartpredict</a:t>
            </a:r>
            <a:r>
              <a:rPr lang="en-US" sz="2000" dirty="0">
                <a:cs typeface="Times New Roman" panose="02020603050405020304" pitchFamily="18" charset="0"/>
              </a:rPr>
              <a:t> app was launched on cloud using a website called Fly.io.  To use the app, simply go to </a:t>
            </a:r>
            <a:r>
              <a:rPr lang="en-US" sz="2000" dirty="0">
                <a:cs typeface="Times New Roman" panose="02020603050405020304" pitchFamily="18" charset="0"/>
                <a:hlinkClick r:id="rId24"/>
              </a:rPr>
              <a:t>https://heartpredict.fly.dev/docs</a:t>
            </a:r>
            <a:r>
              <a:rPr lang="en-US" sz="2000" dirty="0">
                <a:cs typeface="Times New Roman" panose="02020603050405020304" pitchFamily="18" charset="0"/>
              </a:rPr>
              <a:t> and select “try it out” under the POST heading.  A default “patient” is already included under the “request body.’  Clicking on the “Execute” button will return a response based on the patient data.  Under “Server response,” a probability and </a:t>
            </a:r>
            <a:r>
              <a:rPr lang="en-US" sz="2000" dirty="0" err="1">
                <a:cs typeface="Times New Roman" panose="02020603050405020304" pitchFamily="18" charset="0"/>
              </a:rPr>
              <a:t>heart_failure</a:t>
            </a:r>
            <a:r>
              <a:rPr lang="en-US" sz="2000" dirty="0">
                <a:cs typeface="Times New Roman" panose="02020603050405020304" pitchFamily="18" charset="0"/>
              </a:rPr>
              <a:t> prediction is returned in </a:t>
            </a:r>
            <a:r>
              <a:rPr lang="en-US" sz="2000" dirty="0" err="1">
                <a:cs typeface="Times New Roman" panose="02020603050405020304" pitchFamily="18" charset="0"/>
              </a:rPr>
              <a:t>json</a:t>
            </a:r>
            <a:r>
              <a:rPr lang="en-US" sz="2000" dirty="0">
                <a:cs typeface="Times New Roman" panose="02020603050405020304" pitchFamily="18" charset="0"/>
              </a:rPr>
              <a:t> format.  The limits of the patient features can be found in the predict.py “Patient” class in the </a:t>
            </a:r>
            <a:r>
              <a:rPr lang="en-US" sz="2000" dirty="0" err="1">
                <a:cs typeface="Times New Roman" panose="02020603050405020304" pitchFamily="18" charset="0"/>
              </a:rPr>
              <a:t>github</a:t>
            </a:r>
            <a:r>
              <a:rPr lang="en-US" sz="2000" dirty="0">
                <a:cs typeface="Times New Roman" panose="02020603050405020304" pitchFamily="18" charset="0"/>
              </a:rPr>
              <a:t> repository: https://github.com/jg5xraydelta/MLZmidterm_project2025/tree/main.</a:t>
            </a:r>
          </a:p>
        </p:txBody>
      </p:sp>
    </p:spTree>
    <p:extLst>
      <p:ext uri="{BB962C8B-B14F-4D97-AF65-F5344CB8AC3E}">
        <p14:creationId xmlns:p14="http://schemas.microsoft.com/office/powerpoint/2010/main" val="1651357011"/>
      </p:ext>
    </p:extLst>
  </p:cSld>
  <p:clrMapOvr>
    <a:masterClrMapping/>
  </p:clrMapOvr>
</p:sld>
</file>

<file path=ppt/theme/theme1.xml><?xml version="1.0" encoding="utf-8"?>
<a:theme xmlns:a="http://schemas.openxmlformats.org/drawingml/2006/main" name="4-column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osterPresentations.com-36x48-Template-V0" id="{E2F04649-3BAC-894F-BCD0-91F23DABE24B}" vid="{5CDE8E82-69F4-7B41-AC2C-3738BF223988}"/>
    </a:ext>
  </a:extLst>
</a:theme>
</file>

<file path=ppt/theme/theme2.xml><?xml version="1.0" encoding="utf-8"?>
<a:theme xmlns:a="http://schemas.openxmlformats.org/drawingml/2006/main" name="1-2-1-column layou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osterPresentations.com-36x48-Template-V0" id="{E2F04649-3BAC-894F-BCD0-91F23DABE24B}" vid="{6C10B6F8-A27A-1243-9C8F-9717799BB054}"/>
    </a:ext>
  </a:extLst>
</a:theme>
</file>

<file path=ppt/theme/theme3.xml><?xml version="1.0" encoding="utf-8"?>
<a:theme xmlns:a="http://schemas.openxmlformats.org/drawingml/2006/main" name="3-column layout">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osterPresentations.com-36x48-Template-V0" id="{E2F04649-3BAC-894F-BCD0-91F23DABE24B}" vid="{51F6C704-BA7F-7247-BDFD-79A9A887923E}"/>
    </a:ext>
  </a:extLst>
</a:theme>
</file>

<file path=ppt/theme/theme4.xml><?xml version="1.0" encoding="utf-8"?>
<a:theme xmlns:a="http://schemas.openxmlformats.org/drawingml/2006/main" name="Minimal">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PosterPresentations.com-36x48-Template-V0" id="{E2F04649-3BAC-894F-BCD0-91F23DABE24B}" vid="{684A8FA1-CFAC-634B-8FF8-CD45D051384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5580</TotalTime>
  <Words>841</Words>
  <Application>Microsoft Office PowerPoint</Application>
  <PresentationFormat>Custom</PresentationFormat>
  <Paragraphs>33</Paragraphs>
  <Slides>1</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vt:i4>
      </vt:variant>
    </vt:vector>
  </HeadingPairs>
  <TitlesOfParts>
    <vt:vector size="11" baseType="lpstr">
      <vt:lpstr>Arial</vt:lpstr>
      <vt:lpstr>Arial Black</vt:lpstr>
      <vt:lpstr>Calibri</vt:lpstr>
      <vt:lpstr>Century Gothic</vt:lpstr>
      <vt:lpstr>Times New Roman</vt:lpstr>
      <vt:lpstr>Trebuchet MS</vt:lpstr>
      <vt:lpstr>4-column layout</vt:lpstr>
      <vt:lpstr>1-2-1-column layout</vt:lpstr>
      <vt:lpstr>3-column layout</vt:lpstr>
      <vt:lpstr>Minimal</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42x72 PowerPoint Presentation</dc:title>
  <dc:subject>Research poster presentation template</dc:subject>
  <dc:creator>PosterPresentations.com</dc:creator>
  <cp:keywords>42x72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Gavin Jared</cp:lastModifiedBy>
  <cp:revision>115</cp:revision>
  <dcterms:created xsi:type="dcterms:W3CDTF">2012-02-03T19:11:35Z</dcterms:created>
  <dcterms:modified xsi:type="dcterms:W3CDTF">2025-11-26T13:34:45Z</dcterms:modified>
  <cp:category>Research poster templates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fdc3439-699f-4df5-92f5-b6633310c770_Enabled">
    <vt:lpwstr>true</vt:lpwstr>
  </property>
  <property fmtid="{D5CDD505-2E9C-101B-9397-08002B2CF9AE}" pid="3" name="MSIP_Label_9fdc3439-699f-4df5-92f5-b6633310c770_SetDate">
    <vt:lpwstr>2025-11-25T13:59:55Z</vt:lpwstr>
  </property>
  <property fmtid="{D5CDD505-2E9C-101B-9397-08002B2CF9AE}" pid="4" name="MSIP_Label_9fdc3439-699f-4df5-92f5-b6633310c770_Method">
    <vt:lpwstr>Standard</vt:lpwstr>
  </property>
  <property fmtid="{D5CDD505-2E9C-101B-9397-08002B2CF9AE}" pid="5" name="MSIP_Label_9fdc3439-699f-4df5-92f5-b6633310c770_Name">
    <vt:lpwstr>General</vt:lpwstr>
  </property>
  <property fmtid="{D5CDD505-2E9C-101B-9397-08002B2CF9AE}" pid="6" name="MSIP_Label_9fdc3439-699f-4df5-92f5-b6633310c770_SiteId">
    <vt:lpwstr>92dced1a-b540-4d4a-8541-3c6c998331d0</vt:lpwstr>
  </property>
  <property fmtid="{D5CDD505-2E9C-101B-9397-08002B2CF9AE}" pid="7" name="MSIP_Label_9fdc3439-699f-4df5-92f5-b6633310c770_ActionId">
    <vt:lpwstr>cfa86f89-3e21-44b1-89f0-5264eda8a7b0</vt:lpwstr>
  </property>
  <property fmtid="{D5CDD505-2E9C-101B-9397-08002B2CF9AE}" pid="8" name="MSIP_Label_9fdc3439-699f-4df5-92f5-b6633310c770_ContentBits">
    <vt:lpwstr>0</vt:lpwstr>
  </property>
  <property fmtid="{D5CDD505-2E9C-101B-9397-08002B2CF9AE}" pid="9" name="MSIP_Label_9fdc3439-699f-4df5-92f5-b6633310c770_Tag">
    <vt:lpwstr>10, 3, 0, 1</vt:lpwstr>
  </property>
</Properties>
</file>